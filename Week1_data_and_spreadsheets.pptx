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305" r:id="rId3"/>
    <p:sldId id="257" r:id="rId4"/>
    <p:sldId id="282" r:id="rId5"/>
    <p:sldId id="287" r:id="rId6"/>
    <p:sldId id="307" r:id="rId7"/>
    <p:sldId id="303" r:id="rId8"/>
    <p:sldId id="258" r:id="rId9"/>
    <p:sldId id="302" r:id="rId10"/>
    <p:sldId id="265" r:id="rId11"/>
    <p:sldId id="284" r:id="rId12"/>
    <p:sldId id="260" r:id="rId13"/>
    <p:sldId id="261" r:id="rId14"/>
    <p:sldId id="283" r:id="rId15"/>
    <p:sldId id="285" r:id="rId16"/>
    <p:sldId id="304" r:id="rId17"/>
    <p:sldId id="286" r:id="rId18"/>
    <p:sldId id="308" r:id="rId19"/>
    <p:sldId id="266" r:id="rId20"/>
    <p:sldId id="301" r:id="rId21"/>
    <p:sldId id="279" r:id="rId22"/>
    <p:sldId id="288" r:id="rId23"/>
    <p:sldId id="259" r:id="rId24"/>
    <p:sldId id="280" r:id="rId25"/>
    <p:sldId id="290" r:id="rId26"/>
    <p:sldId id="306" r:id="rId27"/>
    <p:sldId id="291" r:id="rId28"/>
    <p:sldId id="293" r:id="rId29"/>
    <p:sldId id="297" r:id="rId30"/>
    <p:sldId id="298" r:id="rId31"/>
    <p:sldId id="299" r:id="rId32"/>
    <p:sldId id="300" r:id="rId33"/>
    <p:sldId id="309" r:id="rId34"/>
    <p:sldId id="26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CC"/>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09" autoAdjust="0"/>
    <p:restoredTop sz="94660"/>
  </p:normalViewPr>
  <p:slideViewPr>
    <p:cSldViewPr snapToGrid="0">
      <p:cViewPr varScale="1">
        <p:scale>
          <a:sx n="53" d="100"/>
          <a:sy n="53" d="100"/>
        </p:scale>
        <p:origin x="72" y="1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51DC1E-1DFF-48AC-9595-5BCB1999C240}" type="datetimeFigureOut">
              <a:rPr lang="en-GB" smtClean="0"/>
              <a:t>21/09/2026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EBA6F9-43EF-4091-A434-B74F3EF5A56D}" type="slidenum">
              <a:rPr lang="en-GB" smtClean="0"/>
              <a:t>‹#›</a:t>
            </a:fld>
            <a:endParaRPr lang="en-GB"/>
          </a:p>
        </p:txBody>
      </p:sp>
    </p:spTree>
    <p:extLst>
      <p:ext uri="{BB962C8B-B14F-4D97-AF65-F5344CB8AC3E}">
        <p14:creationId xmlns:p14="http://schemas.microsoft.com/office/powerpoint/2010/main" val="471509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EBA6F9-43EF-4091-A434-B74F3EF5A56D}" type="slidenum">
              <a:rPr lang="en-GB" smtClean="0"/>
              <a:t>5</a:t>
            </a:fld>
            <a:endParaRPr lang="en-GB"/>
          </a:p>
        </p:txBody>
      </p:sp>
    </p:spTree>
    <p:extLst>
      <p:ext uri="{BB962C8B-B14F-4D97-AF65-F5344CB8AC3E}">
        <p14:creationId xmlns:p14="http://schemas.microsoft.com/office/powerpoint/2010/main" val="4060434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EBA6F9-43EF-4091-A434-B74F3EF5A56D}" type="slidenum">
              <a:rPr lang="en-GB" smtClean="0"/>
              <a:t>8</a:t>
            </a:fld>
            <a:endParaRPr lang="en-GB"/>
          </a:p>
        </p:txBody>
      </p:sp>
    </p:spTree>
    <p:extLst>
      <p:ext uri="{BB962C8B-B14F-4D97-AF65-F5344CB8AC3E}">
        <p14:creationId xmlns:p14="http://schemas.microsoft.com/office/powerpoint/2010/main" val="2948046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EBA6F9-43EF-4091-A434-B74F3EF5A56D}" type="slidenum">
              <a:rPr lang="en-GB" smtClean="0"/>
              <a:t>9</a:t>
            </a:fld>
            <a:endParaRPr lang="en-GB"/>
          </a:p>
        </p:txBody>
      </p:sp>
    </p:spTree>
    <p:extLst>
      <p:ext uri="{BB962C8B-B14F-4D97-AF65-F5344CB8AC3E}">
        <p14:creationId xmlns:p14="http://schemas.microsoft.com/office/powerpoint/2010/main" val="1911575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EBA6F9-43EF-4091-A434-B74F3EF5A56D}" type="slidenum">
              <a:rPr lang="en-GB" smtClean="0"/>
              <a:t>10</a:t>
            </a:fld>
            <a:endParaRPr lang="en-GB"/>
          </a:p>
        </p:txBody>
      </p:sp>
    </p:spTree>
    <p:extLst>
      <p:ext uri="{BB962C8B-B14F-4D97-AF65-F5344CB8AC3E}">
        <p14:creationId xmlns:p14="http://schemas.microsoft.com/office/powerpoint/2010/main" val="19415808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EBA6F9-43EF-4091-A434-B74F3EF5A56D}" type="slidenum">
              <a:rPr lang="en-GB" smtClean="0"/>
              <a:t>11</a:t>
            </a:fld>
            <a:endParaRPr lang="en-GB"/>
          </a:p>
        </p:txBody>
      </p:sp>
    </p:spTree>
    <p:extLst>
      <p:ext uri="{BB962C8B-B14F-4D97-AF65-F5344CB8AC3E}">
        <p14:creationId xmlns:p14="http://schemas.microsoft.com/office/powerpoint/2010/main" val="3542677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250472C-5DF4-4797-A22A-365FA1D27052}" type="slidenum">
              <a:rPr lang="en-GB" smtClean="0"/>
              <a:t>12</a:t>
            </a:fld>
            <a:endParaRPr lang="en-GB"/>
          </a:p>
        </p:txBody>
      </p:sp>
    </p:spTree>
    <p:extLst>
      <p:ext uri="{BB962C8B-B14F-4D97-AF65-F5344CB8AC3E}">
        <p14:creationId xmlns:p14="http://schemas.microsoft.com/office/powerpoint/2010/main" val="25471136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EB9C9FF-4AA5-4D5E-93B5-E07BACC7A9EE}" type="slidenum">
              <a:rPr lang="en-GB" smtClean="0"/>
              <a:t>13</a:t>
            </a:fld>
            <a:endParaRPr lang="en-GB"/>
          </a:p>
        </p:txBody>
      </p:sp>
    </p:spTree>
    <p:extLst>
      <p:ext uri="{BB962C8B-B14F-4D97-AF65-F5344CB8AC3E}">
        <p14:creationId xmlns:p14="http://schemas.microsoft.com/office/powerpoint/2010/main" val="2442123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EBA6F9-43EF-4091-A434-B74F3EF5A56D}" type="slidenum">
              <a:rPr lang="en-GB" smtClean="0"/>
              <a:t>15</a:t>
            </a:fld>
            <a:endParaRPr lang="en-GB"/>
          </a:p>
        </p:txBody>
      </p:sp>
    </p:spTree>
    <p:extLst>
      <p:ext uri="{BB962C8B-B14F-4D97-AF65-F5344CB8AC3E}">
        <p14:creationId xmlns:p14="http://schemas.microsoft.com/office/powerpoint/2010/main" val="9485368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EBA6F9-43EF-4091-A434-B74F3EF5A56D}" type="slidenum">
              <a:rPr lang="en-GB" smtClean="0"/>
              <a:t>17</a:t>
            </a:fld>
            <a:endParaRPr lang="en-GB"/>
          </a:p>
        </p:txBody>
      </p:sp>
    </p:spTree>
    <p:extLst>
      <p:ext uri="{BB962C8B-B14F-4D97-AF65-F5344CB8AC3E}">
        <p14:creationId xmlns:p14="http://schemas.microsoft.com/office/powerpoint/2010/main" val="27366649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EBA6F9-43EF-4091-A434-B74F3EF5A56D}" type="slidenum">
              <a:rPr lang="en-GB" smtClean="0"/>
              <a:t>19</a:t>
            </a:fld>
            <a:endParaRPr lang="en-GB"/>
          </a:p>
        </p:txBody>
      </p:sp>
    </p:spTree>
    <p:extLst>
      <p:ext uri="{BB962C8B-B14F-4D97-AF65-F5344CB8AC3E}">
        <p14:creationId xmlns:p14="http://schemas.microsoft.com/office/powerpoint/2010/main" val="2393794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CEBA6F9-43EF-4091-A434-B74F3EF5A56D}" type="slidenum">
              <a:rPr lang="en-GB" smtClean="0"/>
              <a:t>21</a:t>
            </a:fld>
            <a:endParaRPr lang="en-GB"/>
          </a:p>
        </p:txBody>
      </p:sp>
    </p:spTree>
    <p:extLst>
      <p:ext uri="{BB962C8B-B14F-4D97-AF65-F5344CB8AC3E}">
        <p14:creationId xmlns:p14="http://schemas.microsoft.com/office/powerpoint/2010/main" val="1821859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E643C25-5834-4A8D-B789-BCCB79A478BE}" type="slidenum">
              <a:rPr lang="en-GB" smtClean="0"/>
              <a:t>22</a:t>
            </a:fld>
            <a:endParaRPr lang="en-GB"/>
          </a:p>
        </p:txBody>
      </p:sp>
    </p:spTree>
    <p:extLst>
      <p:ext uri="{BB962C8B-B14F-4D97-AF65-F5344CB8AC3E}">
        <p14:creationId xmlns:p14="http://schemas.microsoft.com/office/powerpoint/2010/main" val="32730471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E643C25-5834-4A8D-B789-BCCB79A478BE}" type="slidenum">
              <a:rPr lang="en-GB" smtClean="0"/>
              <a:t>23</a:t>
            </a:fld>
            <a:endParaRPr lang="en-GB"/>
          </a:p>
        </p:txBody>
      </p:sp>
    </p:spTree>
    <p:extLst>
      <p:ext uri="{BB962C8B-B14F-4D97-AF65-F5344CB8AC3E}">
        <p14:creationId xmlns:p14="http://schemas.microsoft.com/office/powerpoint/2010/main" val="35613018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E643C25-5834-4A8D-B789-BCCB79A478BE}" type="slidenum">
              <a:rPr lang="en-GB" smtClean="0"/>
              <a:t>25</a:t>
            </a:fld>
            <a:endParaRPr lang="en-GB"/>
          </a:p>
        </p:txBody>
      </p:sp>
    </p:spTree>
    <p:extLst>
      <p:ext uri="{BB962C8B-B14F-4D97-AF65-F5344CB8AC3E}">
        <p14:creationId xmlns:p14="http://schemas.microsoft.com/office/powerpoint/2010/main" val="7075008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E643C25-5834-4A8D-B789-BCCB79A478BE}" type="slidenum">
              <a:rPr lang="en-GB" smtClean="0"/>
              <a:t>28</a:t>
            </a:fld>
            <a:endParaRPr lang="en-GB"/>
          </a:p>
        </p:txBody>
      </p:sp>
    </p:spTree>
    <p:extLst>
      <p:ext uri="{BB962C8B-B14F-4D97-AF65-F5344CB8AC3E}">
        <p14:creationId xmlns:p14="http://schemas.microsoft.com/office/powerpoint/2010/main" val="402555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E643C25-5834-4A8D-B789-BCCB79A478BE}" type="slidenum">
              <a:rPr lang="en-GB" smtClean="0"/>
              <a:t>31</a:t>
            </a:fld>
            <a:endParaRPr lang="en-GB"/>
          </a:p>
        </p:txBody>
      </p:sp>
    </p:spTree>
    <p:extLst>
      <p:ext uri="{BB962C8B-B14F-4D97-AF65-F5344CB8AC3E}">
        <p14:creationId xmlns:p14="http://schemas.microsoft.com/office/powerpoint/2010/main" val="26796349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E643C25-5834-4A8D-B789-BCCB79A478BE}" type="slidenum">
              <a:rPr lang="en-GB" smtClean="0"/>
              <a:t>32</a:t>
            </a:fld>
            <a:endParaRPr lang="en-GB"/>
          </a:p>
        </p:txBody>
      </p:sp>
    </p:spTree>
    <p:extLst>
      <p:ext uri="{BB962C8B-B14F-4D97-AF65-F5344CB8AC3E}">
        <p14:creationId xmlns:p14="http://schemas.microsoft.com/office/powerpoint/2010/main" val="10472650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CE386-AE46-8DD2-F2BB-97778D0AF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C597C-AD7B-B09F-932F-9B0D93370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BD5369-6192-B8AA-923C-00F21EB3AD4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984D54C-7FCE-97A7-A752-FD87396FC0D4}"/>
              </a:ext>
            </a:extLst>
          </p:cNvPr>
          <p:cNvSpPr>
            <a:spLocks noGrp="1"/>
          </p:cNvSpPr>
          <p:nvPr>
            <p:ph type="sldNum" sz="quarter" idx="5"/>
          </p:nvPr>
        </p:nvSpPr>
        <p:spPr/>
        <p:txBody>
          <a:bodyPr/>
          <a:lstStyle/>
          <a:p>
            <a:fld id="{CCEBA6F9-43EF-4091-A434-B74F3EF5A56D}" type="slidenum">
              <a:rPr lang="en-GB" smtClean="0"/>
              <a:t>33</a:t>
            </a:fld>
            <a:endParaRPr lang="en-GB"/>
          </a:p>
        </p:txBody>
      </p:sp>
    </p:spTree>
    <p:extLst>
      <p:ext uri="{BB962C8B-B14F-4D97-AF65-F5344CB8AC3E}">
        <p14:creationId xmlns:p14="http://schemas.microsoft.com/office/powerpoint/2010/main" val="2675431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CACAB-C41B-4661-B893-64F5425F4A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E255C7C-DC35-41D5-9841-581FD8AF8C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8A61BFC-D53E-442B-8B14-CD10FFACA1A9}"/>
              </a:ext>
            </a:extLst>
          </p:cNvPr>
          <p:cNvSpPr>
            <a:spLocks noGrp="1"/>
          </p:cNvSpPr>
          <p:nvPr>
            <p:ph type="dt" sz="half" idx="10"/>
          </p:nvPr>
        </p:nvSpPr>
        <p:spPr/>
        <p:txBody>
          <a:bodyPr/>
          <a:lstStyle/>
          <a:p>
            <a:fld id="{CB56A054-DB01-418F-9BA9-E3D444C21FF9}" type="datetimeFigureOut">
              <a:rPr lang="en-GB" smtClean="0"/>
              <a:t>21/09/2026</a:t>
            </a:fld>
            <a:endParaRPr lang="en-GB"/>
          </a:p>
        </p:txBody>
      </p:sp>
      <p:sp>
        <p:nvSpPr>
          <p:cNvPr id="5" name="Footer Placeholder 4">
            <a:extLst>
              <a:ext uri="{FF2B5EF4-FFF2-40B4-BE49-F238E27FC236}">
                <a16:creationId xmlns:a16="http://schemas.microsoft.com/office/drawing/2014/main" id="{5195A976-D547-4D2A-B361-F074A3709CF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97CBEAA-4B9D-48E1-A2A8-C3D9CE869324}"/>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248672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1E05C-8B97-4A30-896A-FCFDF15C553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E37E68A-4F96-4F1A-B02E-47E446292DD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6032C10-BA11-4059-B2D5-9D17B8AAB25C}"/>
              </a:ext>
            </a:extLst>
          </p:cNvPr>
          <p:cNvSpPr>
            <a:spLocks noGrp="1"/>
          </p:cNvSpPr>
          <p:nvPr>
            <p:ph type="dt" sz="half" idx="10"/>
          </p:nvPr>
        </p:nvSpPr>
        <p:spPr/>
        <p:txBody>
          <a:bodyPr/>
          <a:lstStyle/>
          <a:p>
            <a:fld id="{CB56A054-DB01-418F-9BA9-E3D444C21FF9}" type="datetimeFigureOut">
              <a:rPr lang="en-GB" smtClean="0"/>
              <a:t>21/09/2026</a:t>
            </a:fld>
            <a:endParaRPr lang="en-GB"/>
          </a:p>
        </p:txBody>
      </p:sp>
      <p:sp>
        <p:nvSpPr>
          <p:cNvPr id="5" name="Footer Placeholder 4">
            <a:extLst>
              <a:ext uri="{FF2B5EF4-FFF2-40B4-BE49-F238E27FC236}">
                <a16:creationId xmlns:a16="http://schemas.microsoft.com/office/drawing/2014/main" id="{884DEF30-0093-48ED-BD68-A04A3D19A8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D05081F-813C-47EE-B6E0-CD3D3D67BAE1}"/>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17489521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5A64C-CDA0-4AF8-A858-CCA834FDB8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F0B3998-58B3-408F-B6A9-7DF0F8586E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A1A92665-0752-47CD-9F2A-88F2550F167F}"/>
              </a:ext>
            </a:extLst>
          </p:cNvPr>
          <p:cNvSpPr>
            <a:spLocks noGrp="1"/>
          </p:cNvSpPr>
          <p:nvPr>
            <p:ph type="dt" sz="half" idx="10"/>
          </p:nvPr>
        </p:nvSpPr>
        <p:spPr/>
        <p:txBody>
          <a:bodyPr/>
          <a:lstStyle/>
          <a:p>
            <a:fld id="{CB56A054-DB01-418F-9BA9-E3D444C21FF9}" type="datetimeFigureOut">
              <a:rPr lang="en-GB" smtClean="0"/>
              <a:t>21/09/2026</a:t>
            </a:fld>
            <a:endParaRPr lang="en-GB"/>
          </a:p>
        </p:txBody>
      </p:sp>
      <p:sp>
        <p:nvSpPr>
          <p:cNvPr id="5" name="Footer Placeholder 4">
            <a:extLst>
              <a:ext uri="{FF2B5EF4-FFF2-40B4-BE49-F238E27FC236}">
                <a16:creationId xmlns:a16="http://schemas.microsoft.com/office/drawing/2014/main" id="{1DE29D63-063A-4AD0-B345-DE177D721A3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8CD96AE-57ED-4DF7-BF32-B9C19BC1C224}"/>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3779086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3473D-13A3-4004-B4ED-A5C0BEF83D4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1972C34-CE69-4023-ADE3-B652D0CF75EA}"/>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167E729-A5E0-48B1-8BF4-6AF57A87A10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0910AEC-D25C-4225-B32C-03F45BBF5D9B}"/>
              </a:ext>
            </a:extLst>
          </p:cNvPr>
          <p:cNvSpPr>
            <a:spLocks noGrp="1"/>
          </p:cNvSpPr>
          <p:nvPr>
            <p:ph type="dt" sz="half" idx="10"/>
          </p:nvPr>
        </p:nvSpPr>
        <p:spPr/>
        <p:txBody>
          <a:bodyPr/>
          <a:lstStyle/>
          <a:p>
            <a:fld id="{CB56A054-DB01-418F-9BA9-E3D444C21FF9}" type="datetimeFigureOut">
              <a:rPr lang="en-GB" smtClean="0"/>
              <a:t>21/09/2026</a:t>
            </a:fld>
            <a:endParaRPr lang="en-GB"/>
          </a:p>
        </p:txBody>
      </p:sp>
      <p:sp>
        <p:nvSpPr>
          <p:cNvPr id="6" name="Footer Placeholder 5">
            <a:extLst>
              <a:ext uri="{FF2B5EF4-FFF2-40B4-BE49-F238E27FC236}">
                <a16:creationId xmlns:a16="http://schemas.microsoft.com/office/drawing/2014/main" id="{F2625352-9EBA-4901-98E1-1D8B768DBC0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F985AF3-C58D-4F8C-8282-6E19C538BC04}"/>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747927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EB274-A740-4D31-8F08-50E120606B8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13EA2D4-FA50-4615-ABCE-8834C8C360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349B158-17FC-4F95-BF43-CB5D608B892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5EEC8B6-2D75-452F-961C-76E6E9A944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37F7632-32FB-4B86-BADF-16736F74A8C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59C3051-B518-4664-ABD6-ED07DD844B32}"/>
              </a:ext>
            </a:extLst>
          </p:cNvPr>
          <p:cNvSpPr>
            <a:spLocks noGrp="1"/>
          </p:cNvSpPr>
          <p:nvPr>
            <p:ph type="dt" sz="half" idx="10"/>
          </p:nvPr>
        </p:nvSpPr>
        <p:spPr/>
        <p:txBody>
          <a:bodyPr/>
          <a:lstStyle/>
          <a:p>
            <a:fld id="{CB56A054-DB01-418F-9BA9-E3D444C21FF9}" type="datetimeFigureOut">
              <a:rPr lang="en-GB" smtClean="0"/>
              <a:t>21/09/2026</a:t>
            </a:fld>
            <a:endParaRPr lang="en-GB"/>
          </a:p>
        </p:txBody>
      </p:sp>
      <p:sp>
        <p:nvSpPr>
          <p:cNvPr id="8" name="Footer Placeholder 7">
            <a:extLst>
              <a:ext uri="{FF2B5EF4-FFF2-40B4-BE49-F238E27FC236}">
                <a16:creationId xmlns:a16="http://schemas.microsoft.com/office/drawing/2014/main" id="{C39906F9-532D-4464-90E7-6EA63BA4057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DDCA96E-B708-4CF3-8B04-C9D42EBAC700}"/>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2909813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732F4-13C9-4DB2-82ED-B4F3B1ED096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3D7E89A-A590-4190-9D9F-80CBC6FEF57D}"/>
              </a:ext>
            </a:extLst>
          </p:cNvPr>
          <p:cNvSpPr>
            <a:spLocks noGrp="1"/>
          </p:cNvSpPr>
          <p:nvPr>
            <p:ph type="dt" sz="half" idx="10"/>
          </p:nvPr>
        </p:nvSpPr>
        <p:spPr/>
        <p:txBody>
          <a:bodyPr/>
          <a:lstStyle/>
          <a:p>
            <a:fld id="{CB56A054-DB01-418F-9BA9-E3D444C21FF9}" type="datetimeFigureOut">
              <a:rPr lang="en-GB" smtClean="0"/>
              <a:t>21/09/2026</a:t>
            </a:fld>
            <a:endParaRPr lang="en-GB"/>
          </a:p>
        </p:txBody>
      </p:sp>
      <p:sp>
        <p:nvSpPr>
          <p:cNvPr id="4" name="Footer Placeholder 3">
            <a:extLst>
              <a:ext uri="{FF2B5EF4-FFF2-40B4-BE49-F238E27FC236}">
                <a16:creationId xmlns:a16="http://schemas.microsoft.com/office/drawing/2014/main" id="{C8FF85A4-5E11-407C-AECA-EB2FD1040A3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85E76DE-9A4B-4426-A645-1A19C174F9A4}"/>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764032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44B07B-14A4-4685-91EE-E7C50750A7C9}"/>
              </a:ext>
            </a:extLst>
          </p:cNvPr>
          <p:cNvSpPr>
            <a:spLocks noGrp="1"/>
          </p:cNvSpPr>
          <p:nvPr>
            <p:ph type="dt" sz="half" idx="10"/>
          </p:nvPr>
        </p:nvSpPr>
        <p:spPr/>
        <p:txBody>
          <a:bodyPr/>
          <a:lstStyle/>
          <a:p>
            <a:fld id="{CB56A054-DB01-418F-9BA9-E3D444C21FF9}" type="datetimeFigureOut">
              <a:rPr lang="en-GB" smtClean="0"/>
              <a:t>21/09/2026</a:t>
            </a:fld>
            <a:endParaRPr lang="en-GB"/>
          </a:p>
        </p:txBody>
      </p:sp>
      <p:sp>
        <p:nvSpPr>
          <p:cNvPr id="3" name="Footer Placeholder 2">
            <a:extLst>
              <a:ext uri="{FF2B5EF4-FFF2-40B4-BE49-F238E27FC236}">
                <a16:creationId xmlns:a16="http://schemas.microsoft.com/office/drawing/2014/main" id="{25E7FB1C-1A74-488B-B5AE-A4728399BDF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D06FFB1-3D35-405B-9E96-2F87E4920919}"/>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1065747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0ED3B-D605-487D-B277-1B1A08E9FB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2C43FB0-68E9-406D-B0BB-168D1873DC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980E1E2-77D6-4513-9FC6-BFD14BF0DC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2E418701-A632-4FA4-B9F9-80EAF193A3DE}"/>
              </a:ext>
            </a:extLst>
          </p:cNvPr>
          <p:cNvSpPr>
            <a:spLocks noGrp="1"/>
          </p:cNvSpPr>
          <p:nvPr>
            <p:ph type="dt" sz="half" idx="10"/>
          </p:nvPr>
        </p:nvSpPr>
        <p:spPr/>
        <p:txBody>
          <a:bodyPr/>
          <a:lstStyle/>
          <a:p>
            <a:fld id="{CB56A054-DB01-418F-9BA9-E3D444C21FF9}" type="datetimeFigureOut">
              <a:rPr lang="en-GB" smtClean="0"/>
              <a:t>21/09/2026</a:t>
            </a:fld>
            <a:endParaRPr lang="en-GB"/>
          </a:p>
        </p:txBody>
      </p:sp>
      <p:sp>
        <p:nvSpPr>
          <p:cNvPr id="6" name="Footer Placeholder 5">
            <a:extLst>
              <a:ext uri="{FF2B5EF4-FFF2-40B4-BE49-F238E27FC236}">
                <a16:creationId xmlns:a16="http://schemas.microsoft.com/office/drawing/2014/main" id="{FE939508-1285-4148-B9DB-A648EFB1BFC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20DAF4E-54F0-4FFE-AB94-52B0681AF97B}"/>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2979277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1A7A2-9340-4183-BFE5-B54E316F55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D36F320-F322-4EAC-B711-FB79FF4C27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F14BBF2-F676-431C-AFAA-9E73C8BD23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425401E-46A6-4A39-8EAE-996B645AAAEB}"/>
              </a:ext>
            </a:extLst>
          </p:cNvPr>
          <p:cNvSpPr>
            <a:spLocks noGrp="1"/>
          </p:cNvSpPr>
          <p:nvPr>
            <p:ph type="dt" sz="half" idx="10"/>
          </p:nvPr>
        </p:nvSpPr>
        <p:spPr/>
        <p:txBody>
          <a:bodyPr/>
          <a:lstStyle/>
          <a:p>
            <a:fld id="{CB56A054-DB01-418F-9BA9-E3D444C21FF9}" type="datetimeFigureOut">
              <a:rPr lang="en-GB" smtClean="0"/>
              <a:t>21/09/2026</a:t>
            </a:fld>
            <a:endParaRPr lang="en-GB"/>
          </a:p>
        </p:txBody>
      </p:sp>
      <p:sp>
        <p:nvSpPr>
          <p:cNvPr id="6" name="Footer Placeholder 5">
            <a:extLst>
              <a:ext uri="{FF2B5EF4-FFF2-40B4-BE49-F238E27FC236}">
                <a16:creationId xmlns:a16="http://schemas.microsoft.com/office/drawing/2014/main" id="{30D7DBF3-371F-49B1-B3DB-29A8D859913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EE53258-D983-4537-828D-2AC527A0DADB}"/>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1931520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15E9B-5EE4-408F-88EA-CE97170C240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AC64D64-7EA0-4955-8FD0-29972BD6CB3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A435984-82C5-404E-BBD4-25E1D359517F}"/>
              </a:ext>
            </a:extLst>
          </p:cNvPr>
          <p:cNvSpPr>
            <a:spLocks noGrp="1"/>
          </p:cNvSpPr>
          <p:nvPr>
            <p:ph type="dt" sz="half" idx="10"/>
          </p:nvPr>
        </p:nvSpPr>
        <p:spPr/>
        <p:txBody>
          <a:bodyPr/>
          <a:lstStyle/>
          <a:p>
            <a:fld id="{CB56A054-DB01-418F-9BA9-E3D444C21FF9}" type="datetimeFigureOut">
              <a:rPr lang="en-GB" smtClean="0"/>
              <a:t>21/09/2026</a:t>
            </a:fld>
            <a:endParaRPr lang="en-GB"/>
          </a:p>
        </p:txBody>
      </p:sp>
      <p:sp>
        <p:nvSpPr>
          <p:cNvPr id="5" name="Footer Placeholder 4">
            <a:extLst>
              <a:ext uri="{FF2B5EF4-FFF2-40B4-BE49-F238E27FC236}">
                <a16:creationId xmlns:a16="http://schemas.microsoft.com/office/drawing/2014/main" id="{88D46EBB-3A8E-4A16-A39A-E2107C6EC5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32E0049-94E2-4921-A740-4C44CB53D6B7}"/>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3113526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92CC7D-EDAD-4CF7-B609-A97F6F65F81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4926DDB-A7A4-4841-9B87-84EBE9A2F198}"/>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9A01469-519D-480A-BBDE-3F39A61A20C7}"/>
              </a:ext>
            </a:extLst>
          </p:cNvPr>
          <p:cNvSpPr>
            <a:spLocks noGrp="1"/>
          </p:cNvSpPr>
          <p:nvPr>
            <p:ph type="dt" sz="half" idx="10"/>
          </p:nvPr>
        </p:nvSpPr>
        <p:spPr/>
        <p:txBody>
          <a:bodyPr/>
          <a:lstStyle/>
          <a:p>
            <a:fld id="{CB56A054-DB01-418F-9BA9-E3D444C21FF9}" type="datetimeFigureOut">
              <a:rPr lang="en-GB" smtClean="0"/>
              <a:t>21/09/2026</a:t>
            </a:fld>
            <a:endParaRPr lang="en-GB"/>
          </a:p>
        </p:txBody>
      </p:sp>
      <p:sp>
        <p:nvSpPr>
          <p:cNvPr id="5" name="Footer Placeholder 4">
            <a:extLst>
              <a:ext uri="{FF2B5EF4-FFF2-40B4-BE49-F238E27FC236}">
                <a16:creationId xmlns:a16="http://schemas.microsoft.com/office/drawing/2014/main" id="{8C71DBC5-9CC6-42F6-B60D-752AF195ACF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F5B9D33-69B8-4AEE-8AD4-6EA9BA3D48C7}"/>
              </a:ext>
            </a:extLst>
          </p:cNvPr>
          <p:cNvSpPr>
            <a:spLocks noGrp="1"/>
          </p:cNvSpPr>
          <p:nvPr>
            <p:ph type="sldNum" sz="quarter" idx="12"/>
          </p:nvPr>
        </p:nvSpPr>
        <p:spPr/>
        <p:txBody>
          <a:bodyPr/>
          <a:lstStyle/>
          <a:p>
            <a:fld id="{B4401FCB-2125-438D-8321-B5F5338A69EF}" type="slidenum">
              <a:rPr lang="en-GB" smtClean="0"/>
              <a:t>‹#›</a:t>
            </a:fld>
            <a:endParaRPr lang="en-GB"/>
          </a:p>
        </p:txBody>
      </p:sp>
    </p:spTree>
    <p:extLst>
      <p:ext uri="{BB962C8B-B14F-4D97-AF65-F5344CB8AC3E}">
        <p14:creationId xmlns:p14="http://schemas.microsoft.com/office/powerpoint/2010/main" val="1516179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A0E419-63A9-4EF4-A40C-292E65582E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12F03-559D-41E6-A67C-3925D3333A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9EFECAA-690C-4629-A8AA-961E6C1CBA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56A054-DB01-418F-9BA9-E3D444C21FF9}" type="datetimeFigureOut">
              <a:rPr lang="en-GB" smtClean="0"/>
              <a:t>21/09/2026</a:t>
            </a:fld>
            <a:endParaRPr lang="en-GB"/>
          </a:p>
        </p:txBody>
      </p:sp>
      <p:sp>
        <p:nvSpPr>
          <p:cNvPr id="5" name="Footer Placeholder 4">
            <a:extLst>
              <a:ext uri="{FF2B5EF4-FFF2-40B4-BE49-F238E27FC236}">
                <a16:creationId xmlns:a16="http://schemas.microsoft.com/office/drawing/2014/main" id="{1DA48391-8C65-4EED-9802-34B4D26CB5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5E40826-E463-4A66-A052-44AD443209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401FCB-2125-438D-8321-B5F5338A69EF}" type="slidenum">
              <a:rPr lang="en-GB" smtClean="0"/>
              <a:t>‹#›</a:t>
            </a:fld>
            <a:endParaRPr lang="en-GB"/>
          </a:p>
        </p:txBody>
      </p:sp>
    </p:spTree>
    <p:extLst>
      <p:ext uri="{BB962C8B-B14F-4D97-AF65-F5344CB8AC3E}">
        <p14:creationId xmlns:p14="http://schemas.microsoft.com/office/powerpoint/2010/main" val="1695165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ark.pogson@liverpool.ac.u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mailto:mark.pogson@liverpool.ac.uk" TargetMode="External"/><Relationship Id="rId2" Type="http://schemas.openxmlformats.org/officeDocument/2006/relationships/hyperlink" Target="mailto:K.Gorska@liverpool.ac.uk"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hyperlink" Target="https://www.citethemrightonline.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package" Target="../embeddings/Microsoft_Excel_Worksheet.xlsx"/><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www.office.com/"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8" Type="http://schemas.openxmlformats.org/officeDocument/2006/relationships/hyperlink" Target="https://www.bbc.co.uk/bitesize/guides/znhsgk7" TargetMode="External"/><Relationship Id="rId3" Type="http://schemas.openxmlformats.org/officeDocument/2006/relationships/hyperlink" Target="https://prowebscraper.com/blog/data-analysis-with-excel/" TargetMode="External"/><Relationship Id="rId7" Type="http://schemas.openxmlformats.org/officeDocument/2006/relationships/hyperlink" Target="https://www.bbc.co.uk/bitesize/topics/znjqtfr" TargetMode="External"/><Relationship Id="rId2" Type="http://schemas.openxmlformats.org/officeDocument/2006/relationships/hyperlink" Target="https://www.theguardian.com/technology/2018/oct/22/what-is-the-internet-13-key-questions-answered" TargetMode="External"/><Relationship Id="rId1" Type="http://schemas.openxmlformats.org/officeDocument/2006/relationships/slideLayout" Target="../slideLayouts/slideLayout2.xml"/><Relationship Id="rId6" Type="http://schemas.openxmlformats.org/officeDocument/2006/relationships/hyperlink" Target="https://support.microsoft.com/en-gb/office/excel-video-training-9bc05390-e94c-46af-a5b3-d7c22f6990bb" TargetMode="External"/><Relationship Id="rId5" Type="http://schemas.openxmlformats.org/officeDocument/2006/relationships/hyperlink" Target="https://datajournalism.com/" TargetMode="External"/><Relationship Id="rId4" Type="http://schemas.openxmlformats.org/officeDocument/2006/relationships/hyperlink" Target="https://news.mit.edu/2020/seeing-values-behind-numbers-data-action-1208" TargetMode="External"/><Relationship Id="rId9" Type="http://schemas.openxmlformats.org/officeDocument/2006/relationships/hyperlink" Target="https://www.bbc.co.uk/bitesize/topics/ztwx4j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37E95-E291-4406-A7D1-BE48BFCB42DE}"/>
              </a:ext>
            </a:extLst>
          </p:cNvPr>
          <p:cNvSpPr>
            <a:spLocks noGrp="1"/>
          </p:cNvSpPr>
          <p:nvPr>
            <p:ph type="ctrTitle"/>
          </p:nvPr>
        </p:nvSpPr>
        <p:spPr/>
        <p:txBody>
          <a:bodyPr>
            <a:normAutofit fontScale="90000"/>
          </a:bodyPr>
          <a:lstStyle/>
          <a:p>
            <a:r>
              <a:rPr lang="en-GB" sz="4900"/>
              <a:t>Week 1</a:t>
            </a:r>
            <a:br>
              <a:rPr lang="en-GB" dirty="0"/>
            </a:br>
            <a:r>
              <a:rPr lang="en-GB" b="1" dirty="0"/>
              <a:t>Introduction to Data Science – Data and Spreadsheets</a:t>
            </a:r>
          </a:p>
        </p:txBody>
      </p:sp>
      <p:sp>
        <p:nvSpPr>
          <p:cNvPr id="3" name="Subtitle 2">
            <a:extLst>
              <a:ext uri="{FF2B5EF4-FFF2-40B4-BE49-F238E27FC236}">
                <a16:creationId xmlns:a16="http://schemas.microsoft.com/office/drawing/2014/main" id="{F119DC21-DEC0-4AD0-82BD-34AF2B4319F8}"/>
              </a:ext>
            </a:extLst>
          </p:cNvPr>
          <p:cNvSpPr>
            <a:spLocks noGrp="1"/>
          </p:cNvSpPr>
          <p:nvPr>
            <p:ph type="subTitle" idx="1"/>
          </p:nvPr>
        </p:nvSpPr>
        <p:spPr>
          <a:xfrm>
            <a:off x="1524000" y="3602037"/>
            <a:ext cx="9144000" cy="2133600"/>
          </a:xfrm>
        </p:spPr>
        <p:txBody>
          <a:bodyPr>
            <a:normAutofit/>
          </a:bodyPr>
          <a:lstStyle/>
          <a:p>
            <a:r>
              <a:rPr lang="en-GB" b="1" dirty="0"/>
              <a:t>COMM741/767 Introduction to Data Science A/B</a:t>
            </a:r>
          </a:p>
          <a:p>
            <a:endParaRPr lang="en-GB" dirty="0"/>
          </a:p>
          <a:p>
            <a:r>
              <a:rPr lang="en-GB" dirty="0"/>
              <a:t>Mark Pogson</a:t>
            </a:r>
          </a:p>
          <a:p>
            <a:r>
              <a:rPr lang="en-GB" dirty="0">
                <a:hlinkClick r:id="rId2"/>
              </a:rPr>
              <a:t>mark.pogson@liverpool.ac.uk</a:t>
            </a:r>
            <a:endParaRPr lang="en-GB" dirty="0"/>
          </a:p>
        </p:txBody>
      </p:sp>
    </p:spTree>
    <p:extLst>
      <p:ext uri="{BB962C8B-B14F-4D97-AF65-F5344CB8AC3E}">
        <p14:creationId xmlns:p14="http://schemas.microsoft.com/office/powerpoint/2010/main" val="2110216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ABF1E-AED3-02B2-E19C-90EE9182DBDA}"/>
              </a:ext>
            </a:extLst>
          </p:cNvPr>
          <p:cNvSpPr>
            <a:spLocks noGrp="1"/>
          </p:cNvSpPr>
          <p:nvPr>
            <p:ph type="title"/>
          </p:nvPr>
        </p:nvSpPr>
        <p:spPr/>
        <p:txBody>
          <a:bodyPr/>
          <a:lstStyle/>
          <a:p>
            <a:r>
              <a:rPr lang="en-GB" dirty="0"/>
              <a:t>Module lecturers</a:t>
            </a:r>
          </a:p>
        </p:txBody>
      </p:sp>
      <p:sp>
        <p:nvSpPr>
          <p:cNvPr id="3" name="Content Placeholder 2">
            <a:extLst>
              <a:ext uri="{FF2B5EF4-FFF2-40B4-BE49-F238E27FC236}">
                <a16:creationId xmlns:a16="http://schemas.microsoft.com/office/drawing/2014/main" id="{CEC5C5AA-AA74-0F0C-675E-B441713C05AF}"/>
              </a:ext>
            </a:extLst>
          </p:cNvPr>
          <p:cNvSpPr>
            <a:spLocks noGrp="1"/>
          </p:cNvSpPr>
          <p:nvPr>
            <p:ph idx="1"/>
          </p:nvPr>
        </p:nvSpPr>
        <p:spPr/>
        <p:txBody>
          <a:bodyPr>
            <a:normAutofit/>
          </a:bodyPr>
          <a:lstStyle/>
          <a:p>
            <a:r>
              <a:rPr lang="en-GB" dirty="0"/>
              <a:t>This module is taught jointly between 2 lecturers:</a:t>
            </a:r>
          </a:p>
          <a:p>
            <a:pPr lvl="1"/>
            <a:r>
              <a:rPr lang="en-GB" dirty="0"/>
              <a:t>Dr Kamila Gorska (</a:t>
            </a:r>
            <a:r>
              <a:rPr lang="sv-SE" dirty="0">
                <a:hlinkClick r:id="rId2"/>
              </a:rPr>
              <a:t>K.Gorska@liverpool.ac.uk</a:t>
            </a:r>
            <a:r>
              <a:rPr lang="en-GB" dirty="0"/>
              <a:t>)</a:t>
            </a:r>
          </a:p>
          <a:p>
            <a:pPr lvl="1"/>
            <a:r>
              <a:rPr lang="en-GB" dirty="0"/>
              <a:t>Dr Mark Pogson (</a:t>
            </a:r>
            <a:r>
              <a:rPr lang="en-GB" dirty="0">
                <a:hlinkClick r:id="rId3"/>
              </a:rPr>
              <a:t>mark.pogson@liverpool.ac.uk</a:t>
            </a:r>
            <a:r>
              <a:rPr lang="en-GB" dirty="0"/>
              <a:t>)</a:t>
            </a:r>
          </a:p>
          <a:p>
            <a:r>
              <a:rPr lang="en-GB" dirty="0"/>
              <a:t>Mark will teach the first half of the module (up to reading week)</a:t>
            </a:r>
          </a:p>
          <a:p>
            <a:r>
              <a:rPr lang="en-GB" dirty="0"/>
              <a:t>Kamila will teach the second half of the module</a:t>
            </a:r>
          </a:p>
          <a:p>
            <a:r>
              <a:rPr lang="en-GB" dirty="0"/>
              <a:t>Marking and moderation of your work will be shared</a:t>
            </a:r>
          </a:p>
          <a:p>
            <a:r>
              <a:rPr lang="en-GB" dirty="0"/>
              <a:t>Each can offer guidance on your assignments, but Mark will lead assignment 1 (in-class test), and Kamila assignment 2 (blog)</a:t>
            </a:r>
          </a:p>
          <a:p>
            <a:r>
              <a:rPr lang="en-GB" dirty="0"/>
              <a:t>Mark is the </a:t>
            </a:r>
            <a:r>
              <a:rPr lang="en-GB"/>
              <a:t>module leader</a:t>
            </a:r>
            <a:endParaRPr lang="en-GB" dirty="0"/>
          </a:p>
        </p:txBody>
      </p:sp>
    </p:spTree>
    <p:extLst>
      <p:ext uri="{BB962C8B-B14F-4D97-AF65-F5344CB8AC3E}">
        <p14:creationId xmlns:p14="http://schemas.microsoft.com/office/powerpoint/2010/main" val="27377515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80A457-8566-410E-A675-9E1CDCA4811D}"/>
              </a:ext>
            </a:extLst>
          </p:cNvPr>
          <p:cNvSpPr>
            <a:spLocks noGrp="1"/>
          </p:cNvSpPr>
          <p:nvPr>
            <p:ph type="title"/>
          </p:nvPr>
        </p:nvSpPr>
        <p:spPr>
          <a:xfrm>
            <a:off x="698499" y="1162862"/>
            <a:ext cx="3744883" cy="1325563"/>
          </a:xfrm>
        </p:spPr>
        <p:txBody>
          <a:bodyPr>
            <a:normAutofit fontScale="90000"/>
          </a:bodyPr>
          <a:lstStyle/>
          <a:p>
            <a:r>
              <a:rPr lang="en-GB" b="1" dirty="0"/>
              <a:t>Introduction to Data Science</a:t>
            </a:r>
            <a:br>
              <a:rPr lang="en-GB" dirty="0"/>
            </a:br>
            <a:r>
              <a:rPr lang="en-GB" dirty="0"/>
              <a:t>Module</a:t>
            </a:r>
            <a:br>
              <a:rPr lang="en-GB" dirty="0"/>
            </a:br>
            <a:r>
              <a:rPr lang="en-GB" dirty="0"/>
              <a:t>Overview</a:t>
            </a:r>
          </a:p>
        </p:txBody>
      </p:sp>
      <p:graphicFrame>
        <p:nvGraphicFramePr>
          <p:cNvPr id="4" name="Content Placeholder 3">
            <a:extLst>
              <a:ext uri="{FF2B5EF4-FFF2-40B4-BE49-F238E27FC236}">
                <a16:creationId xmlns:a16="http://schemas.microsoft.com/office/drawing/2014/main" id="{71C07583-0E0A-4C4B-BB32-572E503DBDAC}"/>
              </a:ext>
            </a:extLst>
          </p:cNvPr>
          <p:cNvGraphicFramePr>
            <a:graphicFrameLocks noGrp="1"/>
          </p:cNvGraphicFramePr>
          <p:nvPr>
            <p:ph idx="1"/>
            <p:extLst>
              <p:ext uri="{D42A27DB-BD31-4B8C-83A1-F6EECF244321}">
                <p14:modId xmlns:p14="http://schemas.microsoft.com/office/powerpoint/2010/main" val="1290230597"/>
              </p:ext>
            </p:extLst>
          </p:nvPr>
        </p:nvGraphicFramePr>
        <p:xfrm>
          <a:off x="5194300" y="273048"/>
          <a:ext cx="6299200" cy="5939986"/>
        </p:xfrm>
        <a:graphic>
          <a:graphicData uri="http://schemas.openxmlformats.org/drawingml/2006/table">
            <a:tbl>
              <a:tblPr firstRow="1" bandRow="1">
                <a:tableStyleId>{5C22544A-7EE6-4342-B048-85BDC9FD1C3A}</a:tableStyleId>
              </a:tblPr>
              <a:tblGrid>
                <a:gridCol w="922344">
                  <a:extLst>
                    <a:ext uri="{9D8B030D-6E8A-4147-A177-3AD203B41FA5}">
                      <a16:colId xmlns:a16="http://schemas.microsoft.com/office/drawing/2014/main" val="2178340781"/>
                    </a:ext>
                  </a:extLst>
                </a:gridCol>
                <a:gridCol w="5376856">
                  <a:extLst>
                    <a:ext uri="{9D8B030D-6E8A-4147-A177-3AD203B41FA5}">
                      <a16:colId xmlns:a16="http://schemas.microsoft.com/office/drawing/2014/main" val="686014008"/>
                    </a:ext>
                  </a:extLst>
                </a:gridCol>
              </a:tblGrid>
              <a:tr h="388938">
                <a:tc>
                  <a:txBody>
                    <a:bodyPr/>
                    <a:lstStyle/>
                    <a:p>
                      <a:pPr>
                        <a:lnSpc>
                          <a:spcPct val="115000"/>
                        </a:lnSpc>
                        <a:spcAft>
                          <a:spcPts val="1000"/>
                        </a:spcAft>
                      </a:pPr>
                      <a:r>
                        <a:rPr lang="en-GB" sz="1800" spc="-15">
                          <a:effectLst/>
                          <a:latin typeface="Calibri" panose="020F0502020204030204" pitchFamily="34" charset="0"/>
                          <a:ea typeface="Times New Roman" panose="02020603050405020304" pitchFamily="18" charset="0"/>
                          <a:cs typeface="Calibri" panose="020F0502020204030204" pitchFamily="34" charset="0"/>
                        </a:rPr>
                        <a:t>Week</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15000"/>
                        </a:lnSpc>
                        <a:spcAft>
                          <a:spcPts val="1000"/>
                        </a:spcAft>
                      </a:pPr>
                      <a:r>
                        <a:rPr lang="en-GB" sz="1800" spc="-15">
                          <a:effectLst/>
                          <a:latin typeface="Calibri" panose="020F0502020204030204" pitchFamily="34" charset="0"/>
                          <a:ea typeface="Times New Roman" panose="02020603050405020304" pitchFamily="18" charset="0"/>
                          <a:cs typeface="Calibri" panose="020F0502020204030204" pitchFamily="34" charset="0"/>
                        </a:rPr>
                        <a:t>Content</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49951762"/>
                  </a:ext>
                </a:extLst>
              </a:tr>
              <a:tr h="388938">
                <a:tc>
                  <a:txBody>
                    <a:bodyPr/>
                    <a:lstStyle/>
                    <a:p>
                      <a:pPr>
                        <a:lnSpc>
                          <a:spcPct val="115000"/>
                        </a:lnSpc>
                        <a:spcAft>
                          <a:spcPts val="1000"/>
                        </a:spcAft>
                      </a:pPr>
                      <a:r>
                        <a:rPr lang="en-GB" sz="1800" spc="-15">
                          <a:effectLst/>
                          <a:latin typeface="Calibri" panose="020F0502020204030204" pitchFamily="34" charset="0"/>
                          <a:ea typeface="Times New Roman" panose="02020603050405020304" pitchFamily="18" charset="0"/>
                          <a:cs typeface="Calibri" panose="020F0502020204030204" pitchFamily="34" charset="0"/>
                        </a:rPr>
                        <a:t>1</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15000"/>
                        </a:lnSpc>
                        <a:spcAft>
                          <a:spcPts val="1000"/>
                        </a:spcAft>
                      </a:pPr>
                      <a:r>
                        <a:rPr lang="en-GB" sz="1800" b="1" spc="-15" dirty="0">
                          <a:effectLst/>
                          <a:latin typeface="Calibri" panose="020F0502020204030204" pitchFamily="34" charset="0"/>
                          <a:ea typeface="Times New Roman" panose="02020603050405020304" pitchFamily="18" charset="0"/>
                          <a:cs typeface="Calibri" panose="020F0502020204030204" pitchFamily="34" charset="0"/>
                        </a:rPr>
                        <a:t>Block 1: Data and coding</a:t>
                      </a:r>
                      <a:endParaRPr lang="en-GB" sz="1600" b="1"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1000"/>
                        </a:spcAft>
                        <a:buFont typeface="Arial" panose="020B0604020202020204" pitchFamily="34" charset="0"/>
                        <a:buChar char="-"/>
                        <a:tabLst>
                          <a:tab pos="457200" algn="l"/>
                        </a:tabLst>
                      </a:pPr>
                      <a:r>
                        <a:rPr lang="en-GB" sz="1800" spc="-15" dirty="0">
                          <a:effectLst/>
                          <a:latin typeface="Calibri" panose="020F0502020204030204" pitchFamily="34" charset="0"/>
                          <a:ea typeface="Times New Roman" panose="02020603050405020304" pitchFamily="18" charset="0"/>
                          <a:cs typeface="Calibri" panose="020F0502020204030204" pitchFamily="34" charset="0"/>
                        </a:rPr>
                        <a:t>Spreadsheets</a:t>
                      </a:r>
                      <a:endParaRPr lang="en-GB"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29096027"/>
                  </a:ext>
                </a:extLst>
              </a:tr>
              <a:tr h="388938">
                <a:tc>
                  <a:txBody>
                    <a:bodyPr/>
                    <a:lstStyle/>
                    <a:p>
                      <a:pPr>
                        <a:lnSpc>
                          <a:spcPct val="115000"/>
                        </a:lnSpc>
                        <a:spcAft>
                          <a:spcPts val="1000"/>
                        </a:spcAft>
                      </a:pPr>
                      <a:r>
                        <a:rPr lang="en-GB" sz="1800" spc="-15">
                          <a:effectLst/>
                          <a:latin typeface="Calibri" panose="020F0502020204030204" pitchFamily="34" charset="0"/>
                          <a:ea typeface="Times New Roman" panose="02020603050405020304" pitchFamily="18" charset="0"/>
                          <a:cs typeface="Calibri" panose="020F0502020204030204" pitchFamily="34" charset="0"/>
                        </a:rPr>
                        <a:t>2</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342900" lvl="0" indent="-342900">
                        <a:lnSpc>
                          <a:spcPct val="115000"/>
                        </a:lnSpc>
                        <a:spcAft>
                          <a:spcPts val="1000"/>
                        </a:spcAft>
                        <a:buFont typeface="Arial" panose="020B0604020202020204" pitchFamily="34" charset="0"/>
                        <a:buChar char="-"/>
                        <a:tabLst>
                          <a:tab pos="457200" algn="l"/>
                        </a:tabLst>
                      </a:pPr>
                      <a:r>
                        <a:rPr lang="en-GB" sz="1800" spc="-15" dirty="0">
                          <a:effectLst/>
                          <a:latin typeface="Calibri" panose="020F0502020204030204" pitchFamily="34" charset="0"/>
                          <a:ea typeface="Times New Roman" panose="02020603050405020304" pitchFamily="18" charset="0"/>
                          <a:cs typeface="Calibri" panose="020F0502020204030204" pitchFamily="34" charset="0"/>
                        </a:rPr>
                        <a:t>Coding</a:t>
                      </a:r>
                      <a:endParaRPr lang="en-GB"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0799331"/>
                  </a:ext>
                </a:extLst>
              </a:tr>
              <a:tr h="388938">
                <a:tc>
                  <a:txBody>
                    <a:bodyPr/>
                    <a:lstStyle/>
                    <a:p>
                      <a:pPr>
                        <a:lnSpc>
                          <a:spcPct val="115000"/>
                        </a:lnSpc>
                        <a:spcAft>
                          <a:spcPts val="1000"/>
                        </a:spcAft>
                      </a:pPr>
                      <a:r>
                        <a:rPr lang="en-GB" sz="1800" spc="-15">
                          <a:effectLst/>
                          <a:latin typeface="Calibri" panose="020F0502020204030204" pitchFamily="34" charset="0"/>
                          <a:ea typeface="Times New Roman" panose="02020603050405020304" pitchFamily="18" charset="0"/>
                          <a:cs typeface="Calibri" panose="020F0502020204030204" pitchFamily="34" charset="0"/>
                        </a:rPr>
                        <a:t>3</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342900" lvl="0" indent="-342900">
                        <a:lnSpc>
                          <a:spcPct val="115000"/>
                        </a:lnSpc>
                        <a:spcAft>
                          <a:spcPts val="1000"/>
                        </a:spcAft>
                        <a:buFont typeface="Arial" panose="020B0604020202020204" pitchFamily="34" charset="0"/>
                        <a:buChar char="-"/>
                        <a:tabLst>
                          <a:tab pos="457200" algn="l"/>
                        </a:tabLst>
                      </a:pPr>
                      <a:r>
                        <a:rPr lang="en-GB" sz="1800" spc="-15">
                          <a:effectLst/>
                          <a:latin typeface="Calibri" panose="020F0502020204030204" pitchFamily="34" charset="0"/>
                          <a:ea typeface="Times New Roman" panose="02020603050405020304" pitchFamily="18" charset="0"/>
                          <a:cs typeface="Calibri" panose="020F0502020204030204" pitchFamily="34" charset="0"/>
                        </a:rPr>
                        <a:t>More advanced coding</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09993863"/>
                  </a:ext>
                </a:extLst>
              </a:tr>
              <a:tr h="388938">
                <a:tc>
                  <a:txBody>
                    <a:bodyPr/>
                    <a:lstStyle/>
                    <a:p>
                      <a:pPr>
                        <a:lnSpc>
                          <a:spcPct val="115000"/>
                        </a:lnSpc>
                        <a:spcAft>
                          <a:spcPts val="1000"/>
                        </a:spcAft>
                      </a:pPr>
                      <a:r>
                        <a:rPr lang="en-GB" sz="1800" spc="-15">
                          <a:effectLst/>
                          <a:latin typeface="Calibri" panose="020F0502020204030204" pitchFamily="34" charset="0"/>
                          <a:ea typeface="Times New Roman" panose="02020603050405020304" pitchFamily="18" charset="0"/>
                          <a:cs typeface="Calibri" panose="020F0502020204030204" pitchFamily="34" charset="0"/>
                        </a:rPr>
                        <a:t>4</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342900" lvl="0" indent="-342900">
                        <a:lnSpc>
                          <a:spcPct val="115000"/>
                        </a:lnSpc>
                        <a:spcAft>
                          <a:spcPts val="1000"/>
                        </a:spcAft>
                        <a:buFont typeface="Arial" panose="020B0604020202020204" pitchFamily="34" charset="0"/>
                        <a:buChar char="-"/>
                        <a:tabLst>
                          <a:tab pos="457200" algn="l"/>
                        </a:tabLst>
                      </a:pPr>
                      <a:r>
                        <a:rPr lang="en-GB" sz="1800" spc="-15">
                          <a:effectLst/>
                          <a:latin typeface="Calibri" panose="020F0502020204030204" pitchFamily="34" charset="0"/>
                          <a:ea typeface="Times New Roman" panose="02020603050405020304" pitchFamily="18" charset="0"/>
                          <a:cs typeface="Calibri" panose="020F0502020204030204" pitchFamily="34" charset="0"/>
                        </a:rPr>
                        <a:t>Coding with data</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63318411"/>
                  </a:ext>
                </a:extLst>
              </a:tr>
              <a:tr h="388938">
                <a:tc>
                  <a:txBody>
                    <a:bodyPr/>
                    <a:lstStyle/>
                    <a:p>
                      <a:pPr>
                        <a:lnSpc>
                          <a:spcPct val="115000"/>
                        </a:lnSpc>
                        <a:spcAft>
                          <a:spcPts val="1000"/>
                        </a:spcAft>
                      </a:pPr>
                      <a:r>
                        <a:rPr lang="en-GB" sz="1800" spc="-15">
                          <a:effectLst/>
                          <a:latin typeface="Calibri" panose="020F0502020204030204" pitchFamily="34" charset="0"/>
                          <a:ea typeface="Times New Roman" panose="02020603050405020304" pitchFamily="18" charset="0"/>
                          <a:cs typeface="Calibri" panose="020F0502020204030204" pitchFamily="34" charset="0"/>
                        </a:rPr>
                        <a:t>5</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342900" lvl="0" indent="-342900">
                        <a:lnSpc>
                          <a:spcPct val="115000"/>
                        </a:lnSpc>
                        <a:spcAft>
                          <a:spcPts val="1000"/>
                        </a:spcAft>
                        <a:buFont typeface="Arial" panose="020B0604020202020204" pitchFamily="34" charset="0"/>
                        <a:buChar char="-"/>
                        <a:tabLst>
                          <a:tab pos="457200" algn="l"/>
                        </a:tabLst>
                      </a:pPr>
                      <a:r>
                        <a:rPr lang="en-GB" sz="1800" spc="-15">
                          <a:effectLst/>
                          <a:latin typeface="Calibri" panose="020F0502020204030204" pitchFamily="34" charset="0"/>
                          <a:ea typeface="Times New Roman" panose="02020603050405020304" pitchFamily="18" charset="0"/>
                          <a:cs typeface="Calibri" panose="020F0502020204030204" pitchFamily="34" charset="0"/>
                        </a:rPr>
                        <a:t>Data sources and visualisation</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33045312"/>
                  </a:ext>
                </a:extLst>
              </a:tr>
              <a:tr h="388938">
                <a:tc>
                  <a:txBody>
                    <a:bodyPr/>
                    <a:lstStyle/>
                    <a:p>
                      <a:pPr>
                        <a:lnSpc>
                          <a:spcPct val="115000"/>
                        </a:lnSpc>
                        <a:spcAft>
                          <a:spcPts val="1000"/>
                        </a:spcAft>
                      </a:pPr>
                      <a:r>
                        <a:rPr lang="en-GB" sz="1800" spc="-15">
                          <a:effectLst/>
                          <a:latin typeface="Calibri" panose="020F0502020204030204" pitchFamily="34" charset="0"/>
                          <a:ea typeface="Times New Roman" panose="02020603050405020304" pitchFamily="18" charset="0"/>
                          <a:cs typeface="Calibri" panose="020F0502020204030204" pitchFamily="34" charset="0"/>
                        </a:rPr>
                        <a:t>6</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15000"/>
                        </a:lnSpc>
                        <a:spcAft>
                          <a:spcPts val="1000"/>
                        </a:spcAft>
                      </a:pPr>
                      <a:r>
                        <a:rPr lang="en-GB" sz="1800" spc="-15">
                          <a:effectLst/>
                          <a:latin typeface="Calibri" panose="020F0502020204030204" pitchFamily="34" charset="0"/>
                          <a:ea typeface="Times New Roman" panose="02020603050405020304" pitchFamily="18" charset="0"/>
                          <a:cs typeface="Calibri" panose="020F0502020204030204" pitchFamily="34" charset="0"/>
                        </a:rPr>
                        <a:t>Assessment 1: In-class test</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87898585"/>
                  </a:ext>
                </a:extLst>
              </a:tr>
              <a:tr h="388938">
                <a:tc>
                  <a:txBody>
                    <a:bodyPr/>
                    <a:lstStyle/>
                    <a:p>
                      <a:pPr>
                        <a:lnSpc>
                          <a:spcPct val="115000"/>
                        </a:lnSpc>
                        <a:spcAft>
                          <a:spcPts val="1000"/>
                        </a:spcAft>
                      </a:pPr>
                      <a:r>
                        <a:rPr lang="en-GB" sz="1800" spc="-15">
                          <a:effectLst/>
                          <a:latin typeface="Calibri" panose="020F0502020204030204" pitchFamily="34" charset="0"/>
                          <a:ea typeface="Times New Roman" panose="02020603050405020304" pitchFamily="18" charset="0"/>
                          <a:cs typeface="Calibri" panose="020F0502020204030204" pitchFamily="34" charset="0"/>
                        </a:rPr>
                        <a:t>7</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15000"/>
                        </a:lnSpc>
                        <a:spcAft>
                          <a:spcPts val="1000"/>
                        </a:spcAft>
                      </a:pPr>
                      <a:r>
                        <a:rPr lang="en-GB" sz="1800" i="1" spc="-15">
                          <a:effectLst/>
                          <a:latin typeface="Calibri" panose="020F0502020204030204" pitchFamily="34" charset="0"/>
                          <a:ea typeface="Times New Roman" panose="02020603050405020304" pitchFamily="18" charset="0"/>
                          <a:cs typeface="Calibri" panose="020F0502020204030204" pitchFamily="34" charset="0"/>
                        </a:rPr>
                        <a:t>Reading week </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42446339"/>
                  </a:ext>
                </a:extLst>
              </a:tr>
              <a:tr h="388938">
                <a:tc>
                  <a:txBody>
                    <a:bodyPr/>
                    <a:lstStyle/>
                    <a:p>
                      <a:pPr>
                        <a:lnSpc>
                          <a:spcPct val="115000"/>
                        </a:lnSpc>
                        <a:spcAft>
                          <a:spcPts val="1000"/>
                        </a:spcAft>
                      </a:pPr>
                      <a:r>
                        <a:rPr lang="en-GB" sz="1800" spc="-15">
                          <a:effectLst/>
                          <a:latin typeface="Calibri" panose="020F0502020204030204" pitchFamily="34" charset="0"/>
                          <a:ea typeface="Times New Roman" panose="02020603050405020304" pitchFamily="18" charset="0"/>
                          <a:cs typeface="Calibri" panose="020F0502020204030204" pitchFamily="34" charset="0"/>
                        </a:rPr>
                        <a:t>8</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15000"/>
                        </a:lnSpc>
                        <a:spcAft>
                          <a:spcPts val="1000"/>
                        </a:spcAft>
                      </a:pPr>
                      <a:r>
                        <a:rPr lang="en-GB" sz="1800" b="1" spc="-15" dirty="0">
                          <a:effectLst/>
                          <a:latin typeface="Calibri" panose="020F0502020204030204" pitchFamily="34" charset="0"/>
                          <a:ea typeface="Times New Roman" panose="02020603050405020304" pitchFamily="18" charset="0"/>
                          <a:cs typeface="Calibri" panose="020F0502020204030204" pitchFamily="34" charset="0"/>
                        </a:rPr>
                        <a:t>Block 2: Analysis and interpretation</a:t>
                      </a:r>
                      <a:endParaRPr lang="en-GB" sz="1600" b="1"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nSpc>
                          <a:spcPct val="115000"/>
                        </a:lnSpc>
                        <a:spcAft>
                          <a:spcPts val="1000"/>
                        </a:spcAft>
                        <a:buFont typeface="Arial" panose="020B0604020202020204" pitchFamily="34" charset="0"/>
                        <a:buChar char="-"/>
                        <a:tabLst>
                          <a:tab pos="457200" algn="l"/>
                        </a:tabLst>
                      </a:pPr>
                      <a:r>
                        <a:rPr lang="en-GB" sz="1800" spc="-15" dirty="0">
                          <a:effectLst/>
                          <a:latin typeface="Calibri" panose="020F0502020204030204" pitchFamily="34" charset="0"/>
                          <a:ea typeface="Times New Roman" panose="02020603050405020304" pitchFamily="18" charset="0"/>
                          <a:cs typeface="Calibri" panose="020F0502020204030204" pitchFamily="34" charset="0"/>
                        </a:rPr>
                        <a:t>Collecting and processing data</a:t>
                      </a:r>
                      <a:endParaRPr lang="en-GB"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108588937"/>
                  </a:ext>
                </a:extLst>
              </a:tr>
              <a:tr h="388938">
                <a:tc>
                  <a:txBody>
                    <a:bodyPr/>
                    <a:lstStyle/>
                    <a:p>
                      <a:pPr>
                        <a:lnSpc>
                          <a:spcPct val="115000"/>
                        </a:lnSpc>
                        <a:spcAft>
                          <a:spcPts val="1000"/>
                        </a:spcAft>
                      </a:pPr>
                      <a:r>
                        <a:rPr lang="en-GB" sz="1800" spc="-15">
                          <a:effectLst/>
                          <a:latin typeface="Calibri" panose="020F0502020204030204" pitchFamily="34" charset="0"/>
                          <a:ea typeface="Times New Roman" panose="02020603050405020304" pitchFamily="18" charset="0"/>
                          <a:cs typeface="Calibri" panose="020F0502020204030204" pitchFamily="34" charset="0"/>
                        </a:rPr>
                        <a:t>9</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342900" lvl="0" indent="-342900">
                        <a:lnSpc>
                          <a:spcPct val="115000"/>
                        </a:lnSpc>
                        <a:spcAft>
                          <a:spcPts val="1000"/>
                        </a:spcAft>
                        <a:buFont typeface="Arial" panose="020B0604020202020204" pitchFamily="34" charset="0"/>
                        <a:buChar char="-"/>
                        <a:tabLst>
                          <a:tab pos="457200" algn="l"/>
                        </a:tabLst>
                      </a:pPr>
                      <a:r>
                        <a:rPr lang="en-GB" sz="1800" spc="-15">
                          <a:effectLst/>
                          <a:latin typeface="Calibri" panose="020F0502020204030204" pitchFamily="34" charset="0"/>
                          <a:ea typeface="Times New Roman" panose="02020603050405020304" pitchFamily="18" charset="0"/>
                          <a:cs typeface="Calibri" panose="020F0502020204030204" pitchFamily="34" charset="0"/>
                        </a:rPr>
                        <a:t>Analysis methods</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50451365"/>
                  </a:ext>
                </a:extLst>
              </a:tr>
              <a:tr h="388938">
                <a:tc>
                  <a:txBody>
                    <a:bodyPr/>
                    <a:lstStyle/>
                    <a:p>
                      <a:pPr>
                        <a:lnSpc>
                          <a:spcPct val="115000"/>
                        </a:lnSpc>
                        <a:spcAft>
                          <a:spcPts val="1000"/>
                        </a:spcAft>
                      </a:pPr>
                      <a:r>
                        <a:rPr lang="en-GB" sz="1800" spc="-15">
                          <a:effectLst/>
                          <a:latin typeface="Calibri" panose="020F0502020204030204" pitchFamily="34" charset="0"/>
                          <a:ea typeface="Times New Roman" panose="02020603050405020304" pitchFamily="18" charset="0"/>
                          <a:cs typeface="Calibri" panose="020F0502020204030204" pitchFamily="34" charset="0"/>
                        </a:rPr>
                        <a:t>10</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342900" lvl="0" indent="-342900">
                        <a:lnSpc>
                          <a:spcPct val="115000"/>
                        </a:lnSpc>
                        <a:spcAft>
                          <a:spcPts val="1000"/>
                        </a:spcAft>
                        <a:buFont typeface="Arial" panose="020B0604020202020204" pitchFamily="34" charset="0"/>
                        <a:buChar char="-"/>
                        <a:tabLst>
                          <a:tab pos="457200" algn="l"/>
                        </a:tabLst>
                      </a:pPr>
                      <a:r>
                        <a:rPr lang="en-GB" sz="1800" spc="-15">
                          <a:effectLst/>
                          <a:latin typeface="Calibri" panose="020F0502020204030204" pitchFamily="34" charset="0"/>
                          <a:ea typeface="Times New Roman" panose="02020603050405020304" pitchFamily="18" charset="0"/>
                          <a:cs typeface="Calibri" panose="020F0502020204030204" pitchFamily="34" charset="0"/>
                        </a:rPr>
                        <a:t>Reporting and evaluating results</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25911684"/>
                  </a:ext>
                </a:extLst>
              </a:tr>
              <a:tr h="388938">
                <a:tc>
                  <a:txBody>
                    <a:bodyPr/>
                    <a:lstStyle/>
                    <a:p>
                      <a:pPr>
                        <a:lnSpc>
                          <a:spcPct val="115000"/>
                        </a:lnSpc>
                        <a:spcAft>
                          <a:spcPts val="1000"/>
                        </a:spcAft>
                      </a:pPr>
                      <a:r>
                        <a:rPr lang="en-GB" sz="1800" spc="-15">
                          <a:effectLst/>
                          <a:latin typeface="Calibri" panose="020F0502020204030204" pitchFamily="34" charset="0"/>
                          <a:ea typeface="Times New Roman" panose="02020603050405020304" pitchFamily="18" charset="0"/>
                          <a:cs typeface="Calibri" panose="020F0502020204030204" pitchFamily="34" charset="0"/>
                        </a:rPr>
                        <a:t>10</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marL="342900" lvl="0" indent="-342900">
                        <a:lnSpc>
                          <a:spcPct val="115000"/>
                        </a:lnSpc>
                        <a:spcAft>
                          <a:spcPts val="1000"/>
                        </a:spcAft>
                        <a:buFont typeface="Arial" panose="020B0604020202020204" pitchFamily="34" charset="0"/>
                        <a:buChar char="-"/>
                        <a:tabLst>
                          <a:tab pos="457200" algn="l"/>
                        </a:tabLst>
                      </a:pPr>
                      <a:r>
                        <a:rPr lang="en-GB" sz="1800" spc="-15">
                          <a:effectLst/>
                          <a:latin typeface="Calibri" panose="020F0502020204030204" pitchFamily="34" charset="0"/>
                          <a:ea typeface="Times New Roman" panose="02020603050405020304" pitchFamily="18" charset="0"/>
                          <a:cs typeface="Calibri" panose="020F0502020204030204" pitchFamily="34" charset="0"/>
                        </a:rPr>
                        <a:t>Coursework support</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53872466"/>
                  </a:ext>
                </a:extLst>
              </a:tr>
              <a:tr h="388938">
                <a:tc>
                  <a:txBody>
                    <a:bodyPr/>
                    <a:lstStyle/>
                    <a:p>
                      <a:pPr>
                        <a:lnSpc>
                          <a:spcPct val="115000"/>
                        </a:lnSpc>
                        <a:spcAft>
                          <a:spcPts val="1000"/>
                        </a:spcAft>
                      </a:pPr>
                      <a:r>
                        <a:rPr lang="en-GB" sz="1800" spc="-15">
                          <a:effectLst/>
                          <a:latin typeface="Calibri" panose="020F0502020204030204" pitchFamily="34" charset="0"/>
                          <a:ea typeface="Times New Roman" panose="02020603050405020304" pitchFamily="18" charset="0"/>
                          <a:cs typeface="Calibri" panose="020F0502020204030204" pitchFamily="34" charset="0"/>
                        </a:rPr>
                        <a:t>12</a:t>
                      </a:r>
                      <a:endParaRPr lang="en-GB" sz="1600">
                        <a:effectLst/>
                        <a:latin typeface="Calibri" panose="020F0502020204030204" pitchFamily="34" charset="0"/>
                        <a:ea typeface="Times New Roman" panose="02020603050405020304" pitchFamily="18" charset="0"/>
                        <a:cs typeface="Times New Roman" panose="02020603050405020304" pitchFamily="18" charset="0"/>
                      </a:endParaRPr>
                    </a:p>
                  </a:txBody>
                  <a:tcPr/>
                </a:tc>
                <a:tc>
                  <a:txBody>
                    <a:bodyPr/>
                    <a:lstStyle/>
                    <a:p>
                      <a:pPr>
                        <a:lnSpc>
                          <a:spcPct val="115000"/>
                        </a:lnSpc>
                        <a:spcAft>
                          <a:spcPts val="1000"/>
                        </a:spcAft>
                      </a:pPr>
                      <a:r>
                        <a:rPr lang="en-GB" sz="1800" spc="-15" dirty="0">
                          <a:effectLst/>
                          <a:latin typeface="Calibri" panose="020F0502020204030204" pitchFamily="34" charset="0"/>
                          <a:ea typeface="Times New Roman" panose="02020603050405020304" pitchFamily="18" charset="0"/>
                          <a:cs typeface="Calibri" panose="020F0502020204030204" pitchFamily="34" charset="0"/>
                        </a:rPr>
                        <a:t>Assessment 2: Coursework submission</a:t>
                      </a:r>
                      <a:r>
                        <a:rPr lang="en-GB" sz="1050" dirty="0">
                          <a:effectLst/>
                          <a:latin typeface="Calibri" panose="020F0502020204030204" pitchFamily="34" charset="0"/>
                          <a:ea typeface="Times New Roman" panose="02020603050405020304" pitchFamily="18" charset="0"/>
                          <a:cs typeface="Times New Roman" panose="02020603050405020304" pitchFamily="18" charset="0"/>
                        </a:rPr>
                        <a:t> </a:t>
                      </a:r>
                      <a:endParaRPr lang="en-GB" sz="1600" dirty="0">
                        <a:effectLst/>
                        <a:latin typeface="Calibri" panose="020F0502020204030204" pitchFamily="34" charset="0"/>
                        <a:ea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35041412"/>
                  </a:ext>
                </a:extLst>
              </a:tr>
            </a:tbl>
          </a:graphicData>
        </a:graphic>
      </p:graphicFrame>
      <p:pic>
        <p:nvPicPr>
          <p:cNvPr id="2054" name="Picture 6" descr="Using Social Media Data to Build an Audience Attribution ...">
            <a:extLst>
              <a:ext uri="{FF2B5EF4-FFF2-40B4-BE49-F238E27FC236}">
                <a16:creationId xmlns:a16="http://schemas.microsoft.com/office/drawing/2014/main" id="{D1D21591-E748-4878-A815-BA6F26B7F3E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092" r="21643"/>
          <a:stretch/>
        </p:blipFill>
        <p:spPr bwMode="auto">
          <a:xfrm>
            <a:off x="698499" y="3429000"/>
            <a:ext cx="3744883" cy="25891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5030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BCA4D-532D-454A-A47D-078DCB16EFE0}"/>
              </a:ext>
            </a:extLst>
          </p:cNvPr>
          <p:cNvSpPr>
            <a:spLocks noGrp="1"/>
          </p:cNvSpPr>
          <p:nvPr>
            <p:ph type="title"/>
          </p:nvPr>
        </p:nvSpPr>
        <p:spPr/>
        <p:txBody>
          <a:bodyPr/>
          <a:lstStyle/>
          <a:p>
            <a:r>
              <a:rPr lang="en-GB"/>
              <a:t>Assessment</a:t>
            </a:r>
            <a:endParaRPr lang="en-GB" dirty="0"/>
          </a:p>
        </p:txBody>
      </p:sp>
      <p:sp>
        <p:nvSpPr>
          <p:cNvPr id="3" name="Content Placeholder 2">
            <a:extLst>
              <a:ext uri="{FF2B5EF4-FFF2-40B4-BE49-F238E27FC236}">
                <a16:creationId xmlns:a16="http://schemas.microsoft.com/office/drawing/2014/main" id="{4DB4E1D2-090D-4B55-B3BE-BD3A047053FB}"/>
              </a:ext>
            </a:extLst>
          </p:cNvPr>
          <p:cNvSpPr>
            <a:spLocks noGrp="1"/>
          </p:cNvSpPr>
          <p:nvPr>
            <p:ph idx="1"/>
          </p:nvPr>
        </p:nvSpPr>
        <p:spPr>
          <a:xfrm>
            <a:off x="838201" y="1536700"/>
            <a:ext cx="7637205" cy="5092699"/>
          </a:xfrm>
        </p:spPr>
        <p:txBody>
          <a:bodyPr>
            <a:normAutofit fontScale="85000" lnSpcReduction="20000"/>
          </a:bodyPr>
          <a:lstStyle/>
          <a:p>
            <a:pPr marL="0" indent="0">
              <a:buNone/>
            </a:pPr>
            <a:r>
              <a:rPr lang="en-GB" dirty="0"/>
              <a:t>There are 2 items of assessment for this module</a:t>
            </a:r>
          </a:p>
          <a:p>
            <a:pPr marL="514350" indent="-514350">
              <a:buAutoNum type="arabicPeriod"/>
            </a:pPr>
            <a:r>
              <a:rPr lang="en-GB" dirty="0"/>
              <a:t>In-class test </a:t>
            </a:r>
            <a:r>
              <a:rPr lang="en-GB" sz="2400" dirty="0"/>
              <a:t>(20% for COMM741, 40% for COMM767)</a:t>
            </a:r>
          </a:p>
          <a:p>
            <a:pPr lvl="1"/>
            <a:r>
              <a:rPr lang="en-GB" dirty="0"/>
              <a:t>50 minute closed-book test</a:t>
            </a:r>
          </a:p>
          <a:p>
            <a:pPr lvl="1"/>
            <a:r>
              <a:rPr lang="en-GB" dirty="0"/>
              <a:t>Short questions on data and coding</a:t>
            </a:r>
          </a:p>
          <a:p>
            <a:pPr marL="514350" indent="-514350">
              <a:buFont typeface="+mj-lt"/>
              <a:buAutoNum type="arabicPeriod"/>
            </a:pPr>
            <a:r>
              <a:rPr lang="en-GB" dirty="0"/>
              <a:t>Coursework </a:t>
            </a:r>
            <a:r>
              <a:rPr lang="en-GB" sz="2400" dirty="0"/>
              <a:t>(80% for COMM741, 60% for COMM767)</a:t>
            </a:r>
          </a:p>
          <a:p>
            <a:pPr lvl="1"/>
            <a:r>
              <a:rPr lang="en-GB" dirty="0"/>
              <a:t>Self-directed analysis of a digital media dataset, written up as a blog post with figures and annotated code</a:t>
            </a:r>
          </a:p>
          <a:p>
            <a:pPr lvl="1"/>
            <a:r>
              <a:rPr lang="en-GB" dirty="0"/>
              <a:t>1400 words for COMM741, 800 words for COMM767 (excluding code and references)</a:t>
            </a:r>
          </a:p>
          <a:p>
            <a:pPr marL="0" indent="0">
              <a:buNone/>
            </a:pPr>
            <a:r>
              <a:rPr lang="en-GB" dirty="0"/>
              <a:t>Further details are available on Canvas and in the module handbook</a:t>
            </a:r>
          </a:p>
          <a:p>
            <a:pPr marL="0" indent="0">
              <a:buNone/>
            </a:pPr>
            <a:r>
              <a:rPr lang="en-GB" dirty="0"/>
              <a:t>You should use standard academic refencing, e.g. Harvard or APA, but be consistent. If you use a website as a source, you must provide its URL and the date you accessed it. You must also reference all the sources for the data you use  - see </a:t>
            </a:r>
            <a:r>
              <a:rPr lang="en-GB" dirty="0">
                <a:hlinkClick r:id="rId2"/>
              </a:rPr>
              <a:t>https://www.citethemrightonline.com/</a:t>
            </a:r>
            <a:endParaRPr lang="en-GB" dirty="0"/>
          </a:p>
          <a:p>
            <a:pPr marL="0" indent="0">
              <a:buNone/>
            </a:pPr>
            <a:endParaRPr lang="en-GB" dirty="0"/>
          </a:p>
        </p:txBody>
      </p:sp>
      <p:pic>
        <p:nvPicPr>
          <p:cNvPr id="4" name="Picture 4" descr="First rules of data analysis - Cassandra John">
            <a:extLst>
              <a:ext uri="{FF2B5EF4-FFF2-40B4-BE49-F238E27FC236}">
                <a16:creationId xmlns:a16="http://schemas.microsoft.com/office/drawing/2014/main" id="{ECE491A5-6726-430B-9130-F48DAE55F5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9297" y="2587625"/>
            <a:ext cx="2786139" cy="2786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8550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3C857-01A4-4E7E-A05C-1B61CACC6824}"/>
              </a:ext>
            </a:extLst>
          </p:cNvPr>
          <p:cNvSpPr>
            <a:spLocks noGrp="1"/>
          </p:cNvSpPr>
          <p:nvPr>
            <p:ph type="title"/>
          </p:nvPr>
        </p:nvSpPr>
        <p:spPr/>
        <p:txBody>
          <a:bodyPr/>
          <a:lstStyle/>
          <a:p>
            <a:r>
              <a:rPr lang="en-GB" dirty="0"/>
              <a:t>Module Approach</a:t>
            </a:r>
          </a:p>
        </p:txBody>
      </p:sp>
      <p:sp>
        <p:nvSpPr>
          <p:cNvPr id="3" name="Content Placeholder 2">
            <a:extLst>
              <a:ext uri="{FF2B5EF4-FFF2-40B4-BE49-F238E27FC236}">
                <a16:creationId xmlns:a16="http://schemas.microsoft.com/office/drawing/2014/main" id="{97B68C20-FC69-4986-939C-36581374508E}"/>
              </a:ext>
            </a:extLst>
          </p:cNvPr>
          <p:cNvSpPr>
            <a:spLocks noGrp="1"/>
          </p:cNvSpPr>
          <p:nvPr>
            <p:ph idx="1"/>
          </p:nvPr>
        </p:nvSpPr>
        <p:spPr>
          <a:xfrm>
            <a:off x="838200" y="1514168"/>
            <a:ext cx="10515600" cy="4978707"/>
          </a:xfrm>
        </p:spPr>
        <p:txBody>
          <a:bodyPr>
            <a:normAutofit fontScale="70000" lnSpcReduction="20000"/>
          </a:bodyPr>
          <a:lstStyle/>
          <a:p>
            <a:r>
              <a:rPr lang="en-GB" dirty="0"/>
              <a:t>Our aim is to gain practical experience and understanding of the fundamentals of Data Science with relevance to Communication and Media</a:t>
            </a:r>
          </a:p>
          <a:p>
            <a:r>
              <a:rPr lang="en-GB" dirty="0"/>
              <a:t>We will learn how to write computer code, which may be a little daunting if it’s new to you.  However, we will begin by using Excel, which you will hopefully find more familiar.  We will then use similar ideas in Python.</a:t>
            </a:r>
          </a:p>
          <a:p>
            <a:r>
              <a:rPr lang="en-GB" dirty="0"/>
              <a:t>Each week, we will have a 2-hour lecture and a 1-hour computer workshop, including time to work through examples and exercises. Workshops are timetabled into 2 smaller groups.</a:t>
            </a:r>
          </a:p>
          <a:p>
            <a:r>
              <a:rPr lang="en-GB" dirty="0"/>
              <a:t>Given the nature of the material, you may find some parts hard to follow at first, but things will make a lot more sense over time.  Please remember to:</a:t>
            </a:r>
          </a:p>
          <a:p>
            <a:pPr lvl="1"/>
            <a:r>
              <a:rPr lang="en-GB" dirty="0"/>
              <a:t>Revisit earlier content</a:t>
            </a:r>
          </a:p>
          <a:p>
            <a:pPr lvl="1"/>
            <a:r>
              <a:rPr lang="en-GB" dirty="0"/>
              <a:t>Work through the exercises</a:t>
            </a:r>
          </a:p>
          <a:p>
            <a:pPr lvl="1"/>
            <a:r>
              <a:rPr lang="en-GB" dirty="0"/>
              <a:t>Follow the recommended further reading and materials</a:t>
            </a:r>
          </a:p>
          <a:p>
            <a:pPr lvl="1"/>
            <a:r>
              <a:rPr lang="en-GB" dirty="0"/>
              <a:t>Talk to each other about the work</a:t>
            </a:r>
          </a:p>
          <a:p>
            <a:pPr lvl="1"/>
            <a:r>
              <a:rPr lang="en-GB" dirty="0"/>
              <a:t>Keep up to date with materials (the content each week will build on previous ones)</a:t>
            </a:r>
          </a:p>
          <a:p>
            <a:pPr lvl="1"/>
            <a:r>
              <a:rPr lang="en-GB" dirty="0"/>
              <a:t>Ask questions!</a:t>
            </a:r>
          </a:p>
          <a:p>
            <a:r>
              <a:rPr lang="en-GB" dirty="0"/>
              <a:t>You are expected to spend an average </a:t>
            </a:r>
            <a:r>
              <a:rPr lang="en-GB" u="sng" dirty="0"/>
              <a:t>per week</a:t>
            </a:r>
            <a:r>
              <a:rPr lang="en-GB" dirty="0"/>
              <a:t> of around </a:t>
            </a:r>
            <a:r>
              <a:rPr lang="en-GB" u="sng" dirty="0"/>
              <a:t>20 hours for COMM741</a:t>
            </a:r>
            <a:r>
              <a:rPr lang="en-GB" dirty="0"/>
              <a:t> or </a:t>
            </a:r>
            <a:r>
              <a:rPr lang="en-GB" u="sng" dirty="0"/>
              <a:t>10 hours for COMM767</a:t>
            </a:r>
            <a:r>
              <a:rPr lang="en-GB" dirty="0"/>
              <a:t> on independent study.  We may therefore skip through some slides in the taught sessions to allow us more time to focus on practical skills, but it’s important that you go through the remaining slides in your own time and ask any follow up questions in a later class.</a:t>
            </a:r>
          </a:p>
        </p:txBody>
      </p:sp>
    </p:spTree>
    <p:extLst>
      <p:ext uri="{BB962C8B-B14F-4D97-AF65-F5344CB8AC3E}">
        <p14:creationId xmlns:p14="http://schemas.microsoft.com/office/powerpoint/2010/main" val="276446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97B18-2237-9952-317D-C751F79B83B5}"/>
              </a:ext>
            </a:extLst>
          </p:cNvPr>
          <p:cNvSpPr>
            <a:spLocks noGrp="1"/>
          </p:cNvSpPr>
          <p:nvPr>
            <p:ph type="title"/>
          </p:nvPr>
        </p:nvSpPr>
        <p:spPr/>
        <p:txBody>
          <a:bodyPr/>
          <a:lstStyle/>
          <a:p>
            <a:r>
              <a:rPr lang="en-GB" dirty="0"/>
              <a:t>Generative artificial intelligence</a:t>
            </a:r>
          </a:p>
        </p:txBody>
      </p:sp>
      <p:sp>
        <p:nvSpPr>
          <p:cNvPr id="3" name="Content Placeholder 2">
            <a:extLst>
              <a:ext uri="{FF2B5EF4-FFF2-40B4-BE49-F238E27FC236}">
                <a16:creationId xmlns:a16="http://schemas.microsoft.com/office/drawing/2014/main" id="{261FC6F4-E45B-6B3D-6C0D-B9E84B8DAAB4}"/>
              </a:ext>
            </a:extLst>
          </p:cNvPr>
          <p:cNvSpPr>
            <a:spLocks noGrp="1"/>
          </p:cNvSpPr>
          <p:nvPr>
            <p:ph idx="1"/>
          </p:nvPr>
        </p:nvSpPr>
        <p:spPr/>
        <p:txBody>
          <a:bodyPr>
            <a:normAutofit/>
          </a:bodyPr>
          <a:lstStyle/>
          <a:p>
            <a:r>
              <a:rPr lang="en-GB" dirty="0"/>
              <a:t>We're trying to teach you how to do things yourself, not ask a computer to generate answers for you</a:t>
            </a:r>
          </a:p>
          <a:p>
            <a:r>
              <a:rPr lang="en-GB" dirty="0"/>
              <a:t>Therefore, </a:t>
            </a:r>
            <a:r>
              <a:rPr lang="en-GB" b="1" dirty="0"/>
              <a:t>use of ChatGPT and other forms of generative artificial intelligence is not permitted in assessed work</a:t>
            </a:r>
          </a:p>
          <a:p>
            <a:r>
              <a:rPr lang="en-GB" dirty="0"/>
              <a:t>Please read guidance on the Canvas page for more information</a:t>
            </a:r>
          </a:p>
          <a:p>
            <a:r>
              <a:rPr lang="en-GB" dirty="0"/>
              <a:t>More guidance will also be given as the module progresses, particularly in Week 5 and Week 8</a:t>
            </a:r>
          </a:p>
          <a:p>
            <a:r>
              <a:rPr lang="en-GB" dirty="0"/>
              <a:t>Talk with us if you have any questions about this</a:t>
            </a:r>
          </a:p>
        </p:txBody>
      </p:sp>
    </p:spTree>
    <p:extLst>
      <p:ext uri="{BB962C8B-B14F-4D97-AF65-F5344CB8AC3E}">
        <p14:creationId xmlns:p14="http://schemas.microsoft.com/office/powerpoint/2010/main" val="40888655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CAA3A-1FA0-43A8-B0C3-589B4948A3C4}"/>
              </a:ext>
            </a:extLst>
          </p:cNvPr>
          <p:cNvSpPr>
            <a:spLocks noGrp="1"/>
          </p:cNvSpPr>
          <p:nvPr>
            <p:ph type="title"/>
          </p:nvPr>
        </p:nvSpPr>
        <p:spPr/>
        <p:txBody>
          <a:bodyPr/>
          <a:lstStyle/>
          <a:p>
            <a:r>
              <a:rPr lang="en-GB" dirty="0"/>
              <a:t>Changes in response to student feedback</a:t>
            </a:r>
            <a:endParaRPr lang="en-US" dirty="0"/>
          </a:p>
        </p:txBody>
      </p:sp>
      <p:sp>
        <p:nvSpPr>
          <p:cNvPr id="3" name="Content Placeholder 2">
            <a:extLst>
              <a:ext uri="{FF2B5EF4-FFF2-40B4-BE49-F238E27FC236}">
                <a16:creationId xmlns:a16="http://schemas.microsoft.com/office/drawing/2014/main" id="{0F10FDBB-7298-4AE2-9464-6772C82D4958}"/>
              </a:ext>
            </a:extLst>
          </p:cNvPr>
          <p:cNvSpPr>
            <a:spLocks noGrp="1"/>
          </p:cNvSpPr>
          <p:nvPr>
            <p:ph idx="1"/>
          </p:nvPr>
        </p:nvSpPr>
        <p:spPr>
          <a:xfrm>
            <a:off x="838200" y="1759130"/>
            <a:ext cx="10515600" cy="4611189"/>
          </a:xfrm>
        </p:spPr>
        <p:txBody>
          <a:bodyPr>
            <a:normAutofit fontScale="62500" lnSpcReduction="20000"/>
          </a:bodyPr>
          <a:lstStyle/>
          <a:p>
            <a:r>
              <a:rPr lang="en-GB" dirty="0"/>
              <a:t>Student feedback is really important, both during the module and in the Module Evaluation Questionnaire at the end of the semester</a:t>
            </a:r>
          </a:p>
          <a:p>
            <a:r>
              <a:rPr lang="en-GB" dirty="0"/>
              <a:t>Based on feedback from previous years' students, lecturers will endeavour to:</a:t>
            </a:r>
          </a:p>
          <a:p>
            <a:r>
              <a:rPr lang="en-GB" dirty="0"/>
              <a:t>Learning community</a:t>
            </a:r>
          </a:p>
          <a:p>
            <a:pPr lvl="1"/>
            <a:r>
              <a:rPr lang="en-GB" dirty="0"/>
              <a:t>Give time at the end of classes for group reflection, including to discuss areas of difficulty</a:t>
            </a:r>
          </a:p>
          <a:p>
            <a:r>
              <a:rPr lang="en-GB" dirty="0"/>
              <a:t>Delivery</a:t>
            </a:r>
          </a:p>
          <a:p>
            <a:pPr lvl="1"/>
            <a:r>
              <a:rPr lang="en-GB" dirty="0"/>
              <a:t>Lecturer to use own laptop instead of computer in classroom</a:t>
            </a:r>
          </a:p>
          <a:p>
            <a:pPr lvl="1"/>
            <a:r>
              <a:rPr lang="en-GB" dirty="0"/>
              <a:t>Test code before class and provide this in a separate text file for students to run without formatting issues</a:t>
            </a:r>
          </a:p>
          <a:p>
            <a:pPr lvl="1"/>
            <a:r>
              <a:rPr lang="en-GB" dirty="0"/>
              <a:t>Spend more time on core skills at start of module, and make the transition less abrupt to more advanced materials</a:t>
            </a:r>
            <a:endParaRPr lang="en-US" dirty="0"/>
          </a:p>
          <a:p>
            <a:pPr lvl="1"/>
            <a:r>
              <a:rPr lang="en-GB" dirty="0"/>
              <a:t>Pay close attention to the different backgrounds and expectations of students who are taking the module as an option</a:t>
            </a:r>
          </a:p>
          <a:p>
            <a:r>
              <a:rPr lang="en-GB" dirty="0"/>
              <a:t>Assessment</a:t>
            </a:r>
          </a:p>
          <a:p>
            <a:pPr lvl="1"/>
            <a:r>
              <a:rPr lang="en-GB" dirty="0"/>
              <a:t>Ensure all students receive 1-to-1 feedback at an early stage</a:t>
            </a:r>
          </a:p>
          <a:p>
            <a:pPr lvl="1"/>
            <a:r>
              <a:rPr lang="en-GB" dirty="0"/>
              <a:t>Give clear guidance on the Blog assignment as soon as possible</a:t>
            </a:r>
          </a:p>
          <a:p>
            <a:r>
              <a:rPr lang="en-GB" dirty="0"/>
              <a:t>Employability, citizenship and professional development</a:t>
            </a:r>
          </a:p>
          <a:p>
            <a:pPr lvl="1"/>
            <a:r>
              <a:rPr lang="en-GB" dirty="0"/>
              <a:t>Highlight these aspects of the module more clearly throughout</a:t>
            </a:r>
          </a:p>
          <a:p>
            <a:r>
              <a:rPr lang="en-GB" dirty="0"/>
              <a:t>Please remind us of these during the module if you feel we haven't addressed them fully, or if you have any other feedback or requests for us</a:t>
            </a:r>
          </a:p>
        </p:txBody>
      </p:sp>
    </p:spTree>
    <p:extLst>
      <p:ext uri="{BB962C8B-B14F-4D97-AF65-F5344CB8AC3E}">
        <p14:creationId xmlns:p14="http://schemas.microsoft.com/office/powerpoint/2010/main" val="1003900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8B0A-D610-470F-B6C5-AE8D7E77E3C8}"/>
              </a:ext>
            </a:extLst>
          </p:cNvPr>
          <p:cNvSpPr>
            <a:spLocks noGrp="1"/>
          </p:cNvSpPr>
          <p:nvPr>
            <p:ph type="title"/>
          </p:nvPr>
        </p:nvSpPr>
        <p:spPr/>
        <p:txBody>
          <a:bodyPr/>
          <a:lstStyle/>
          <a:p>
            <a:r>
              <a:rPr lang="en-GB" dirty="0"/>
              <a:t>Learning Objectives – Week 1</a:t>
            </a:r>
          </a:p>
        </p:txBody>
      </p:sp>
      <p:sp>
        <p:nvSpPr>
          <p:cNvPr id="3" name="Content Placeholder 2">
            <a:extLst>
              <a:ext uri="{FF2B5EF4-FFF2-40B4-BE49-F238E27FC236}">
                <a16:creationId xmlns:a16="http://schemas.microsoft.com/office/drawing/2014/main" id="{5CB5226D-614E-4F33-92D4-20681697BDD4}"/>
              </a:ext>
            </a:extLst>
          </p:cNvPr>
          <p:cNvSpPr>
            <a:spLocks noGrp="1"/>
          </p:cNvSpPr>
          <p:nvPr>
            <p:ph idx="1"/>
          </p:nvPr>
        </p:nvSpPr>
        <p:spPr/>
        <p:txBody>
          <a:bodyPr/>
          <a:lstStyle/>
          <a:p>
            <a:r>
              <a:rPr lang="en-GB" dirty="0"/>
              <a:t>Know what data are, including different scales of measurement</a:t>
            </a:r>
          </a:p>
          <a:p>
            <a:r>
              <a:rPr lang="en-GB" dirty="0"/>
              <a:t>Know what is meant by data science, and the main stages of the data lifecycle</a:t>
            </a:r>
          </a:p>
          <a:p>
            <a:r>
              <a:rPr lang="en-GB" dirty="0">
                <a:highlight>
                  <a:srgbClr val="FFFF00"/>
                </a:highlight>
              </a:rPr>
              <a:t>Use spreadsheets to view data and perform basic analysis (flipped classroom!)</a:t>
            </a:r>
          </a:p>
        </p:txBody>
      </p:sp>
    </p:spTree>
    <p:extLst>
      <p:ext uri="{BB962C8B-B14F-4D97-AF65-F5344CB8AC3E}">
        <p14:creationId xmlns:p14="http://schemas.microsoft.com/office/powerpoint/2010/main" val="3664348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6BEDD-74F2-407A-A062-7DA92FAE8D10}"/>
              </a:ext>
            </a:extLst>
          </p:cNvPr>
          <p:cNvSpPr>
            <a:spLocks noGrp="1"/>
          </p:cNvSpPr>
          <p:nvPr>
            <p:ph type="title"/>
          </p:nvPr>
        </p:nvSpPr>
        <p:spPr/>
        <p:txBody>
          <a:bodyPr/>
          <a:lstStyle/>
          <a:p>
            <a:r>
              <a:rPr lang="en-GB" dirty="0"/>
              <a:t>Key aspects of data science for communication</a:t>
            </a:r>
          </a:p>
        </p:txBody>
      </p:sp>
      <p:sp>
        <p:nvSpPr>
          <p:cNvPr id="4" name="Rectangle 3">
            <a:extLst>
              <a:ext uri="{FF2B5EF4-FFF2-40B4-BE49-F238E27FC236}">
                <a16:creationId xmlns:a16="http://schemas.microsoft.com/office/drawing/2014/main" id="{F0849D1A-F954-4A4C-BD16-24061CFA49FE}"/>
              </a:ext>
            </a:extLst>
          </p:cNvPr>
          <p:cNvSpPr/>
          <p:nvPr/>
        </p:nvSpPr>
        <p:spPr>
          <a:xfrm>
            <a:off x="5247966" y="2099187"/>
            <a:ext cx="1936955"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Data science for communication</a:t>
            </a:r>
          </a:p>
        </p:txBody>
      </p:sp>
      <p:sp>
        <p:nvSpPr>
          <p:cNvPr id="6" name="Oval 5">
            <a:extLst>
              <a:ext uri="{FF2B5EF4-FFF2-40B4-BE49-F238E27FC236}">
                <a16:creationId xmlns:a16="http://schemas.microsoft.com/office/drawing/2014/main" id="{4EFF1725-883F-4D24-804C-3F923F03F5DF}"/>
              </a:ext>
            </a:extLst>
          </p:cNvPr>
          <p:cNvSpPr/>
          <p:nvPr/>
        </p:nvSpPr>
        <p:spPr>
          <a:xfrm>
            <a:off x="1641987" y="2057400"/>
            <a:ext cx="1838632" cy="9144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Data literacy</a:t>
            </a:r>
          </a:p>
        </p:txBody>
      </p:sp>
      <p:sp>
        <p:nvSpPr>
          <p:cNvPr id="7" name="TextBox 6">
            <a:extLst>
              <a:ext uri="{FF2B5EF4-FFF2-40B4-BE49-F238E27FC236}">
                <a16:creationId xmlns:a16="http://schemas.microsoft.com/office/drawing/2014/main" id="{25AF0231-195C-4AED-A3FF-8057F7A4FB3D}"/>
              </a:ext>
            </a:extLst>
          </p:cNvPr>
          <p:cNvSpPr txBox="1"/>
          <p:nvPr/>
        </p:nvSpPr>
        <p:spPr>
          <a:xfrm>
            <a:off x="838200" y="3060290"/>
            <a:ext cx="3684639" cy="2862322"/>
          </a:xfrm>
          <a:prstGeom prst="rect">
            <a:avLst/>
          </a:prstGeom>
          <a:noFill/>
        </p:spPr>
        <p:txBody>
          <a:bodyPr wrap="square" rtlCol="0">
            <a:spAutoFit/>
          </a:bodyPr>
          <a:lstStyle/>
          <a:p>
            <a:pPr marL="285750" indent="-285750">
              <a:buFontTx/>
              <a:buChar char="-"/>
            </a:pPr>
            <a:r>
              <a:rPr lang="en-GB" dirty="0"/>
              <a:t>Know how to handle and interpret different types of data, e.g. data sources, percentages, averages, distributions</a:t>
            </a:r>
          </a:p>
          <a:p>
            <a:pPr marL="285750" indent="-285750">
              <a:buFontTx/>
              <a:buChar char="-"/>
            </a:pPr>
            <a:r>
              <a:rPr lang="en-GB" dirty="0"/>
              <a:t>This is important for a range of areas, e.g. working with audience figures, market shares, data journalism</a:t>
            </a:r>
          </a:p>
          <a:p>
            <a:pPr marL="285750" indent="-285750">
              <a:buFontTx/>
              <a:buChar char="-"/>
            </a:pPr>
            <a:endParaRPr lang="en-GB" dirty="0"/>
          </a:p>
          <a:p>
            <a:pPr marL="285750" indent="-285750">
              <a:buFontTx/>
              <a:buChar char="-"/>
            </a:pPr>
            <a:endParaRPr lang="en-GB" dirty="0"/>
          </a:p>
        </p:txBody>
      </p:sp>
      <p:sp>
        <p:nvSpPr>
          <p:cNvPr id="10" name="Oval 9">
            <a:extLst>
              <a:ext uri="{FF2B5EF4-FFF2-40B4-BE49-F238E27FC236}">
                <a16:creationId xmlns:a16="http://schemas.microsoft.com/office/drawing/2014/main" id="{DF7550CA-F7B5-4A2A-B0AB-5656424A316E}"/>
              </a:ext>
            </a:extLst>
          </p:cNvPr>
          <p:cNvSpPr/>
          <p:nvPr/>
        </p:nvSpPr>
        <p:spPr>
          <a:xfrm>
            <a:off x="8849674" y="298284"/>
            <a:ext cx="1838632" cy="914400"/>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Coding skills</a:t>
            </a:r>
          </a:p>
        </p:txBody>
      </p:sp>
      <p:sp>
        <p:nvSpPr>
          <p:cNvPr id="11" name="TextBox 10">
            <a:extLst>
              <a:ext uri="{FF2B5EF4-FFF2-40B4-BE49-F238E27FC236}">
                <a16:creationId xmlns:a16="http://schemas.microsoft.com/office/drawing/2014/main" id="{F4E9EF1A-2C20-4611-BB08-A313499EC4EF}"/>
              </a:ext>
            </a:extLst>
          </p:cNvPr>
          <p:cNvSpPr txBox="1"/>
          <p:nvPr/>
        </p:nvSpPr>
        <p:spPr>
          <a:xfrm>
            <a:off x="8346732" y="1221938"/>
            <a:ext cx="3684639" cy="2585323"/>
          </a:xfrm>
          <a:prstGeom prst="rect">
            <a:avLst/>
          </a:prstGeom>
          <a:noFill/>
        </p:spPr>
        <p:txBody>
          <a:bodyPr wrap="square" rtlCol="0">
            <a:spAutoFit/>
          </a:bodyPr>
          <a:lstStyle/>
          <a:p>
            <a:pPr marL="285750" indent="-285750">
              <a:buFontTx/>
              <a:buChar char="-"/>
            </a:pPr>
            <a:r>
              <a:rPr lang="en-GB" dirty="0"/>
              <a:t>Know how to program a computer to perform operations and calculations</a:t>
            </a:r>
          </a:p>
          <a:p>
            <a:pPr marL="285750" indent="-285750">
              <a:buFontTx/>
              <a:buChar char="-"/>
            </a:pPr>
            <a:r>
              <a:rPr lang="en-GB" dirty="0"/>
              <a:t>This is important for a range of applications, e.g. gathering and formatting data, performing quantitative analysis</a:t>
            </a:r>
          </a:p>
          <a:p>
            <a:pPr marL="285750" indent="-285750">
              <a:buFontTx/>
              <a:buChar char="-"/>
            </a:pPr>
            <a:endParaRPr lang="en-GB" dirty="0"/>
          </a:p>
          <a:p>
            <a:pPr marL="285750" indent="-285750">
              <a:buFontTx/>
              <a:buChar char="-"/>
            </a:pPr>
            <a:endParaRPr lang="en-GB" dirty="0"/>
          </a:p>
        </p:txBody>
      </p:sp>
      <p:cxnSp>
        <p:nvCxnSpPr>
          <p:cNvPr id="13" name="Straight Connector 12">
            <a:extLst>
              <a:ext uri="{FF2B5EF4-FFF2-40B4-BE49-F238E27FC236}">
                <a16:creationId xmlns:a16="http://schemas.microsoft.com/office/drawing/2014/main" id="{4216C300-F577-4B2C-8B29-E703E81FF80C}"/>
              </a:ext>
            </a:extLst>
          </p:cNvPr>
          <p:cNvCxnSpPr>
            <a:stCxn id="6" idx="6"/>
            <a:endCxn id="4" idx="1"/>
          </p:cNvCxnSpPr>
          <p:nvPr/>
        </p:nvCxnSpPr>
        <p:spPr>
          <a:xfrm>
            <a:off x="3480619" y="2514600"/>
            <a:ext cx="1767347" cy="41787"/>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25A0A7-91F7-4FB1-8A7C-3965537A3C8D}"/>
              </a:ext>
            </a:extLst>
          </p:cNvPr>
          <p:cNvCxnSpPr>
            <a:stCxn id="4" idx="3"/>
            <a:endCxn id="10" idx="2"/>
          </p:cNvCxnSpPr>
          <p:nvPr/>
        </p:nvCxnSpPr>
        <p:spPr>
          <a:xfrm flipV="1">
            <a:off x="7184921" y="755484"/>
            <a:ext cx="1664753" cy="1800903"/>
          </a:xfrm>
          <a:prstGeom prst="line">
            <a:avLst/>
          </a:prstGeom>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A23256E3-CF18-4785-85C8-4BEB62872F66}"/>
              </a:ext>
            </a:extLst>
          </p:cNvPr>
          <p:cNvSpPr/>
          <p:nvPr/>
        </p:nvSpPr>
        <p:spPr>
          <a:xfrm>
            <a:off x="5297127" y="3794588"/>
            <a:ext cx="1838632" cy="9144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Data analysis</a:t>
            </a:r>
          </a:p>
        </p:txBody>
      </p:sp>
      <p:cxnSp>
        <p:nvCxnSpPr>
          <p:cNvPr id="22" name="Straight Connector 21">
            <a:extLst>
              <a:ext uri="{FF2B5EF4-FFF2-40B4-BE49-F238E27FC236}">
                <a16:creationId xmlns:a16="http://schemas.microsoft.com/office/drawing/2014/main" id="{E273DA67-54F3-493F-9D3D-2AD241E71A98}"/>
              </a:ext>
            </a:extLst>
          </p:cNvPr>
          <p:cNvCxnSpPr>
            <a:cxnSpLocks/>
            <a:stCxn id="4" idx="2"/>
            <a:endCxn id="20" idx="0"/>
          </p:cNvCxnSpPr>
          <p:nvPr/>
        </p:nvCxnSpPr>
        <p:spPr>
          <a:xfrm flipH="1">
            <a:off x="6216443" y="3013587"/>
            <a:ext cx="1" cy="781001"/>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4DC0C5C7-441D-4F63-B334-F8F006E74F3C}"/>
              </a:ext>
            </a:extLst>
          </p:cNvPr>
          <p:cNvSpPr txBox="1"/>
          <p:nvPr/>
        </p:nvSpPr>
        <p:spPr>
          <a:xfrm>
            <a:off x="7171855" y="3614288"/>
            <a:ext cx="5288045" cy="1754326"/>
          </a:xfrm>
          <a:prstGeom prst="rect">
            <a:avLst/>
          </a:prstGeom>
          <a:noFill/>
        </p:spPr>
        <p:txBody>
          <a:bodyPr wrap="square" rtlCol="0">
            <a:spAutoFit/>
          </a:bodyPr>
          <a:lstStyle/>
          <a:p>
            <a:pPr marL="285750" indent="-285750">
              <a:buFontTx/>
              <a:buChar char="-"/>
            </a:pPr>
            <a:r>
              <a:rPr lang="en-GB" dirty="0"/>
              <a:t>Know suitable types of analysis and how to use them, e.g. regression, classification</a:t>
            </a:r>
          </a:p>
          <a:p>
            <a:pPr marL="285750" indent="-285750">
              <a:buFontTx/>
              <a:buChar char="-"/>
            </a:pPr>
            <a:r>
              <a:rPr lang="en-GB" dirty="0"/>
              <a:t>This integrates data literacy and coding skills to provide detailed understanding of data, e.g. predicting trends, recommending content</a:t>
            </a:r>
          </a:p>
          <a:p>
            <a:pPr marL="285750" indent="-285750">
              <a:buFontTx/>
              <a:buChar char="-"/>
            </a:pPr>
            <a:endParaRPr lang="en-GB" dirty="0"/>
          </a:p>
        </p:txBody>
      </p:sp>
      <p:sp>
        <p:nvSpPr>
          <p:cNvPr id="3" name="Cloud 2">
            <a:extLst>
              <a:ext uri="{FF2B5EF4-FFF2-40B4-BE49-F238E27FC236}">
                <a16:creationId xmlns:a16="http://schemas.microsoft.com/office/drawing/2014/main" id="{CD178057-7F7D-5D5D-AD5E-7B2E60B45181}"/>
              </a:ext>
            </a:extLst>
          </p:cNvPr>
          <p:cNvSpPr/>
          <p:nvPr/>
        </p:nvSpPr>
        <p:spPr>
          <a:xfrm>
            <a:off x="1929847" y="5575852"/>
            <a:ext cx="2604052" cy="917023"/>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Data visualisation</a:t>
            </a:r>
          </a:p>
        </p:txBody>
      </p:sp>
      <p:cxnSp>
        <p:nvCxnSpPr>
          <p:cNvPr id="9" name="Straight Connector 8">
            <a:extLst>
              <a:ext uri="{FF2B5EF4-FFF2-40B4-BE49-F238E27FC236}">
                <a16:creationId xmlns:a16="http://schemas.microsoft.com/office/drawing/2014/main" id="{33618246-CA8E-6870-AA95-2175C9E58D09}"/>
              </a:ext>
            </a:extLst>
          </p:cNvPr>
          <p:cNvCxnSpPr>
            <a:cxnSpLocks/>
          </p:cNvCxnSpPr>
          <p:nvPr/>
        </p:nvCxnSpPr>
        <p:spPr>
          <a:xfrm flipV="1">
            <a:off x="4128879" y="3013587"/>
            <a:ext cx="1264115" cy="2562265"/>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4D5A7D2A-A984-3CC8-4A94-05F4731C3AE9}"/>
              </a:ext>
            </a:extLst>
          </p:cNvPr>
          <p:cNvSpPr txBox="1"/>
          <p:nvPr/>
        </p:nvSpPr>
        <p:spPr>
          <a:xfrm>
            <a:off x="4533899" y="5535985"/>
            <a:ext cx="7296925" cy="1200329"/>
          </a:xfrm>
          <a:prstGeom prst="rect">
            <a:avLst/>
          </a:prstGeom>
          <a:noFill/>
        </p:spPr>
        <p:txBody>
          <a:bodyPr wrap="square" rtlCol="0">
            <a:spAutoFit/>
          </a:bodyPr>
          <a:lstStyle/>
          <a:p>
            <a:pPr marL="285750" indent="-285750">
              <a:buFontTx/>
              <a:buChar char="-"/>
            </a:pPr>
            <a:r>
              <a:rPr lang="en-GB" dirty="0"/>
              <a:t>Graphically represent data and the results of data analysis</a:t>
            </a:r>
          </a:p>
          <a:p>
            <a:pPr marL="285750" indent="-285750">
              <a:buFontTx/>
              <a:buChar char="-"/>
            </a:pPr>
            <a:r>
              <a:rPr lang="en-GB" dirty="0"/>
              <a:t>This is so important, it is covered in a separate module (COMM740), but we will also touch on it in this module</a:t>
            </a:r>
          </a:p>
          <a:p>
            <a:pPr marL="285750" indent="-285750">
              <a:buFontTx/>
              <a:buChar char="-"/>
            </a:pPr>
            <a:endParaRPr lang="en-GB" dirty="0"/>
          </a:p>
        </p:txBody>
      </p:sp>
    </p:spTree>
    <p:extLst>
      <p:ext uri="{BB962C8B-B14F-4D97-AF65-F5344CB8AC3E}">
        <p14:creationId xmlns:p14="http://schemas.microsoft.com/office/powerpoint/2010/main" val="4067054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5C33E-FB89-4976-B50C-3009FBF4E288}"/>
              </a:ext>
            </a:extLst>
          </p:cNvPr>
          <p:cNvSpPr>
            <a:spLocks noGrp="1"/>
          </p:cNvSpPr>
          <p:nvPr>
            <p:ph type="title"/>
          </p:nvPr>
        </p:nvSpPr>
        <p:spPr>
          <a:xfrm>
            <a:off x="673097" y="365125"/>
            <a:ext cx="10515600" cy="1325563"/>
          </a:xfrm>
        </p:spPr>
        <p:txBody>
          <a:bodyPr/>
          <a:lstStyle/>
          <a:p>
            <a:r>
              <a:rPr lang="en-GB" dirty="0"/>
              <a:t>What are data?  Where do they come from?</a:t>
            </a:r>
          </a:p>
        </p:txBody>
      </p:sp>
      <p:sp>
        <p:nvSpPr>
          <p:cNvPr id="3" name="Content Placeholder 2">
            <a:extLst>
              <a:ext uri="{FF2B5EF4-FFF2-40B4-BE49-F238E27FC236}">
                <a16:creationId xmlns:a16="http://schemas.microsoft.com/office/drawing/2014/main" id="{5EBED4F1-F02C-4284-9906-AA844A3E8340}"/>
              </a:ext>
            </a:extLst>
          </p:cNvPr>
          <p:cNvSpPr>
            <a:spLocks noGrp="1"/>
          </p:cNvSpPr>
          <p:nvPr>
            <p:ph idx="1"/>
          </p:nvPr>
        </p:nvSpPr>
        <p:spPr>
          <a:xfrm>
            <a:off x="673098" y="1690688"/>
            <a:ext cx="7303954" cy="4860413"/>
          </a:xfrm>
        </p:spPr>
        <p:txBody>
          <a:bodyPr>
            <a:normAutofit fontScale="92500" lnSpcReduction="20000"/>
          </a:bodyPr>
          <a:lstStyle/>
          <a:p>
            <a:r>
              <a:rPr lang="en-GB" dirty="0"/>
              <a:t>Data is/are collections of values, generally numbers, words, audio or visuals, which contain information</a:t>
            </a:r>
          </a:p>
          <a:p>
            <a:pPr lvl="1"/>
            <a:r>
              <a:rPr lang="en-GB" dirty="0"/>
              <a:t>Information is generally considered distinct from data, i.e. information is obtained </a:t>
            </a:r>
            <a:r>
              <a:rPr lang="en-GB" i="1" dirty="0"/>
              <a:t>from</a:t>
            </a:r>
            <a:r>
              <a:rPr lang="en-GB" dirty="0"/>
              <a:t> data, through analysis and interpretation</a:t>
            </a:r>
          </a:p>
          <a:p>
            <a:r>
              <a:rPr lang="en-GB" dirty="0"/>
              <a:t>Data come from many sources</a:t>
            </a:r>
          </a:p>
          <a:p>
            <a:pPr lvl="1"/>
            <a:r>
              <a:rPr lang="en-GB" dirty="0"/>
              <a:t>Traditionally, this was based on surveys, observations, and measurements</a:t>
            </a:r>
          </a:p>
          <a:p>
            <a:pPr lvl="1"/>
            <a:r>
              <a:rPr lang="en-GB" dirty="0"/>
              <a:t>The internet is an ever-growing source of data, including:</a:t>
            </a:r>
          </a:p>
          <a:p>
            <a:pPr lvl="2"/>
            <a:r>
              <a:rPr lang="en-GB" dirty="0"/>
              <a:t>Web content, e.g. text, images, videos, other types of files</a:t>
            </a:r>
          </a:p>
          <a:p>
            <a:pPr lvl="2"/>
            <a:r>
              <a:rPr lang="en-GB" dirty="0"/>
              <a:t>User-generated content, e.g. posts, comments</a:t>
            </a:r>
          </a:p>
          <a:p>
            <a:pPr lvl="2"/>
            <a:r>
              <a:rPr lang="en-GB" dirty="0"/>
              <a:t>Interactions with content, e.g. traffic, links, likes, shares</a:t>
            </a:r>
          </a:p>
          <a:p>
            <a:pPr lvl="1"/>
            <a:r>
              <a:rPr lang="en-GB" dirty="0"/>
              <a:t>Other digital data sources include:</a:t>
            </a:r>
          </a:p>
          <a:p>
            <a:pPr lvl="2"/>
            <a:r>
              <a:rPr lang="en-GB" dirty="0"/>
              <a:t>Direct user-to-user messaging, mobile networks, sensors</a:t>
            </a:r>
          </a:p>
        </p:txBody>
      </p:sp>
      <p:pic>
        <p:nvPicPr>
          <p:cNvPr id="2050" name="Picture 2" descr="https://upload.wikimedia.org/wikipedia/commons/thumb/6/6d/Data_types_-_en.svg/1200px-Data_types_-_en.svg.png">
            <a:extLst>
              <a:ext uri="{FF2B5EF4-FFF2-40B4-BE49-F238E27FC236}">
                <a16:creationId xmlns:a16="http://schemas.microsoft.com/office/drawing/2014/main" id="{BB6B4D8A-128B-4B69-A603-631291931D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89962" y="1301482"/>
            <a:ext cx="2419638" cy="25181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Big Data: el uso de los datos para saber todo">
            <a:extLst>
              <a:ext uri="{FF2B5EF4-FFF2-40B4-BE49-F238E27FC236}">
                <a16:creationId xmlns:a16="http://schemas.microsoft.com/office/drawing/2014/main" id="{DE93598D-47A2-4A4C-9C4A-BEA341141A6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967" t="21946" r="7668"/>
          <a:stretch/>
        </p:blipFill>
        <p:spPr bwMode="auto">
          <a:xfrm>
            <a:off x="8077199" y="3889300"/>
            <a:ext cx="3870905" cy="2656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34725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FF3DE5-B47A-434F-8006-F390EECCA379}"/>
              </a:ext>
            </a:extLst>
          </p:cNvPr>
          <p:cNvSpPr>
            <a:spLocks noGrp="1"/>
          </p:cNvSpPr>
          <p:nvPr>
            <p:ph type="title"/>
          </p:nvPr>
        </p:nvSpPr>
        <p:spPr>
          <a:xfrm>
            <a:off x="838200" y="365125"/>
            <a:ext cx="3801177" cy="1325563"/>
          </a:xfrm>
        </p:spPr>
        <p:txBody>
          <a:bodyPr/>
          <a:lstStyle/>
          <a:p>
            <a:r>
              <a:rPr lang="en-GB" dirty="0"/>
              <a:t>What is Data Science?</a:t>
            </a:r>
          </a:p>
        </p:txBody>
      </p:sp>
      <p:sp>
        <p:nvSpPr>
          <p:cNvPr id="5" name="Content Placeholder 4">
            <a:extLst>
              <a:ext uri="{FF2B5EF4-FFF2-40B4-BE49-F238E27FC236}">
                <a16:creationId xmlns:a16="http://schemas.microsoft.com/office/drawing/2014/main" id="{93459A03-42AF-4C05-AE88-71E7248BD64A}"/>
              </a:ext>
            </a:extLst>
          </p:cNvPr>
          <p:cNvSpPr>
            <a:spLocks noGrp="1"/>
          </p:cNvSpPr>
          <p:nvPr>
            <p:ph idx="1"/>
          </p:nvPr>
        </p:nvSpPr>
        <p:spPr>
          <a:xfrm>
            <a:off x="838200" y="1825624"/>
            <a:ext cx="4322282" cy="4794631"/>
          </a:xfrm>
        </p:spPr>
        <p:txBody>
          <a:bodyPr>
            <a:normAutofit fontScale="70000" lnSpcReduction="20000"/>
          </a:bodyPr>
          <a:lstStyle/>
          <a:p>
            <a:r>
              <a:rPr lang="en-GB" dirty="0"/>
              <a:t>It is the study of extracting meaning and insights from data</a:t>
            </a:r>
          </a:p>
          <a:p>
            <a:r>
              <a:rPr lang="en-GB" dirty="0"/>
              <a:t>It combines elements of computer science, statistics, mathematics and technology</a:t>
            </a:r>
          </a:p>
          <a:p>
            <a:r>
              <a:rPr lang="en-GB" dirty="0"/>
              <a:t>The term is relatively new, only entering common usage around 2010</a:t>
            </a:r>
          </a:p>
          <a:p>
            <a:r>
              <a:rPr lang="en-GB" dirty="0"/>
              <a:t>‘Big data’ is central to data science, facilitated by shifts toward digital storage and transmission</a:t>
            </a:r>
          </a:p>
          <a:p>
            <a:r>
              <a:rPr lang="en-GB" dirty="0"/>
              <a:t>Artificial intelligence (AI) and machine learning are major elements of data science, which have risen sharply since 2011 – we will consider these more as the module progresses, and in Semester 2 with Artificial Intelligence and Communication (COMM718/766)</a:t>
            </a:r>
          </a:p>
        </p:txBody>
      </p:sp>
      <p:pic>
        <p:nvPicPr>
          <p:cNvPr id="8" name="Picture 4" descr="a brief history of data science">
            <a:extLst>
              <a:ext uri="{FF2B5EF4-FFF2-40B4-BE49-F238E27FC236}">
                <a16:creationId xmlns:a16="http://schemas.microsoft.com/office/drawing/2014/main" id="{EDC5562B-9508-4935-886D-54F25CA5ACB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80" t="982" r="1216" b="1755"/>
          <a:stretch/>
        </p:blipFill>
        <p:spPr bwMode="auto">
          <a:xfrm>
            <a:off x="5428648" y="67377"/>
            <a:ext cx="6679933" cy="667030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45F66A1-445E-47B0-B4D6-43EF5F5BDB2C}"/>
              </a:ext>
            </a:extLst>
          </p:cNvPr>
          <p:cNvSpPr txBox="1"/>
          <p:nvPr/>
        </p:nvSpPr>
        <p:spPr>
          <a:xfrm>
            <a:off x="9788785" y="4290684"/>
            <a:ext cx="1567352" cy="1107996"/>
          </a:xfrm>
          <a:prstGeom prst="rect">
            <a:avLst/>
          </a:prstGeom>
          <a:noFill/>
        </p:spPr>
        <p:txBody>
          <a:bodyPr wrap="none" rtlCol="0">
            <a:spAutoFit/>
          </a:bodyPr>
          <a:lstStyle/>
          <a:p>
            <a:r>
              <a:rPr lang="en-GB" sz="1600" b="1" dirty="0"/>
              <a:t>Social Media</a:t>
            </a:r>
          </a:p>
          <a:p>
            <a:r>
              <a:rPr lang="en-GB" sz="1600" dirty="0"/>
              <a:t>Facebook (2004)</a:t>
            </a:r>
          </a:p>
          <a:p>
            <a:r>
              <a:rPr lang="en-GB" sz="1600" dirty="0"/>
              <a:t>YouTube (2005)</a:t>
            </a:r>
          </a:p>
          <a:p>
            <a:r>
              <a:rPr lang="en-GB" sz="1600" dirty="0"/>
              <a:t>Twitter (2006)</a:t>
            </a:r>
          </a:p>
        </p:txBody>
      </p:sp>
      <p:cxnSp>
        <p:nvCxnSpPr>
          <p:cNvPr id="10" name="Straight Connector 9">
            <a:extLst>
              <a:ext uri="{FF2B5EF4-FFF2-40B4-BE49-F238E27FC236}">
                <a16:creationId xmlns:a16="http://schemas.microsoft.com/office/drawing/2014/main" id="{647BC4BD-6A5E-47E2-AB94-E3F32F1B1E2E}"/>
              </a:ext>
            </a:extLst>
          </p:cNvPr>
          <p:cNvCxnSpPr>
            <a:cxnSpLocks/>
          </p:cNvCxnSpPr>
          <p:nvPr/>
        </p:nvCxnSpPr>
        <p:spPr>
          <a:xfrm>
            <a:off x="9686188" y="3020857"/>
            <a:ext cx="281470" cy="1259856"/>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8E8D1FC5-1F84-4BE8-B2DD-DE9774E5A61E}"/>
              </a:ext>
            </a:extLst>
          </p:cNvPr>
          <p:cNvSpPr txBox="1"/>
          <p:nvPr/>
        </p:nvSpPr>
        <p:spPr>
          <a:xfrm>
            <a:off x="6834968" y="1822450"/>
            <a:ext cx="1754776" cy="584775"/>
          </a:xfrm>
          <a:prstGeom prst="rect">
            <a:avLst/>
          </a:prstGeom>
          <a:noFill/>
        </p:spPr>
        <p:txBody>
          <a:bodyPr wrap="none" rtlCol="0">
            <a:spAutoFit/>
          </a:bodyPr>
          <a:lstStyle/>
          <a:p>
            <a:r>
              <a:rPr lang="en-GB" sz="1600" b="1" dirty="0"/>
              <a:t>Postal DVD rentals</a:t>
            </a:r>
          </a:p>
          <a:p>
            <a:r>
              <a:rPr lang="en-GB" sz="1600" dirty="0"/>
              <a:t>Netflix (1997)</a:t>
            </a:r>
          </a:p>
        </p:txBody>
      </p:sp>
      <p:cxnSp>
        <p:nvCxnSpPr>
          <p:cNvPr id="16" name="Straight Connector 15">
            <a:extLst>
              <a:ext uri="{FF2B5EF4-FFF2-40B4-BE49-F238E27FC236}">
                <a16:creationId xmlns:a16="http://schemas.microsoft.com/office/drawing/2014/main" id="{6525C204-B44A-46E9-AF7E-942ED70BE1E2}"/>
              </a:ext>
            </a:extLst>
          </p:cNvPr>
          <p:cNvCxnSpPr>
            <a:cxnSpLocks/>
          </p:cNvCxnSpPr>
          <p:nvPr/>
        </p:nvCxnSpPr>
        <p:spPr>
          <a:xfrm>
            <a:off x="7190311" y="2468781"/>
            <a:ext cx="844556" cy="1104152"/>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5482C9FE-6015-4B6A-B316-9F61AF109253}"/>
              </a:ext>
            </a:extLst>
          </p:cNvPr>
          <p:cNvSpPr txBox="1"/>
          <p:nvPr/>
        </p:nvSpPr>
        <p:spPr>
          <a:xfrm>
            <a:off x="8503332" y="865930"/>
            <a:ext cx="1777538" cy="584775"/>
          </a:xfrm>
          <a:prstGeom prst="rect">
            <a:avLst/>
          </a:prstGeom>
          <a:noFill/>
        </p:spPr>
        <p:txBody>
          <a:bodyPr wrap="none" rtlCol="0">
            <a:spAutoFit/>
          </a:bodyPr>
          <a:lstStyle/>
          <a:p>
            <a:r>
              <a:rPr lang="en-GB" sz="1600" b="1" dirty="0"/>
              <a:t>Streaming services</a:t>
            </a:r>
          </a:p>
          <a:p>
            <a:r>
              <a:rPr lang="en-GB" sz="1600" dirty="0"/>
              <a:t>Netflix (2007)</a:t>
            </a:r>
          </a:p>
        </p:txBody>
      </p:sp>
      <p:cxnSp>
        <p:nvCxnSpPr>
          <p:cNvPr id="25" name="Straight Connector 24">
            <a:extLst>
              <a:ext uri="{FF2B5EF4-FFF2-40B4-BE49-F238E27FC236}">
                <a16:creationId xmlns:a16="http://schemas.microsoft.com/office/drawing/2014/main" id="{102DB9CD-9147-4D20-BB6C-8160F26893C7}"/>
              </a:ext>
            </a:extLst>
          </p:cNvPr>
          <p:cNvCxnSpPr>
            <a:cxnSpLocks/>
          </p:cNvCxnSpPr>
          <p:nvPr/>
        </p:nvCxnSpPr>
        <p:spPr>
          <a:xfrm>
            <a:off x="9949104" y="1216638"/>
            <a:ext cx="331766" cy="1175697"/>
          </a:xfrm>
          <a:prstGeom prst="line">
            <a:avLst/>
          </a:prstGeom>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AFDE166-6116-42D2-9C84-EEC1AB8A4241}"/>
              </a:ext>
            </a:extLst>
          </p:cNvPr>
          <p:cNvSpPr txBox="1"/>
          <p:nvPr/>
        </p:nvSpPr>
        <p:spPr>
          <a:xfrm>
            <a:off x="10840348" y="3743196"/>
            <a:ext cx="1351652" cy="584775"/>
          </a:xfrm>
          <a:prstGeom prst="rect">
            <a:avLst/>
          </a:prstGeom>
          <a:noFill/>
        </p:spPr>
        <p:txBody>
          <a:bodyPr wrap="none" rtlCol="0">
            <a:spAutoFit/>
          </a:bodyPr>
          <a:lstStyle/>
          <a:p>
            <a:r>
              <a:rPr lang="en-GB" sz="1600" b="1" dirty="0"/>
              <a:t>Smartphones</a:t>
            </a:r>
          </a:p>
          <a:p>
            <a:r>
              <a:rPr lang="en-GB" sz="1600" dirty="0"/>
              <a:t>iPhone (2007)</a:t>
            </a:r>
          </a:p>
        </p:txBody>
      </p:sp>
      <p:cxnSp>
        <p:nvCxnSpPr>
          <p:cNvPr id="26" name="Straight Connector 25">
            <a:extLst>
              <a:ext uri="{FF2B5EF4-FFF2-40B4-BE49-F238E27FC236}">
                <a16:creationId xmlns:a16="http://schemas.microsoft.com/office/drawing/2014/main" id="{A97F024E-EBA4-41FF-8CFA-327E2CAB66BF}"/>
              </a:ext>
            </a:extLst>
          </p:cNvPr>
          <p:cNvCxnSpPr>
            <a:cxnSpLocks/>
          </p:cNvCxnSpPr>
          <p:nvPr/>
        </p:nvCxnSpPr>
        <p:spPr>
          <a:xfrm>
            <a:off x="10765074" y="2844800"/>
            <a:ext cx="667681" cy="959961"/>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F6FE7A06-F453-4A8B-AF47-62913013946F}"/>
              </a:ext>
            </a:extLst>
          </p:cNvPr>
          <p:cNvSpPr txBox="1"/>
          <p:nvPr/>
        </p:nvSpPr>
        <p:spPr>
          <a:xfrm>
            <a:off x="8565497" y="5247204"/>
            <a:ext cx="2199577" cy="584775"/>
          </a:xfrm>
          <a:prstGeom prst="rect">
            <a:avLst/>
          </a:prstGeom>
          <a:noFill/>
        </p:spPr>
        <p:txBody>
          <a:bodyPr wrap="none" rtlCol="0">
            <a:spAutoFit/>
          </a:bodyPr>
          <a:lstStyle/>
          <a:p>
            <a:r>
              <a:rPr lang="en-GB" sz="1600" b="1" dirty="0"/>
              <a:t>Internet</a:t>
            </a:r>
          </a:p>
          <a:p>
            <a:r>
              <a:rPr lang="en-GB" sz="1600" dirty="0"/>
              <a:t>World Wide Web (1991)</a:t>
            </a:r>
          </a:p>
        </p:txBody>
      </p:sp>
      <p:cxnSp>
        <p:nvCxnSpPr>
          <p:cNvPr id="35" name="Straight Connector 34">
            <a:extLst>
              <a:ext uri="{FF2B5EF4-FFF2-40B4-BE49-F238E27FC236}">
                <a16:creationId xmlns:a16="http://schemas.microsoft.com/office/drawing/2014/main" id="{B4819CDC-37B5-4E04-A718-FD1F22DB3FB7}"/>
              </a:ext>
            </a:extLst>
          </p:cNvPr>
          <p:cNvCxnSpPr>
            <a:cxnSpLocks/>
          </p:cNvCxnSpPr>
          <p:nvPr/>
        </p:nvCxnSpPr>
        <p:spPr>
          <a:xfrm>
            <a:off x="8332585" y="4695128"/>
            <a:ext cx="666929" cy="552076"/>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7BF33664-CE79-4C0C-ADB7-FE1063C256C9}"/>
              </a:ext>
            </a:extLst>
          </p:cNvPr>
          <p:cNvSpPr txBox="1"/>
          <p:nvPr/>
        </p:nvSpPr>
        <p:spPr>
          <a:xfrm>
            <a:off x="7274385" y="5799280"/>
            <a:ext cx="1816203" cy="584775"/>
          </a:xfrm>
          <a:prstGeom prst="rect">
            <a:avLst/>
          </a:prstGeom>
          <a:noFill/>
        </p:spPr>
        <p:txBody>
          <a:bodyPr wrap="none" rtlCol="0">
            <a:spAutoFit/>
          </a:bodyPr>
          <a:lstStyle/>
          <a:p>
            <a:r>
              <a:rPr lang="en-GB" sz="1600" b="1" dirty="0"/>
              <a:t>Personal Computer</a:t>
            </a:r>
          </a:p>
          <a:p>
            <a:r>
              <a:rPr lang="en-GB" sz="1600" dirty="0"/>
              <a:t>IBM (1981)</a:t>
            </a:r>
          </a:p>
        </p:txBody>
      </p:sp>
      <p:cxnSp>
        <p:nvCxnSpPr>
          <p:cNvPr id="40" name="Straight Connector 39">
            <a:extLst>
              <a:ext uri="{FF2B5EF4-FFF2-40B4-BE49-F238E27FC236}">
                <a16:creationId xmlns:a16="http://schemas.microsoft.com/office/drawing/2014/main" id="{241F0765-A92E-4DC0-BC96-F998631155C3}"/>
              </a:ext>
            </a:extLst>
          </p:cNvPr>
          <p:cNvCxnSpPr>
            <a:cxnSpLocks/>
          </p:cNvCxnSpPr>
          <p:nvPr/>
        </p:nvCxnSpPr>
        <p:spPr>
          <a:xfrm>
            <a:off x="7126765" y="5247204"/>
            <a:ext cx="412644" cy="584775"/>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9F2AD19F-FB44-C23F-FD21-9C2B849C7CCD}"/>
              </a:ext>
            </a:extLst>
          </p:cNvPr>
          <p:cNvSpPr txBox="1"/>
          <p:nvPr/>
        </p:nvSpPr>
        <p:spPr>
          <a:xfrm>
            <a:off x="4831287" y="3763637"/>
            <a:ext cx="1817421" cy="830997"/>
          </a:xfrm>
          <a:prstGeom prst="rect">
            <a:avLst/>
          </a:prstGeom>
          <a:noFill/>
        </p:spPr>
        <p:txBody>
          <a:bodyPr wrap="none" rtlCol="0">
            <a:spAutoFit/>
          </a:bodyPr>
          <a:lstStyle/>
          <a:p>
            <a:r>
              <a:rPr lang="en-GB" sz="1600" b="1" dirty="0"/>
              <a:t>Early internet</a:t>
            </a:r>
          </a:p>
          <a:p>
            <a:r>
              <a:rPr lang="en-GB" sz="1600" dirty="0"/>
              <a:t>ARPANET (1969-90)</a:t>
            </a:r>
          </a:p>
          <a:p>
            <a:r>
              <a:rPr lang="en-GB" sz="1600" dirty="0"/>
              <a:t>USENET (1980-)</a:t>
            </a:r>
          </a:p>
        </p:txBody>
      </p:sp>
    </p:spTree>
    <p:extLst>
      <p:ext uri="{BB962C8B-B14F-4D97-AF65-F5344CB8AC3E}">
        <p14:creationId xmlns:p14="http://schemas.microsoft.com/office/powerpoint/2010/main" val="2452517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0" name="Picture 8" descr="5 Advantages of Data Cleansing - Invensis Technologies">
            <a:extLst>
              <a:ext uri="{FF2B5EF4-FFF2-40B4-BE49-F238E27FC236}">
                <a16:creationId xmlns:a16="http://schemas.microsoft.com/office/drawing/2014/main" id="{F4F2A15E-6285-44F8-9837-EBDEBA697E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1900" y="5525669"/>
            <a:ext cx="1164013" cy="83976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5EB6132-DD9E-44CC-ABA4-1F51CCC7EAF6}"/>
              </a:ext>
            </a:extLst>
          </p:cNvPr>
          <p:cNvSpPr>
            <a:spLocks noGrp="1"/>
          </p:cNvSpPr>
          <p:nvPr>
            <p:ph type="title"/>
          </p:nvPr>
        </p:nvSpPr>
        <p:spPr/>
        <p:txBody>
          <a:bodyPr/>
          <a:lstStyle/>
          <a:p>
            <a:r>
              <a:rPr lang="en-GB" dirty="0"/>
              <a:t>The Data Lifecycle</a:t>
            </a:r>
          </a:p>
        </p:txBody>
      </p:sp>
      <p:sp>
        <p:nvSpPr>
          <p:cNvPr id="3" name="Content Placeholder 2">
            <a:extLst>
              <a:ext uri="{FF2B5EF4-FFF2-40B4-BE49-F238E27FC236}">
                <a16:creationId xmlns:a16="http://schemas.microsoft.com/office/drawing/2014/main" id="{1824B27D-14A3-46B5-A441-6718F4F1C7DB}"/>
              </a:ext>
            </a:extLst>
          </p:cNvPr>
          <p:cNvSpPr>
            <a:spLocks noGrp="1"/>
          </p:cNvSpPr>
          <p:nvPr>
            <p:ph idx="1"/>
          </p:nvPr>
        </p:nvSpPr>
        <p:spPr>
          <a:xfrm>
            <a:off x="838200" y="1506693"/>
            <a:ext cx="10515600" cy="474985"/>
          </a:xfrm>
        </p:spPr>
        <p:txBody>
          <a:bodyPr>
            <a:normAutofit lnSpcReduction="10000"/>
          </a:bodyPr>
          <a:lstStyle/>
          <a:p>
            <a:pPr marL="0" indent="0">
              <a:buNone/>
            </a:pPr>
            <a:r>
              <a:rPr lang="en-GB" dirty="0"/>
              <a:t>The data lifecycle describes key stages in how data are used</a:t>
            </a:r>
          </a:p>
        </p:txBody>
      </p:sp>
      <p:sp>
        <p:nvSpPr>
          <p:cNvPr id="4" name="TextBox 3">
            <a:extLst>
              <a:ext uri="{FF2B5EF4-FFF2-40B4-BE49-F238E27FC236}">
                <a16:creationId xmlns:a16="http://schemas.microsoft.com/office/drawing/2014/main" id="{B8F561AE-8F51-4E84-B01A-B94ED8F40C2C}"/>
              </a:ext>
            </a:extLst>
          </p:cNvPr>
          <p:cNvSpPr txBox="1"/>
          <p:nvPr/>
        </p:nvSpPr>
        <p:spPr>
          <a:xfrm>
            <a:off x="418589" y="4024620"/>
            <a:ext cx="11505265" cy="369332"/>
          </a:xfrm>
          <a:prstGeom prst="rect">
            <a:avLst/>
          </a:prstGeom>
          <a:noFill/>
        </p:spPr>
        <p:txBody>
          <a:bodyPr wrap="none" rtlCol="0">
            <a:spAutoFit/>
          </a:bodyPr>
          <a:lstStyle/>
          <a:p>
            <a:r>
              <a:rPr lang="en-GB" b="1" dirty="0"/>
              <a:t>Generation  →  Collection  →  Processing  →  Storage  →  Management  →  Analysis  →  Visualisation  →  Interpretation</a:t>
            </a:r>
          </a:p>
        </p:txBody>
      </p:sp>
      <p:sp>
        <p:nvSpPr>
          <p:cNvPr id="5" name="TextBox 4">
            <a:extLst>
              <a:ext uri="{FF2B5EF4-FFF2-40B4-BE49-F238E27FC236}">
                <a16:creationId xmlns:a16="http://schemas.microsoft.com/office/drawing/2014/main" id="{3B413B57-828B-4110-A0E1-E1A2B0E79946}"/>
              </a:ext>
            </a:extLst>
          </p:cNvPr>
          <p:cNvSpPr txBox="1"/>
          <p:nvPr/>
        </p:nvSpPr>
        <p:spPr>
          <a:xfrm>
            <a:off x="418589" y="4631413"/>
            <a:ext cx="2236841" cy="923330"/>
          </a:xfrm>
          <a:prstGeom prst="rect">
            <a:avLst/>
          </a:prstGeom>
          <a:noFill/>
        </p:spPr>
        <p:txBody>
          <a:bodyPr wrap="square" rtlCol="0">
            <a:spAutoFit/>
          </a:bodyPr>
          <a:lstStyle/>
          <a:p>
            <a:r>
              <a:rPr lang="en-GB" dirty="0"/>
              <a:t>An action that creates data, e.g. liking a social media post</a:t>
            </a:r>
          </a:p>
        </p:txBody>
      </p:sp>
      <p:sp>
        <p:nvSpPr>
          <p:cNvPr id="8" name="TextBox 7">
            <a:extLst>
              <a:ext uri="{FF2B5EF4-FFF2-40B4-BE49-F238E27FC236}">
                <a16:creationId xmlns:a16="http://schemas.microsoft.com/office/drawing/2014/main" id="{B2650FDD-AB15-4F90-938A-301505F8AA4E}"/>
              </a:ext>
            </a:extLst>
          </p:cNvPr>
          <p:cNvSpPr txBox="1"/>
          <p:nvPr/>
        </p:nvSpPr>
        <p:spPr>
          <a:xfrm>
            <a:off x="1145141" y="2834890"/>
            <a:ext cx="1700981" cy="923330"/>
          </a:xfrm>
          <a:prstGeom prst="rect">
            <a:avLst/>
          </a:prstGeom>
          <a:noFill/>
        </p:spPr>
        <p:txBody>
          <a:bodyPr wrap="square" rtlCol="0">
            <a:spAutoFit/>
          </a:bodyPr>
          <a:lstStyle/>
          <a:p>
            <a:r>
              <a:rPr lang="en-GB" dirty="0"/>
              <a:t>Retrieving data from its source, e.g. download</a:t>
            </a:r>
          </a:p>
        </p:txBody>
      </p:sp>
      <p:cxnSp>
        <p:nvCxnSpPr>
          <p:cNvPr id="9" name="Straight Connector 8">
            <a:extLst>
              <a:ext uri="{FF2B5EF4-FFF2-40B4-BE49-F238E27FC236}">
                <a16:creationId xmlns:a16="http://schemas.microsoft.com/office/drawing/2014/main" id="{E2232F64-8AFA-47B1-B726-7336AAA092A9}"/>
              </a:ext>
            </a:extLst>
          </p:cNvPr>
          <p:cNvCxnSpPr>
            <a:cxnSpLocks/>
          </p:cNvCxnSpPr>
          <p:nvPr/>
        </p:nvCxnSpPr>
        <p:spPr>
          <a:xfrm flipV="1">
            <a:off x="2389959" y="3766793"/>
            <a:ext cx="0" cy="230436"/>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159B8A1-AD6A-400D-9C95-5292835661AC}"/>
              </a:ext>
            </a:extLst>
          </p:cNvPr>
          <p:cNvSpPr txBox="1"/>
          <p:nvPr/>
        </p:nvSpPr>
        <p:spPr>
          <a:xfrm>
            <a:off x="2916903" y="4624538"/>
            <a:ext cx="2272483" cy="923330"/>
          </a:xfrm>
          <a:prstGeom prst="rect">
            <a:avLst/>
          </a:prstGeom>
          <a:noFill/>
        </p:spPr>
        <p:txBody>
          <a:bodyPr wrap="square" rtlCol="0">
            <a:spAutoFit/>
          </a:bodyPr>
          <a:lstStyle/>
          <a:p>
            <a:r>
              <a:rPr lang="en-GB" dirty="0"/>
              <a:t>Putting the data in a more useful form, e.g. cleaning anomalies</a:t>
            </a:r>
          </a:p>
        </p:txBody>
      </p:sp>
      <p:sp>
        <p:nvSpPr>
          <p:cNvPr id="21" name="TextBox 20">
            <a:extLst>
              <a:ext uri="{FF2B5EF4-FFF2-40B4-BE49-F238E27FC236}">
                <a16:creationId xmlns:a16="http://schemas.microsoft.com/office/drawing/2014/main" id="{583D4A61-ABFB-4CE0-8225-FAC2AB6B9887}"/>
              </a:ext>
            </a:extLst>
          </p:cNvPr>
          <p:cNvSpPr txBox="1"/>
          <p:nvPr/>
        </p:nvSpPr>
        <p:spPr>
          <a:xfrm>
            <a:off x="3740421" y="2843463"/>
            <a:ext cx="1833557" cy="923330"/>
          </a:xfrm>
          <a:prstGeom prst="rect">
            <a:avLst/>
          </a:prstGeom>
          <a:noFill/>
        </p:spPr>
        <p:txBody>
          <a:bodyPr wrap="square" rtlCol="0">
            <a:spAutoFit/>
          </a:bodyPr>
          <a:lstStyle/>
          <a:p>
            <a:r>
              <a:rPr lang="en-GB" dirty="0"/>
              <a:t>Putting data in a suitable location, e.g. shared folder</a:t>
            </a:r>
          </a:p>
        </p:txBody>
      </p:sp>
      <p:sp>
        <p:nvSpPr>
          <p:cNvPr id="23" name="TextBox 22">
            <a:extLst>
              <a:ext uri="{FF2B5EF4-FFF2-40B4-BE49-F238E27FC236}">
                <a16:creationId xmlns:a16="http://schemas.microsoft.com/office/drawing/2014/main" id="{A89FD5DE-EA40-4C85-A1E9-2F43BF6DA193}"/>
              </a:ext>
            </a:extLst>
          </p:cNvPr>
          <p:cNvSpPr txBox="1"/>
          <p:nvPr/>
        </p:nvSpPr>
        <p:spPr>
          <a:xfrm>
            <a:off x="5747583" y="4631413"/>
            <a:ext cx="2526891" cy="923330"/>
          </a:xfrm>
          <a:prstGeom prst="rect">
            <a:avLst/>
          </a:prstGeom>
          <a:noFill/>
        </p:spPr>
        <p:txBody>
          <a:bodyPr wrap="square" rtlCol="0">
            <a:spAutoFit/>
          </a:bodyPr>
          <a:lstStyle/>
          <a:p>
            <a:r>
              <a:rPr lang="en-GB" dirty="0"/>
              <a:t>Maintaining usefulness of data, e.g. augment with new data</a:t>
            </a:r>
          </a:p>
        </p:txBody>
      </p:sp>
      <p:sp>
        <p:nvSpPr>
          <p:cNvPr id="25" name="TextBox 24">
            <a:extLst>
              <a:ext uri="{FF2B5EF4-FFF2-40B4-BE49-F238E27FC236}">
                <a16:creationId xmlns:a16="http://schemas.microsoft.com/office/drawing/2014/main" id="{EA35323C-A689-472C-99DE-6814B62B5AD5}"/>
              </a:ext>
            </a:extLst>
          </p:cNvPr>
          <p:cNvSpPr txBox="1"/>
          <p:nvPr/>
        </p:nvSpPr>
        <p:spPr>
          <a:xfrm>
            <a:off x="6803961" y="2852789"/>
            <a:ext cx="2204085" cy="923330"/>
          </a:xfrm>
          <a:prstGeom prst="rect">
            <a:avLst/>
          </a:prstGeom>
          <a:noFill/>
        </p:spPr>
        <p:txBody>
          <a:bodyPr wrap="square" rtlCol="0">
            <a:spAutoFit/>
          </a:bodyPr>
          <a:lstStyle/>
          <a:p>
            <a:r>
              <a:rPr lang="en-GB" dirty="0"/>
              <a:t>Extracting information from the data, e.g. statistics</a:t>
            </a:r>
          </a:p>
        </p:txBody>
      </p:sp>
      <p:sp>
        <p:nvSpPr>
          <p:cNvPr id="76" name="TextBox 75">
            <a:extLst>
              <a:ext uri="{FF2B5EF4-FFF2-40B4-BE49-F238E27FC236}">
                <a16:creationId xmlns:a16="http://schemas.microsoft.com/office/drawing/2014/main" id="{3BB5C087-B836-479F-BBCE-EF077F8026A1}"/>
              </a:ext>
            </a:extLst>
          </p:cNvPr>
          <p:cNvSpPr txBox="1"/>
          <p:nvPr/>
        </p:nvSpPr>
        <p:spPr>
          <a:xfrm>
            <a:off x="8807658" y="4638662"/>
            <a:ext cx="2526891" cy="923330"/>
          </a:xfrm>
          <a:prstGeom prst="rect">
            <a:avLst/>
          </a:prstGeom>
          <a:noFill/>
        </p:spPr>
        <p:txBody>
          <a:bodyPr wrap="square" rtlCol="0">
            <a:spAutoFit/>
          </a:bodyPr>
          <a:lstStyle/>
          <a:p>
            <a:r>
              <a:rPr lang="en-GB" dirty="0"/>
              <a:t>Presenting information to an audience, e.g. graphs</a:t>
            </a:r>
          </a:p>
        </p:txBody>
      </p:sp>
      <p:sp>
        <p:nvSpPr>
          <p:cNvPr id="78" name="TextBox 77">
            <a:extLst>
              <a:ext uri="{FF2B5EF4-FFF2-40B4-BE49-F238E27FC236}">
                <a16:creationId xmlns:a16="http://schemas.microsoft.com/office/drawing/2014/main" id="{CD613A3A-77E2-4C8A-A26B-13C6E7EA7C8B}"/>
              </a:ext>
            </a:extLst>
          </p:cNvPr>
          <p:cNvSpPr txBox="1"/>
          <p:nvPr/>
        </p:nvSpPr>
        <p:spPr>
          <a:xfrm>
            <a:off x="9840107" y="2810300"/>
            <a:ext cx="2279854" cy="923330"/>
          </a:xfrm>
          <a:prstGeom prst="rect">
            <a:avLst/>
          </a:prstGeom>
          <a:noFill/>
        </p:spPr>
        <p:txBody>
          <a:bodyPr wrap="square" rtlCol="0">
            <a:spAutoFit/>
          </a:bodyPr>
          <a:lstStyle/>
          <a:p>
            <a:r>
              <a:rPr lang="en-GB" dirty="0"/>
              <a:t>Making sense of the information, e.g. applying to policies</a:t>
            </a:r>
          </a:p>
        </p:txBody>
      </p:sp>
      <p:cxnSp>
        <p:nvCxnSpPr>
          <p:cNvPr id="28" name="Straight Connector 27">
            <a:extLst>
              <a:ext uri="{FF2B5EF4-FFF2-40B4-BE49-F238E27FC236}">
                <a16:creationId xmlns:a16="http://schemas.microsoft.com/office/drawing/2014/main" id="{109D535E-8339-4EC5-8731-AD900FF95081}"/>
              </a:ext>
            </a:extLst>
          </p:cNvPr>
          <p:cNvCxnSpPr>
            <a:cxnSpLocks/>
          </p:cNvCxnSpPr>
          <p:nvPr/>
        </p:nvCxnSpPr>
        <p:spPr>
          <a:xfrm flipV="1">
            <a:off x="1456202" y="4400977"/>
            <a:ext cx="0" cy="2304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3B955DA-D4A6-40B9-B7F4-2DF482D87FCB}"/>
              </a:ext>
            </a:extLst>
          </p:cNvPr>
          <p:cNvCxnSpPr>
            <a:cxnSpLocks/>
          </p:cNvCxnSpPr>
          <p:nvPr/>
        </p:nvCxnSpPr>
        <p:spPr>
          <a:xfrm flipV="1">
            <a:off x="3968344" y="4400977"/>
            <a:ext cx="0" cy="2304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E219BF4-E115-429E-A955-5C78B262E840}"/>
              </a:ext>
            </a:extLst>
          </p:cNvPr>
          <p:cNvCxnSpPr>
            <a:cxnSpLocks/>
          </p:cNvCxnSpPr>
          <p:nvPr/>
        </p:nvCxnSpPr>
        <p:spPr>
          <a:xfrm flipV="1">
            <a:off x="4854661" y="3786211"/>
            <a:ext cx="0" cy="2304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D849753-56B1-4265-A790-A877E423273E}"/>
              </a:ext>
            </a:extLst>
          </p:cNvPr>
          <p:cNvCxnSpPr>
            <a:cxnSpLocks/>
          </p:cNvCxnSpPr>
          <p:nvPr/>
        </p:nvCxnSpPr>
        <p:spPr>
          <a:xfrm flipV="1">
            <a:off x="6477722" y="4408226"/>
            <a:ext cx="0" cy="2304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CC70834-C96B-45A7-A08F-A45AA00E0CBC}"/>
              </a:ext>
            </a:extLst>
          </p:cNvPr>
          <p:cNvCxnSpPr>
            <a:cxnSpLocks/>
          </p:cNvCxnSpPr>
          <p:nvPr/>
        </p:nvCxnSpPr>
        <p:spPr>
          <a:xfrm flipV="1">
            <a:off x="7818594" y="3786211"/>
            <a:ext cx="0" cy="230436"/>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180678E6-43C1-4D32-BBCF-07B64FCD2996}"/>
              </a:ext>
            </a:extLst>
          </p:cNvPr>
          <p:cNvCxnSpPr>
            <a:cxnSpLocks/>
          </p:cNvCxnSpPr>
          <p:nvPr/>
        </p:nvCxnSpPr>
        <p:spPr>
          <a:xfrm flipV="1">
            <a:off x="9209858" y="4400977"/>
            <a:ext cx="0" cy="230436"/>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4ACD627-B197-452D-8EC6-9BA6BC540752}"/>
              </a:ext>
            </a:extLst>
          </p:cNvPr>
          <p:cNvCxnSpPr>
            <a:cxnSpLocks/>
          </p:cNvCxnSpPr>
          <p:nvPr/>
        </p:nvCxnSpPr>
        <p:spPr>
          <a:xfrm flipV="1">
            <a:off x="10619867" y="3786211"/>
            <a:ext cx="0" cy="230436"/>
          </a:xfrm>
          <a:prstGeom prst="line">
            <a:avLst/>
          </a:prstGeom>
        </p:spPr>
        <p:style>
          <a:lnRef idx="1">
            <a:schemeClr val="accent1"/>
          </a:lnRef>
          <a:fillRef idx="0">
            <a:schemeClr val="accent1"/>
          </a:fillRef>
          <a:effectRef idx="0">
            <a:schemeClr val="accent1"/>
          </a:effectRef>
          <a:fontRef idx="minor">
            <a:schemeClr val="tx1"/>
          </a:fontRef>
        </p:style>
      </p:cxnSp>
      <p:pic>
        <p:nvPicPr>
          <p:cNvPr id="3076" name="Picture 4" descr="Facebook like button - Wikipedia">
            <a:extLst>
              <a:ext uri="{FF2B5EF4-FFF2-40B4-BE49-F238E27FC236}">
                <a16:creationId xmlns:a16="http://schemas.microsoft.com/office/drawing/2014/main" id="{C49C3D19-966E-47D3-B166-98196A3286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3264" y="5277860"/>
            <a:ext cx="1571082" cy="121501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Download icon">
            <a:extLst>
              <a:ext uri="{FF2B5EF4-FFF2-40B4-BE49-F238E27FC236}">
                <a16:creationId xmlns:a16="http://schemas.microsoft.com/office/drawing/2014/main" id="{52C2F3A7-421F-48E4-9CE3-95D600C814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045" y="2375099"/>
            <a:ext cx="756796" cy="756796"/>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Save to cloud icon - vector free download">
            <a:extLst>
              <a:ext uri="{FF2B5EF4-FFF2-40B4-BE49-F238E27FC236}">
                <a16:creationId xmlns:a16="http://schemas.microsoft.com/office/drawing/2014/main" id="{609BAEE1-C255-481C-9532-B7CB26AE09C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58478" y="2250784"/>
            <a:ext cx="1034131" cy="923331"/>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Why object persistence is hard? - Kata learns to code">
            <a:extLst>
              <a:ext uri="{FF2B5EF4-FFF2-40B4-BE49-F238E27FC236}">
                <a16:creationId xmlns:a16="http://schemas.microsoft.com/office/drawing/2014/main" id="{4A6C5C6F-7B16-4F7B-B167-B50E6FAB02C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9939" y="5372293"/>
            <a:ext cx="1619257" cy="993145"/>
          </a:xfrm>
          <a:prstGeom prst="rect">
            <a:avLst/>
          </a:prstGeom>
          <a:noFill/>
          <a:extLst>
            <a:ext uri="{909E8E84-426E-40DD-AFC4-6F175D3DCCD1}">
              <a14:hiddenFill xmlns:a14="http://schemas.microsoft.com/office/drawing/2010/main">
                <a:solidFill>
                  <a:srgbClr val="FFFFFF"/>
                </a:solidFill>
              </a14:hiddenFill>
            </a:ext>
          </a:extLst>
        </p:spPr>
      </p:pic>
      <p:pic>
        <p:nvPicPr>
          <p:cNvPr id="3090" name="Picture 18" descr="Graph Icons - 3,108 free vector icons">
            <a:extLst>
              <a:ext uri="{FF2B5EF4-FFF2-40B4-BE49-F238E27FC236}">
                <a16:creationId xmlns:a16="http://schemas.microsoft.com/office/drawing/2014/main" id="{B5E98946-1C8B-4D11-9766-A8BC6C84B05D}"/>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31852"/>
          <a:stretch/>
        </p:blipFill>
        <p:spPr bwMode="auto">
          <a:xfrm>
            <a:off x="9803236" y="5302765"/>
            <a:ext cx="1633262" cy="1046252"/>
          </a:xfrm>
          <a:prstGeom prst="rect">
            <a:avLst/>
          </a:prstGeom>
          <a:noFill/>
          <a:extLst>
            <a:ext uri="{909E8E84-426E-40DD-AFC4-6F175D3DCCD1}">
              <a14:hiddenFill xmlns:a14="http://schemas.microsoft.com/office/drawing/2010/main">
                <a:solidFill>
                  <a:srgbClr val="FFFFFF"/>
                </a:solidFill>
              </a14:hiddenFill>
            </a:ext>
          </a:extLst>
        </p:spPr>
      </p:pic>
      <p:pic>
        <p:nvPicPr>
          <p:cNvPr id="3092" name="Picture 20" descr="Options Images, Stock Photos &amp; Vectors | Shutterstock">
            <a:extLst>
              <a:ext uri="{FF2B5EF4-FFF2-40B4-BE49-F238E27FC236}">
                <a16:creationId xmlns:a16="http://schemas.microsoft.com/office/drawing/2014/main" id="{D3ED6234-916F-4362-98AB-808B212F8B4D}"/>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7909" t="17369" r="17908" b="23523"/>
          <a:stretch/>
        </p:blipFill>
        <p:spPr bwMode="auto">
          <a:xfrm>
            <a:off x="9068125" y="2375099"/>
            <a:ext cx="771982" cy="76561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Machine Learning: Practical Applications for Cybersecurity">
            <a:extLst>
              <a:ext uri="{FF2B5EF4-FFF2-40B4-BE49-F238E27FC236}">
                <a16:creationId xmlns:a16="http://schemas.microsoft.com/office/drawing/2014/main" id="{9C7078F0-16DD-4678-A1EC-B4A6125689D6}"/>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1591" t="12310" r="22001" b="12213"/>
          <a:stretch/>
        </p:blipFill>
        <p:spPr bwMode="auto">
          <a:xfrm>
            <a:off x="5838629" y="2276594"/>
            <a:ext cx="1034583" cy="923331"/>
          </a:xfrm>
          <a:prstGeom prst="rect">
            <a:avLst/>
          </a:prstGeom>
          <a:noFill/>
          <a:extLst>
            <a:ext uri="{909E8E84-426E-40DD-AFC4-6F175D3DCCD1}">
              <a14:hiddenFill xmlns:a14="http://schemas.microsoft.com/office/drawing/2010/main">
                <a:solidFill>
                  <a:srgbClr val="FFFFFF"/>
                </a:solidFill>
              </a14:hiddenFill>
            </a:ext>
          </a:extLst>
        </p:spPr>
      </p:pic>
      <p:sp>
        <p:nvSpPr>
          <p:cNvPr id="6" name="Oval 5">
            <a:extLst>
              <a:ext uri="{FF2B5EF4-FFF2-40B4-BE49-F238E27FC236}">
                <a16:creationId xmlns:a16="http://schemas.microsoft.com/office/drawing/2014/main" id="{9A5811EF-EA9D-455F-AEBF-F503EFADB181}"/>
              </a:ext>
            </a:extLst>
          </p:cNvPr>
          <p:cNvSpPr/>
          <p:nvPr/>
        </p:nvSpPr>
        <p:spPr>
          <a:xfrm>
            <a:off x="7404571" y="3864378"/>
            <a:ext cx="4450920" cy="72650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a:extLst>
              <a:ext uri="{FF2B5EF4-FFF2-40B4-BE49-F238E27FC236}">
                <a16:creationId xmlns:a16="http://schemas.microsoft.com/office/drawing/2014/main" id="{F94EE2FA-C5F2-4487-9A25-8CD75A2D5F46}"/>
              </a:ext>
            </a:extLst>
          </p:cNvPr>
          <p:cNvSpPr/>
          <p:nvPr/>
        </p:nvSpPr>
        <p:spPr>
          <a:xfrm>
            <a:off x="1890729" y="3864378"/>
            <a:ext cx="2561171" cy="72650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752907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3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onald Trump Top Tweets. Top Donald Trump Tweets donald trump twitter, tweet screencap showing this quote: Sorry losers and haters, but my IQ is one of the highest and you all know it! Please don't feel so stupid or insecure, it's not your fault">
            <a:extLst>
              <a:ext uri="{FF2B5EF4-FFF2-40B4-BE49-F238E27FC236}">
                <a16:creationId xmlns:a16="http://schemas.microsoft.com/office/drawing/2014/main" id="{BB3E5922-1882-41D1-9AD4-D3FD546CB79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07" t="6075" r="2411"/>
          <a:stretch/>
        </p:blipFill>
        <p:spPr bwMode="auto">
          <a:xfrm>
            <a:off x="7207045" y="2211524"/>
            <a:ext cx="3985649" cy="210479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867A8E3-6FE9-4443-B0D4-832EB0DF9CFE}"/>
              </a:ext>
            </a:extLst>
          </p:cNvPr>
          <p:cNvPicPr>
            <a:picLocks noChangeAspect="1"/>
          </p:cNvPicPr>
          <p:nvPr/>
        </p:nvPicPr>
        <p:blipFill>
          <a:blip r:embed="rId4"/>
          <a:stretch>
            <a:fillRect/>
          </a:stretch>
        </p:blipFill>
        <p:spPr>
          <a:xfrm>
            <a:off x="7084420" y="4172521"/>
            <a:ext cx="4583350" cy="2320354"/>
          </a:xfrm>
          <a:prstGeom prst="rect">
            <a:avLst/>
          </a:prstGeom>
        </p:spPr>
      </p:pic>
      <p:sp>
        <p:nvSpPr>
          <p:cNvPr id="2" name="Title 1">
            <a:extLst>
              <a:ext uri="{FF2B5EF4-FFF2-40B4-BE49-F238E27FC236}">
                <a16:creationId xmlns:a16="http://schemas.microsoft.com/office/drawing/2014/main" id="{6D184731-D075-4595-B427-CCDB05ECA0B3}"/>
              </a:ext>
            </a:extLst>
          </p:cNvPr>
          <p:cNvSpPr>
            <a:spLocks noGrp="1"/>
          </p:cNvSpPr>
          <p:nvPr>
            <p:ph type="title"/>
          </p:nvPr>
        </p:nvSpPr>
        <p:spPr>
          <a:xfrm>
            <a:off x="551966" y="304573"/>
            <a:ext cx="10515600" cy="1325563"/>
          </a:xfrm>
        </p:spPr>
        <p:txBody>
          <a:bodyPr/>
          <a:lstStyle/>
          <a:p>
            <a:r>
              <a:rPr lang="en-GB" dirty="0"/>
              <a:t>Data in communication</a:t>
            </a:r>
          </a:p>
        </p:txBody>
      </p:sp>
      <p:sp>
        <p:nvSpPr>
          <p:cNvPr id="3" name="Content Placeholder 2">
            <a:extLst>
              <a:ext uri="{FF2B5EF4-FFF2-40B4-BE49-F238E27FC236}">
                <a16:creationId xmlns:a16="http://schemas.microsoft.com/office/drawing/2014/main" id="{D328581D-12FF-4236-91A2-B60EB49F6D75}"/>
              </a:ext>
            </a:extLst>
          </p:cNvPr>
          <p:cNvSpPr>
            <a:spLocks noGrp="1"/>
          </p:cNvSpPr>
          <p:nvPr>
            <p:ph idx="1"/>
          </p:nvPr>
        </p:nvSpPr>
        <p:spPr>
          <a:xfrm>
            <a:off x="652050" y="1389888"/>
            <a:ext cx="6432369" cy="5252709"/>
          </a:xfrm>
        </p:spPr>
        <p:txBody>
          <a:bodyPr>
            <a:normAutofit fontScale="77500" lnSpcReduction="20000"/>
          </a:bodyPr>
          <a:lstStyle/>
          <a:p>
            <a:r>
              <a:rPr lang="en-GB" dirty="0"/>
              <a:t>Data is fundamental to all modern communication, but perhaps the biggest example is social media, which is all about data</a:t>
            </a:r>
          </a:p>
          <a:p>
            <a:pPr lvl="1"/>
            <a:r>
              <a:rPr lang="en-GB" dirty="0"/>
              <a:t>E.g. users, posts, interactions</a:t>
            </a:r>
          </a:p>
          <a:p>
            <a:r>
              <a:rPr lang="en-GB" dirty="0"/>
              <a:t>Social media companies use data and algorithms to make money in two main steps:</a:t>
            </a:r>
          </a:p>
          <a:p>
            <a:pPr marL="914400" lvl="1" indent="-457200">
              <a:buAutoNum type="arabicPeriod"/>
            </a:pPr>
            <a:r>
              <a:rPr lang="en-GB" dirty="0"/>
              <a:t>Curate content to keep users online</a:t>
            </a:r>
          </a:p>
          <a:p>
            <a:pPr marL="914400" lvl="1" indent="-457200">
              <a:buAutoNum type="arabicPeriod"/>
            </a:pPr>
            <a:r>
              <a:rPr lang="en-GB" dirty="0"/>
              <a:t>Sell and target adverts</a:t>
            </a:r>
          </a:p>
          <a:p>
            <a:r>
              <a:rPr lang="en-GB" dirty="0"/>
              <a:t>By 2020, Twitter had over 300 million active users (almost 5% of the world)</a:t>
            </a:r>
          </a:p>
          <a:p>
            <a:pPr lvl="1"/>
            <a:r>
              <a:rPr lang="en-GB" dirty="0"/>
              <a:t>Valued at over $30 billion (roughly GDP of Estonia)</a:t>
            </a:r>
          </a:p>
          <a:p>
            <a:pPr lvl="1"/>
            <a:r>
              <a:rPr lang="en-GB" dirty="0"/>
              <a:t>Vast majority of revenue is from adverts, but direct sales of data also contributed around 10%</a:t>
            </a:r>
          </a:p>
          <a:p>
            <a:r>
              <a:rPr lang="en-GB" dirty="0"/>
              <a:t>Twitter data include:</a:t>
            </a:r>
          </a:p>
          <a:p>
            <a:pPr lvl="1"/>
            <a:r>
              <a:rPr lang="en-GB" dirty="0"/>
              <a:t>Tweet contents, dates, users, followers, retweet count, etc</a:t>
            </a:r>
          </a:p>
          <a:p>
            <a:r>
              <a:rPr lang="en-GB" dirty="0"/>
              <a:t>This slide was made while Twitter still existed. What has changed since (and hasn't!) is interesting to consider</a:t>
            </a:r>
          </a:p>
        </p:txBody>
      </p:sp>
      <p:pic>
        <p:nvPicPr>
          <p:cNvPr id="1028" name="Picture 4" descr="https://upload.wikimedia.org/wikipedia/commons/thumb/b/bf/Twttr_sketch-Dorsey-2006.jpg/220px-Twttr_sketch-Dorsey-2006.jpg">
            <a:extLst>
              <a:ext uri="{FF2B5EF4-FFF2-40B4-BE49-F238E27FC236}">
                <a16:creationId xmlns:a16="http://schemas.microsoft.com/office/drawing/2014/main" id="{DE24E07A-8424-4B33-9930-4E53ACBE0BF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24491" b="17046"/>
          <a:stretch/>
        </p:blipFill>
        <p:spPr bwMode="auto">
          <a:xfrm>
            <a:off x="8889243" y="304573"/>
            <a:ext cx="2946877" cy="2294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39261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FA766-4CFC-4B4A-A2F0-A53E65B12F8D}"/>
              </a:ext>
            </a:extLst>
          </p:cNvPr>
          <p:cNvSpPr>
            <a:spLocks noGrp="1"/>
          </p:cNvSpPr>
          <p:nvPr>
            <p:ph type="title"/>
          </p:nvPr>
        </p:nvSpPr>
        <p:spPr/>
        <p:txBody>
          <a:bodyPr/>
          <a:lstStyle/>
          <a:p>
            <a:r>
              <a:rPr lang="en-GB" dirty="0"/>
              <a:t>Ethical considerations with data</a:t>
            </a:r>
          </a:p>
        </p:txBody>
      </p:sp>
      <p:sp>
        <p:nvSpPr>
          <p:cNvPr id="3" name="Content Placeholder 2">
            <a:extLst>
              <a:ext uri="{FF2B5EF4-FFF2-40B4-BE49-F238E27FC236}">
                <a16:creationId xmlns:a16="http://schemas.microsoft.com/office/drawing/2014/main" id="{B3E716CE-A694-4E01-B0DA-A165E419A4E5}"/>
              </a:ext>
            </a:extLst>
          </p:cNvPr>
          <p:cNvSpPr>
            <a:spLocks noGrp="1"/>
          </p:cNvSpPr>
          <p:nvPr>
            <p:ph idx="1"/>
          </p:nvPr>
        </p:nvSpPr>
        <p:spPr>
          <a:xfrm>
            <a:off x="838200" y="1504334"/>
            <a:ext cx="7322573" cy="5093111"/>
          </a:xfrm>
        </p:spPr>
        <p:txBody>
          <a:bodyPr>
            <a:normAutofit fontScale="77500" lnSpcReduction="20000"/>
          </a:bodyPr>
          <a:lstStyle/>
          <a:p>
            <a:r>
              <a:rPr lang="en-GB" dirty="0"/>
              <a:t>Data are very powerful, which means they can also have damaging effects, both to individuals and groups</a:t>
            </a:r>
          </a:p>
          <a:p>
            <a:pPr lvl="1"/>
            <a:r>
              <a:rPr lang="en-GB" dirty="0"/>
              <a:t>E.g. fraud, doxing, exploitation, algorithmic bias</a:t>
            </a:r>
          </a:p>
          <a:p>
            <a:r>
              <a:rPr lang="en-GB" dirty="0"/>
              <a:t>Ethical considerations include:</a:t>
            </a:r>
          </a:p>
          <a:p>
            <a:pPr lvl="1"/>
            <a:r>
              <a:rPr lang="en-GB" dirty="0"/>
              <a:t>Informed consent: people know, understand and agree to how their data are used</a:t>
            </a:r>
          </a:p>
          <a:p>
            <a:pPr lvl="1"/>
            <a:r>
              <a:rPr lang="en-GB" dirty="0"/>
              <a:t>Privacy: people control who they allow to access their data</a:t>
            </a:r>
          </a:p>
          <a:p>
            <a:pPr lvl="1"/>
            <a:r>
              <a:rPr lang="en-GB" dirty="0"/>
              <a:t>Confidentiality: people keep other people’s data safe</a:t>
            </a:r>
          </a:p>
          <a:p>
            <a:pPr lvl="1"/>
            <a:r>
              <a:rPr lang="en-GB" dirty="0"/>
              <a:t>Personal data: data that could be used to identify an individual</a:t>
            </a:r>
          </a:p>
          <a:p>
            <a:r>
              <a:rPr lang="en-GB" dirty="0"/>
              <a:t>For academic research, you may use any publicly available data, so long as you fully cite it and, where appropriate, anonymise it</a:t>
            </a:r>
          </a:p>
          <a:p>
            <a:r>
              <a:rPr lang="en-GB" dirty="0"/>
              <a:t>On this module, you </a:t>
            </a:r>
            <a:r>
              <a:rPr lang="en-GB" b="1" dirty="0"/>
              <a:t>must not </a:t>
            </a:r>
            <a:r>
              <a:rPr lang="en-GB" dirty="0"/>
              <a:t>solicit any data from people at all (e.g. questionnaires, surveys, conversations).  To do this, you would need approval from the University Ethics Committee, which is </a:t>
            </a:r>
            <a:r>
              <a:rPr lang="en-GB" b="1" dirty="0"/>
              <a:t>beyond the scope of this module</a:t>
            </a:r>
            <a:r>
              <a:rPr lang="en-GB" dirty="0"/>
              <a:t>.</a:t>
            </a:r>
          </a:p>
          <a:p>
            <a:r>
              <a:rPr lang="en-GB" dirty="0"/>
              <a:t>Social media data </a:t>
            </a:r>
            <a:r>
              <a:rPr lang="en-GB" b="1" dirty="0"/>
              <a:t>may or may not need ethical approval </a:t>
            </a:r>
            <a:r>
              <a:rPr lang="en-GB" dirty="0"/>
              <a:t>– please </a:t>
            </a:r>
            <a:r>
              <a:rPr lang="en-GB" b="1" dirty="0"/>
              <a:t>see Week 8 materials and check with us if in doubt</a:t>
            </a:r>
          </a:p>
        </p:txBody>
      </p:sp>
      <p:pic>
        <p:nvPicPr>
          <p:cNvPr id="2050" name="Picture 2" descr="Data Ethics">
            <a:extLst>
              <a:ext uri="{FF2B5EF4-FFF2-40B4-BE49-F238E27FC236}">
                <a16:creationId xmlns:a16="http://schemas.microsoft.com/office/drawing/2014/main" id="{01099D7C-1F22-4481-9FED-67CF209C85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9097" y="2528802"/>
            <a:ext cx="3713301" cy="25250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4017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6D818-17A2-4AAF-81E8-48DA21D08B3C}"/>
              </a:ext>
            </a:extLst>
          </p:cNvPr>
          <p:cNvSpPr>
            <a:spLocks noGrp="1"/>
          </p:cNvSpPr>
          <p:nvPr>
            <p:ph type="title"/>
          </p:nvPr>
        </p:nvSpPr>
        <p:spPr>
          <a:xfrm>
            <a:off x="715901" y="354026"/>
            <a:ext cx="4875579" cy="1325563"/>
          </a:xfrm>
        </p:spPr>
        <p:txBody>
          <a:bodyPr/>
          <a:lstStyle/>
          <a:p>
            <a:r>
              <a:rPr lang="en-GB" dirty="0"/>
              <a:t>Scales of measurement</a:t>
            </a:r>
          </a:p>
        </p:txBody>
      </p:sp>
      <p:sp>
        <p:nvSpPr>
          <p:cNvPr id="3" name="Content Placeholder 2">
            <a:extLst>
              <a:ext uri="{FF2B5EF4-FFF2-40B4-BE49-F238E27FC236}">
                <a16:creationId xmlns:a16="http://schemas.microsoft.com/office/drawing/2014/main" id="{33A3B0A7-C2E7-4E8E-80BD-2D93612A2434}"/>
              </a:ext>
            </a:extLst>
          </p:cNvPr>
          <p:cNvSpPr>
            <a:spLocks noGrp="1"/>
          </p:cNvSpPr>
          <p:nvPr>
            <p:ph idx="1"/>
          </p:nvPr>
        </p:nvSpPr>
        <p:spPr>
          <a:xfrm>
            <a:off x="533400" y="1825624"/>
            <a:ext cx="4313903" cy="4791485"/>
          </a:xfrm>
        </p:spPr>
        <p:txBody>
          <a:bodyPr>
            <a:normAutofit fontScale="92500"/>
          </a:bodyPr>
          <a:lstStyle/>
          <a:p>
            <a:r>
              <a:rPr lang="en-GB" dirty="0"/>
              <a:t>Data are either:</a:t>
            </a:r>
          </a:p>
          <a:p>
            <a:pPr lvl="1"/>
            <a:r>
              <a:rPr lang="en-GB" dirty="0"/>
              <a:t>Qualitative (e.g. descriptions)</a:t>
            </a:r>
          </a:p>
          <a:p>
            <a:pPr lvl="1"/>
            <a:r>
              <a:rPr lang="en-GB" dirty="0"/>
              <a:t>Quantitative (e.g. amounts)</a:t>
            </a:r>
          </a:p>
          <a:p>
            <a:r>
              <a:rPr lang="en-GB" dirty="0"/>
              <a:t>We can distinguish these further, to help us identify what kinds of analysis to use</a:t>
            </a:r>
          </a:p>
          <a:p>
            <a:pPr lvl="1"/>
            <a:r>
              <a:rPr lang="en-GB" dirty="0"/>
              <a:t>See table on right for major forms of analysis</a:t>
            </a:r>
          </a:p>
          <a:p>
            <a:pPr lvl="1"/>
            <a:r>
              <a:rPr lang="en-GB" dirty="0"/>
              <a:t>We will revisit this when we start using Excel and more</a:t>
            </a:r>
          </a:p>
          <a:p>
            <a:pPr lvl="1"/>
            <a:r>
              <a:rPr lang="en-GB" dirty="0"/>
              <a:t>You should remember these different scales as you may be tested on them</a:t>
            </a:r>
          </a:p>
        </p:txBody>
      </p:sp>
      <p:grpSp>
        <p:nvGrpSpPr>
          <p:cNvPr id="11" name="Group 10">
            <a:extLst>
              <a:ext uri="{FF2B5EF4-FFF2-40B4-BE49-F238E27FC236}">
                <a16:creationId xmlns:a16="http://schemas.microsoft.com/office/drawing/2014/main" id="{15148B0E-E82E-444A-8E0B-48F1717ACBB1}"/>
              </a:ext>
            </a:extLst>
          </p:cNvPr>
          <p:cNvGrpSpPr/>
          <p:nvPr/>
        </p:nvGrpSpPr>
        <p:grpSpPr>
          <a:xfrm>
            <a:off x="5235544" y="255308"/>
            <a:ext cx="5676900" cy="3228862"/>
            <a:chOff x="5227078" y="200138"/>
            <a:chExt cx="5676900" cy="3228862"/>
          </a:xfrm>
        </p:grpSpPr>
        <p:pic>
          <p:nvPicPr>
            <p:cNvPr id="3074" name="Picture 2" descr="https://lh5.googleusercontent.com/7jyxzQ2ObysJGLFcGB6Zc25AHAswexk68SbOh_KYa4if2P9yRe7lIC8NDUgZEcSGspqpRIGQcMx_qCmrG6sjHegFHy9Sqhp_1z3PFido6d19TKYFq0pMTHDs4OV9l6pP-MTNmeKu">
              <a:extLst>
                <a:ext uri="{FF2B5EF4-FFF2-40B4-BE49-F238E27FC236}">
                  <a16:creationId xmlns:a16="http://schemas.microsoft.com/office/drawing/2014/main" id="{9E74BFB7-FCC3-4024-8F8B-F8BF22D9B2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7078" y="200138"/>
              <a:ext cx="5676900" cy="3035971"/>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89215C5-22E1-4F7E-9698-825D4EB32013}"/>
                </a:ext>
              </a:extLst>
            </p:cNvPr>
            <p:cNvSpPr txBox="1"/>
            <p:nvPr/>
          </p:nvSpPr>
          <p:spPr>
            <a:xfrm>
              <a:off x="5959553" y="3121223"/>
              <a:ext cx="1116396" cy="307777"/>
            </a:xfrm>
            <a:prstGeom prst="rect">
              <a:avLst/>
            </a:prstGeom>
            <a:noFill/>
          </p:spPr>
          <p:txBody>
            <a:bodyPr wrap="none" rtlCol="0">
              <a:spAutoFit/>
            </a:bodyPr>
            <a:lstStyle/>
            <a:p>
              <a:r>
                <a:rPr lang="en-GB" sz="1400" dirty="0"/>
                <a:t>e.g. text font</a:t>
              </a:r>
            </a:p>
          </p:txBody>
        </p:sp>
        <p:sp>
          <p:nvSpPr>
            <p:cNvPr id="6" name="TextBox 5">
              <a:extLst>
                <a:ext uri="{FF2B5EF4-FFF2-40B4-BE49-F238E27FC236}">
                  <a16:creationId xmlns:a16="http://schemas.microsoft.com/office/drawing/2014/main" id="{C697C469-69A8-4881-BCDC-D1B732FA0C2F}"/>
                </a:ext>
              </a:extLst>
            </p:cNvPr>
            <p:cNvSpPr txBox="1"/>
            <p:nvPr/>
          </p:nvSpPr>
          <p:spPr>
            <a:xfrm>
              <a:off x="5959553" y="2303960"/>
              <a:ext cx="1299843" cy="307777"/>
            </a:xfrm>
            <a:prstGeom prst="rect">
              <a:avLst/>
            </a:prstGeom>
            <a:noFill/>
          </p:spPr>
          <p:txBody>
            <a:bodyPr wrap="none" rtlCol="0">
              <a:spAutoFit/>
            </a:bodyPr>
            <a:lstStyle/>
            <a:p>
              <a:r>
                <a:rPr lang="en-GB" sz="1400" dirty="0"/>
                <a:t>e.g. Likert scale</a:t>
              </a:r>
            </a:p>
          </p:txBody>
        </p:sp>
        <p:sp>
          <p:nvSpPr>
            <p:cNvPr id="7" name="TextBox 6">
              <a:extLst>
                <a:ext uri="{FF2B5EF4-FFF2-40B4-BE49-F238E27FC236}">
                  <a16:creationId xmlns:a16="http://schemas.microsoft.com/office/drawing/2014/main" id="{70B526C0-5025-4440-9B13-F84961F8C816}"/>
                </a:ext>
              </a:extLst>
            </p:cNvPr>
            <p:cNvSpPr txBox="1"/>
            <p:nvPr/>
          </p:nvSpPr>
          <p:spPr>
            <a:xfrm>
              <a:off x="5959553" y="1371812"/>
              <a:ext cx="1085233" cy="307777"/>
            </a:xfrm>
            <a:prstGeom prst="rect">
              <a:avLst/>
            </a:prstGeom>
            <a:noFill/>
          </p:spPr>
          <p:txBody>
            <a:bodyPr wrap="none" rtlCol="0">
              <a:spAutoFit/>
            </a:bodyPr>
            <a:lstStyle/>
            <a:p>
              <a:r>
                <a:rPr lang="en-GB" sz="1400" dirty="0"/>
                <a:t>e.g. IQ score</a:t>
              </a:r>
            </a:p>
          </p:txBody>
        </p:sp>
        <p:sp>
          <p:nvSpPr>
            <p:cNvPr id="8" name="TextBox 7">
              <a:extLst>
                <a:ext uri="{FF2B5EF4-FFF2-40B4-BE49-F238E27FC236}">
                  <a16:creationId xmlns:a16="http://schemas.microsoft.com/office/drawing/2014/main" id="{43EC4558-7AA6-41FE-96D5-86D3257D477C}"/>
                </a:ext>
              </a:extLst>
            </p:cNvPr>
            <p:cNvSpPr txBox="1"/>
            <p:nvPr/>
          </p:nvSpPr>
          <p:spPr>
            <a:xfrm>
              <a:off x="5963223" y="555142"/>
              <a:ext cx="1100942" cy="307777"/>
            </a:xfrm>
            <a:prstGeom prst="rect">
              <a:avLst/>
            </a:prstGeom>
            <a:noFill/>
          </p:spPr>
          <p:txBody>
            <a:bodyPr wrap="none" rtlCol="0">
              <a:spAutoFit/>
            </a:bodyPr>
            <a:lstStyle/>
            <a:p>
              <a:r>
                <a:rPr lang="en-GB" sz="1400" dirty="0"/>
                <a:t>e.g. distance</a:t>
              </a:r>
            </a:p>
          </p:txBody>
        </p:sp>
      </p:grpSp>
      <p:graphicFrame>
        <p:nvGraphicFramePr>
          <p:cNvPr id="10" name="Table 9">
            <a:extLst>
              <a:ext uri="{FF2B5EF4-FFF2-40B4-BE49-F238E27FC236}">
                <a16:creationId xmlns:a16="http://schemas.microsoft.com/office/drawing/2014/main" id="{8DD7E81E-08C0-4D64-B06A-2780AC710515}"/>
              </a:ext>
            </a:extLst>
          </p:cNvPr>
          <p:cNvGraphicFramePr>
            <a:graphicFrameLocks noGrp="1"/>
          </p:cNvGraphicFramePr>
          <p:nvPr>
            <p:extLst>
              <p:ext uri="{D42A27DB-BD31-4B8C-83A1-F6EECF244321}">
                <p14:modId xmlns:p14="http://schemas.microsoft.com/office/powerpoint/2010/main" val="3925323572"/>
              </p:ext>
            </p:extLst>
          </p:nvPr>
        </p:nvGraphicFramePr>
        <p:xfrm>
          <a:off x="5034464" y="3745002"/>
          <a:ext cx="6237875" cy="2391681"/>
        </p:xfrm>
        <a:graphic>
          <a:graphicData uri="http://schemas.openxmlformats.org/drawingml/2006/table">
            <a:tbl>
              <a:tblPr/>
              <a:tblGrid>
                <a:gridCol w="1247575">
                  <a:extLst>
                    <a:ext uri="{9D8B030D-6E8A-4147-A177-3AD203B41FA5}">
                      <a16:colId xmlns:a16="http://schemas.microsoft.com/office/drawing/2014/main" val="293898709"/>
                    </a:ext>
                  </a:extLst>
                </a:gridCol>
                <a:gridCol w="1247575">
                  <a:extLst>
                    <a:ext uri="{9D8B030D-6E8A-4147-A177-3AD203B41FA5}">
                      <a16:colId xmlns:a16="http://schemas.microsoft.com/office/drawing/2014/main" val="3318552096"/>
                    </a:ext>
                  </a:extLst>
                </a:gridCol>
                <a:gridCol w="1247575">
                  <a:extLst>
                    <a:ext uri="{9D8B030D-6E8A-4147-A177-3AD203B41FA5}">
                      <a16:colId xmlns:a16="http://schemas.microsoft.com/office/drawing/2014/main" val="1835689788"/>
                    </a:ext>
                  </a:extLst>
                </a:gridCol>
                <a:gridCol w="1247575">
                  <a:extLst>
                    <a:ext uri="{9D8B030D-6E8A-4147-A177-3AD203B41FA5}">
                      <a16:colId xmlns:a16="http://schemas.microsoft.com/office/drawing/2014/main" val="643157434"/>
                    </a:ext>
                  </a:extLst>
                </a:gridCol>
                <a:gridCol w="1247575">
                  <a:extLst>
                    <a:ext uri="{9D8B030D-6E8A-4147-A177-3AD203B41FA5}">
                      <a16:colId xmlns:a16="http://schemas.microsoft.com/office/drawing/2014/main" val="1165345965"/>
                    </a:ext>
                  </a:extLst>
                </a:gridCol>
              </a:tblGrid>
              <a:tr h="305373">
                <a:tc>
                  <a:txBody>
                    <a:bodyPr/>
                    <a:lstStyle/>
                    <a:p>
                      <a:pPr rtl="0"/>
                      <a:r>
                        <a:rPr lang="en-GB" sz="1100" b="0" dirty="0">
                          <a:effectLst/>
                        </a:rPr>
                        <a:t>Able to obtain:</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bg1">
                        <a:lumMod val="85000"/>
                      </a:schemeClr>
                    </a:solidFill>
                  </a:tcPr>
                </a:tc>
                <a:tc>
                  <a:txBody>
                    <a:bodyPr/>
                    <a:lstStyle/>
                    <a:p>
                      <a:pPr rtl="0"/>
                      <a:r>
                        <a:rPr lang="en-GB" sz="1100" b="0" dirty="0">
                          <a:effectLst/>
                        </a:rPr>
                        <a:t>Nominal</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4">
                        <a:lumMod val="20000"/>
                        <a:lumOff val="80000"/>
                      </a:schemeClr>
                    </a:solidFill>
                  </a:tcPr>
                </a:tc>
                <a:tc>
                  <a:txBody>
                    <a:bodyPr/>
                    <a:lstStyle/>
                    <a:p>
                      <a:pPr rtl="0"/>
                      <a:r>
                        <a:rPr lang="en-GB" sz="1100" b="0" dirty="0">
                          <a:effectLst/>
                        </a:rPr>
                        <a:t>Ordinal</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4">
                        <a:lumMod val="20000"/>
                        <a:lumOff val="80000"/>
                      </a:schemeClr>
                    </a:solidFill>
                  </a:tcPr>
                </a:tc>
                <a:tc>
                  <a:txBody>
                    <a:bodyPr/>
                    <a:lstStyle/>
                    <a:p>
                      <a:pPr rtl="0"/>
                      <a:r>
                        <a:rPr lang="en-GB" sz="1100" b="0" dirty="0">
                          <a:effectLst/>
                        </a:rPr>
                        <a:t>Interval</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5">
                        <a:lumMod val="40000"/>
                        <a:lumOff val="60000"/>
                      </a:schemeClr>
                    </a:solidFill>
                  </a:tcPr>
                </a:tc>
                <a:tc>
                  <a:txBody>
                    <a:bodyPr/>
                    <a:lstStyle/>
                    <a:p>
                      <a:pPr rtl="0"/>
                      <a:r>
                        <a:rPr lang="en-GB" sz="1100" b="0" dirty="0">
                          <a:effectLst/>
                        </a:rPr>
                        <a:t>Ratio</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2341017789"/>
                  </a:ext>
                </a:extLst>
              </a:tr>
              <a:tr h="397000">
                <a:tc>
                  <a:txBody>
                    <a:bodyPr/>
                    <a:lstStyle/>
                    <a:p>
                      <a:pPr rtl="0"/>
                      <a:r>
                        <a:rPr lang="en-GB" sz="1100" b="0" dirty="0">
                          <a:effectLst/>
                        </a:rPr>
                        <a:t>Frequency distribution</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bg1">
                        <a:lumMod val="85000"/>
                      </a:schemeClr>
                    </a:solidFill>
                  </a:tcPr>
                </a:tc>
                <a:tc>
                  <a:txBody>
                    <a:bodyPr/>
                    <a:lstStyle/>
                    <a:p>
                      <a:pPr rtl="0"/>
                      <a:r>
                        <a:rPr lang="en-GB" sz="1100" b="0" dirty="0">
                          <a:effectLst/>
                        </a:rPr>
                        <a:t>Yes</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6">
                        <a:lumMod val="40000"/>
                        <a:lumOff val="60000"/>
                      </a:schemeClr>
                    </a:solidFill>
                  </a:tcPr>
                </a:tc>
                <a:tc>
                  <a:txBody>
                    <a:bodyPr/>
                    <a:lstStyle/>
                    <a:p>
                      <a:pPr rtl="0"/>
                      <a:r>
                        <a:rPr lang="en-GB" sz="1100" b="0" dirty="0">
                          <a:effectLst/>
                        </a:rPr>
                        <a:t>Yes</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6">
                        <a:lumMod val="40000"/>
                        <a:lumOff val="60000"/>
                      </a:schemeClr>
                    </a:solidFill>
                  </a:tcPr>
                </a:tc>
                <a:tc>
                  <a:txBody>
                    <a:bodyPr/>
                    <a:lstStyle/>
                    <a:p>
                      <a:pPr rtl="0"/>
                      <a:r>
                        <a:rPr lang="en-GB" sz="1100" b="0" dirty="0">
                          <a:effectLst/>
                        </a:rPr>
                        <a:t>Yes</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6">
                        <a:lumMod val="40000"/>
                        <a:lumOff val="60000"/>
                      </a:schemeClr>
                    </a:solidFill>
                  </a:tcPr>
                </a:tc>
                <a:tc>
                  <a:txBody>
                    <a:bodyPr/>
                    <a:lstStyle/>
                    <a:p>
                      <a:pPr rtl="0"/>
                      <a:r>
                        <a:rPr lang="en-GB" sz="1100" b="0" dirty="0">
                          <a:effectLst/>
                        </a:rPr>
                        <a:t>Yes</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84309859"/>
                  </a:ext>
                </a:extLst>
              </a:tr>
              <a:tr h="397000">
                <a:tc>
                  <a:txBody>
                    <a:bodyPr/>
                    <a:lstStyle/>
                    <a:p>
                      <a:pPr rtl="0"/>
                      <a:r>
                        <a:rPr lang="en-GB" sz="1100" b="0" dirty="0">
                          <a:effectLst/>
                        </a:rPr>
                        <a:t>Median and percentiles</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bg1">
                        <a:lumMod val="85000"/>
                      </a:schemeClr>
                    </a:solidFill>
                  </a:tcPr>
                </a:tc>
                <a:tc>
                  <a:txBody>
                    <a:bodyPr/>
                    <a:lstStyle/>
                    <a:p>
                      <a:pPr rtl="0"/>
                      <a:r>
                        <a:rPr lang="en-GB" sz="1100" b="0" dirty="0">
                          <a:effectLst/>
                        </a:rPr>
                        <a:t>No</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2"/>
                    </a:solidFill>
                  </a:tcPr>
                </a:tc>
                <a:tc>
                  <a:txBody>
                    <a:bodyPr/>
                    <a:lstStyle/>
                    <a:p>
                      <a:pPr rtl="0"/>
                      <a:r>
                        <a:rPr lang="en-GB" sz="1100" b="0" dirty="0">
                          <a:effectLst/>
                        </a:rPr>
                        <a:t>Yes</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6">
                        <a:lumMod val="40000"/>
                        <a:lumOff val="60000"/>
                      </a:schemeClr>
                    </a:solidFill>
                  </a:tcPr>
                </a:tc>
                <a:tc>
                  <a:txBody>
                    <a:bodyPr/>
                    <a:lstStyle/>
                    <a:p>
                      <a:pPr rtl="0"/>
                      <a:r>
                        <a:rPr lang="en-GB" sz="1100" b="0">
                          <a:effectLst/>
                        </a:rPr>
                        <a:t>Yes</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6">
                        <a:lumMod val="40000"/>
                        <a:lumOff val="60000"/>
                      </a:schemeClr>
                    </a:solidFill>
                  </a:tcPr>
                </a:tc>
                <a:tc>
                  <a:txBody>
                    <a:bodyPr/>
                    <a:lstStyle/>
                    <a:p>
                      <a:pPr rtl="0"/>
                      <a:r>
                        <a:rPr lang="en-GB" sz="1100" b="0">
                          <a:effectLst/>
                        </a:rPr>
                        <a:t>Yes</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957571857"/>
                  </a:ext>
                </a:extLst>
              </a:tr>
              <a:tr h="213746">
                <a:tc>
                  <a:txBody>
                    <a:bodyPr/>
                    <a:lstStyle/>
                    <a:p>
                      <a:pPr rtl="0"/>
                      <a:r>
                        <a:rPr lang="en-GB" sz="1100" b="0" dirty="0">
                          <a:effectLst/>
                        </a:rPr>
                        <a:t>Add or subtract</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bg1">
                        <a:lumMod val="85000"/>
                      </a:schemeClr>
                    </a:solidFill>
                  </a:tcPr>
                </a:tc>
                <a:tc>
                  <a:txBody>
                    <a:bodyPr/>
                    <a:lstStyle/>
                    <a:p>
                      <a:pPr rtl="0"/>
                      <a:r>
                        <a:rPr lang="en-GB" sz="1100" b="0" dirty="0">
                          <a:effectLst/>
                        </a:rPr>
                        <a:t>No</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2"/>
                    </a:solidFill>
                  </a:tcPr>
                </a:tc>
                <a:tc>
                  <a:txBody>
                    <a:bodyPr/>
                    <a:lstStyle/>
                    <a:p>
                      <a:pPr rtl="0"/>
                      <a:r>
                        <a:rPr lang="en-GB" sz="1100" b="0" dirty="0">
                          <a:effectLst/>
                        </a:rPr>
                        <a:t>No</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2"/>
                    </a:solidFill>
                  </a:tcPr>
                </a:tc>
                <a:tc>
                  <a:txBody>
                    <a:bodyPr/>
                    <a:lstStyle/>
                    <a:p>
                      <a:pPr rtl="0"/>
                      <a:r>
                        <a:rPr lang="en-GB" sz="1100" b="0">
                          <a:effectLst/>
                        </a:rPr>
                        <a:t>Yes</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6">
                        <a:lumMod val="40000"/>
                        <a:lumOff val="60000"/>
                      </a:schemeClr>
                    </a:solidFill>
                  </a:tcPr>
                </a:tc>
                <a:tc>
                  <a:txBody>
                    <a:bodyPr/>
                    <a:lstStyle/>
                    <a:p>
                      <a:pPr rtl="0"/>
                      <a:r>
                        <a:rPr lang="en-GB" sz="1100" b="0">
                          <a:effectLst/>
                        </a:rPr>
                        <a:t>Yes</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421639050"/>
                  </a:ext>
                </a:extLst>
              </a:tr>
              <a:tr h="671882">
                <a:tc>
                  <a:txBody>
                    <a:bodyPr/>
                    <a:lstStyle/>
                    <a:p>
                      <a:pPr rtl="0"/>
                      <a:r>
                        <a:rPr lang="en-GB" sz="1100" b="0" dirty="0">
                          <a:effectLst/>
                        </a:rPr>
                        <a:t>Mean, standard deviation, standard error of the mean </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bg1">
                        <a:lumMod val="85000"/>
                      </a:schemeClr>
                    </a:solidFill>
                  </a:tcPr>
                </a:tc>
                <a:tc>
                  <a:txBody>
                    <a:bodyPr/>
                    <a:lstStyle/>
                    <a:p>
                      <a:pPr rtl="0"/>
                      <a:r>
                        <a:rPr lang="en-GB" sz="1100" b="0" dirty="0">
                          <a:effectLst/>
                        </a:rPr>
                        <a:t>No</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2"/>
                    </a:solidFill>
                  </a:tcPr>
                </a:tc>
                <a:tc>
                  <a:txBody>
                    <a:bodyPr/>
                    <a:lstStyle/>
                    <a:p>
                      <a:pPr rtl="0"/>
                      <a:r>
                        <a:rPr lang="en-GB" sz="1100" b="0">
                          <a:effectLst/>
                        </a:rPr>
                        <a:t>No</a:t>
                      </a:r>
                      <a:endParaRPr lang="en-GB" sz="1100" b="0" dirty="0">
                        <a:effectLst/>
                      </a:endParaRP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2"/>
                    </a:solidFill>
                  </a:tcPr>
                </a:tc>
                <a:tc>
                  <a:txBody>
                    <a:bodyPr/>
                    <a:lstStyle/>
                    <a:p>
                      <a:pPr rtl="0"/>
                      <a:r>
                        <a:rPr lang="en-GB" sz="1100" b="0" dirty="0">
                          <a:effectLst/>
                        </a:rPr>
                        <a:t>Yes</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6">
                        <a:lumMod val="40000"/>
                        <a:lumOff val="60000"/>
                      </a:schemeClr>
                    </a:solidFill>
                  </a:tcPr>
                </a:tc>
                <a:tc>
                  <a:txBody>
                    <a:bodyPr/>
                    <a:lstStyle/>
                    <a:p>
                      <a:pPr rtl="0"/>
                      <a:r>
                        <a:rPr lang="en-GB" sz="1100" b="0">
                          <a:effectLst/>
                        </a:rPr>
                        <a:t>Yes</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268144467"/>
                  </a:ext>
                </a:extLst>
              </a:tr>
              <a:tr h="397000">
                <a:tc>
                  <a:txBody>
                    <a:bodyPr/>
                    <a:lstStyle/>
                    <a:p>
                      <a:pPr rtl="0"/>
                      <a:r>
                        <a:rPr lang="en-GB" sz="1100" b="0" dirty="0">
                          <a:effectLst/>
                        </a:rPr>
                        <a:t>Ratios, coefficient of variation</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bg1">
                        <a:lumMod val="85000"/>
                      </a:schemeClr>
                    </a:solidFill>
                  </a:tcPr>
                </a:tc>
                <a:tc>
                  <a:txBody>
                    <a:bodyPr/>
                    <a:lstStyle/>
                    <a:p>
                      <a:pPr rtl="0"/>
                      <a:r>
                        <a:rPr lang="en-GB" sz="1100" b="0" dirty="0">
                          <a:effectLst/>
                        </a:rPr>
                        <a:t>No</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2"/>
                    </a:solidFill>
                  </a:tcPr>
                </a:tc>
                <a:tc>
                  <a:txBody>
                    <a:bodyPr/>
                    <a:lstStyle/>
                    <a:p>
                      <a:pPr rtl="0"/>
                      <a:r>
                        <a:rPr lang="en-GB" sz="1100" b="0" dirty="0">
                          <a:effectLst/>
                        </a:rPr>
                        <a:t>No</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2"/>
                    </a:solidFill>
                  </a:tcPr>
                </a:tc>
                <a:tc>
                  <a:txBody>
                    <a:bodyPr/>
                    <a:lstStyle/>
                    <a:p>
                      <a:pPr rtl="0"/>
                      <a:r>
                        <a:rPr lang="en-GB" sz="1100" b="0" dirty="0">
                          <a:effectLst/>
                        </a:rPr>
                        <a:t>No</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2"/>
                    </a:solidFill>
                  </a:tcPr>
                </a:tc>
                <a:tc>
                  <a:txBody>
                    <a:bodyPr/>
                    <a:lstStyle/>
                    <a:p>
                      <a:pPr rtl="0"/>
                      <a:r>
                        <a:rPr lang="en-GB" sz="1100" b="0" dirty="0">
                          <a:effectLst/>
                        </a:rPr>
                        <a:t>Yes</a:t>
                      </a:r>
                    </a:p>
                  </a:txBody>
                  <a:tcPr marL="55786" marR="55786" marT="27893" marB="27893" anchor="ctr">
                    <a:lnL w="6350" cap="flat" cmpd="sng" algn="ctr">
                      <a:solidFill>
                        <a:srgbClr val="8A8A8A"/>
                      </a:solidFill>
                      <a:prstDash val="solid"/>
                      <a:round/>
                      <a:headEnd type="none" w="med" len="med"/>
                      <a:tailEnd type="none" w="med" len="med"/>
                    </a:lnL>
                    <a:lnR w="6350" cap="flat" cmpd="sng" algn="ctr">
                      <a:solidFill>
                        <a:srgbClr val="8A8A8A"/>
                      </a:solidFill>
                      <a:prstDash val="solid"/>
                      <a:round/>
                      <a:headEnd type="none" w="med" len="med"/>
                      <a:tailEnd type="none" w="med" len="med"/>
                    </a:lnR>
                    <a:lnT w="6350" cap="flat" cmpd="sng" algn="ctr">
                      <a:solidFill>
                        <a:srgbClr val="8A8A8A"/>
                      </a:solidFill>
                      <a:prstDash val="solid"/>
                      <a:round/>
                      <a:headEnd type="none" w="med" len="med"/>
                      <a:tailEnd type="none" w="med" len="med"/>
                    </a:lnT>
                    <a:lnB w="6350" cap="flat" cmpd="sng" algn="ctr">
                      <a:solidFill>
                        <a:srgbClr val="8A8A8A"/>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986105297"/>
                  </a:ext>
                </a:extLst>
              </a:tr>
            </a:tbl>
          </a:graphicData>
        </a:graphic>
      </p:graphicFrame>
      <p:sp>
        <p:nvSpPr>
          <p:cNvPr id="12" name="TextBox 11">
            <a:extLst>
              <a:ext uri="{FF2B5EF4-FFF2-40B4-BE49-F238E27FC236}">
                <a16:creationId xmlns:a16="http://schemas.microsoft.com/office/drawing/2014/main" id="{FE6FF67D-AA31-4842-8A3A-F78DAAAC2C0E}"/>
              </a:ext>
            </a:extLst>
          </p:cNvPr>
          <p:cNvSpPr txBox="1"/>
          <p:nvPr/>
        </p:nvSpPr>
        <p:spPr>
          <a:xfrm>
            <a:off x="9796048" y="2628280"/>
            <a:ext cx="2010294" cy="523220"/>
          </a:xfrm>
          <a:prstGeom prst="rect">
            <a:avLst/>
          </a:prstGeom>
          <a:noFill/>
        </p:spPr>
        <p:txBody>
          <a:bodyPr wrap="none" rtlCol="0">
            <a:spAutoFit/>
          </a:bodyPr>
          <a:lstStyle/>
          <a:p>
            <a:r>
              <a:rPr lang="en-GB" sz="1400" dirty="0"/>
              <a:t>(discrete,</a:t>
            </a:r>
            <a:br>
              <a:rPr lang="en-GB" sz="1400" dirty="0"/>
            </a:br>
            <a:r>
              <a:rPr lang="en-GB" sz="1400" dirty="0"/>
              <a:t>generally not numerical)</a:t>
            </a:r>
          </a:p>
        </p:txBody>
      </p:sp>
      <p:sp>
        <p:nvSpPr>
          <p:cNvPr id="13" name="TextBox 12">
            <a:extLst>
              <a:ext uri="{FF2B5EF4-FFF2-40B4-BE49-F238E27FC236}">
                <a16:creationId xmlns:a16="http://schemas.microsoft.com/office/drawing/2014/main" id="{CE5D7685-4E29-470C-9829-7A6F47919524}"/>
              </a:ext>
            </a:extLst>
          </p:cNvPr>
          <p:cNvSpPr txBox="1"/>
          <p:nvPr/>
        </p:nvSpPr>
        <p:spPr>
          <a:xfrm>
            <a:off x="9796048" y="918089"/>
            <a:ext cx="1913922" cy="523220"/>
          </a:xfrm>
          <a:prstGeom prst="rect">
            <a:avLst/>
          </a:prstGeom>
          <a:noFill/>
        </p:spPr>
        <p:txBody>
          <a:bodyPr wrap="none" rtlCol="0">
            <a:spAutoFit/>
          </a:bodyPr>
          <a:lstStyle/>
          <a:p>
            <a:r>
              <a:rPr lang="en-GB" sz="1400" dirty="0"/>
              <a:t>(discrete or continuous,</a:t>
            </a:r>
            <a:br>
              <a:rPr lang="en-GB" sz="1400" dirty="0"/>
            </a:br>
            <a:r>
              <a:rPr lang="en-GB" sz="1400" dirty="0"/>
              <a:t>always numerical)</a:t>
            </a:r>
          </a:p>
        </p:txBody>
      </p:sp>
    </p:spTree>
    <p:extLst>
      <p:ext uri="{BB962C8B-B14F-4D97-AF65-F5344CB8AC3E}">
        <p14:creationId xmlns:p14="http://schemas.microsoft.com/office/powerpoint/2010/main" val="2699202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322F7-6B95-448C-81ED-31E1FC12D6F4}"/>
              </a:ext>
            </a:extLst>
          </p:cNvPr>
          <p:cNvSpPr>
            <a:spLocks noGrp="1"/>
          </p:cNvSpPr>
          <p:nvPr>
            <p:ph type="title"/>
          </p:nvPr>
        </p:nvSpPr>
        <p:spPr/>
        <p:txBody>
          <a:bodyPr/>
          <a:lstStyle/>
          <a:p>
            <a:r>
              <a:rPr lang="en-GB" dirty="0"/>
              <a:t>Exercise</a:t>
            </a:r>
          </a:p>
        </p:txBody>
      </p:sp>
      <p:sp>
        <p:nvSpPr>
          <p:cNvPr id="3" name="Content Placeholder 2">
            <a:extLst>
              <a:ext uri="{FF2B5EF4-FFF2-40B4-BE49-F238E27FC236}">
                <a16:creationId xmlns:a16="http://schemas.microsoft.com/office/drawing/2014/main" id="{05B55198-1837-4D1A-893D-F2AB0B018B80}"/>
              </a:ext>
            </a:extLst>
          </p:cNvPr>
          <p:cNvSpPr>
            <a:spLocks noGrp="1"/>
          </p:cNvSpPr>
          <p:nvPr>
            <p:ph idx="1"/>
          </p:nvPr>
        </p:nvSpPr>
        <p:spPr>
          <a:xfrm>
            <a:off x="838200" y="3532094"/>
            <a:ext cx="10515600" cy="2644869"/>
          </a:xfrm>
        </p:spPr>
        <p:txBody>
          <a:bodyPr/>
          <a:lstStyle/>
          <a:p>
            <a:r>
              <a:rPr lang="en-GB" dirty="0"/>
              <a:t>Categorise the data columns as either nominal, ordinal, interval or ratio</a:t>
            </a:r>
          </a:p>
          <a:p>
            <a:r>
              <a:rPr lang="en-GB" dirty="0"/>
              <a:t>Also categorise them as discrete or continuous</a:t>
            </a:r>
          </a:p>
          <a:p>
            <a:r>
              <a:rPr lang="en-GB" dirty="0"/>
              <a:t>Explain your reasoning</a:t>
            </a:r>
          </a:p>
        </p:txBody>
      </p:sp>
      <p:graphicFrame>
        <p:nvGraphicFramePr>
          <p:cNvPr id="8" name="Object 7">
            <a:extLst>
              <a:ext uri="{FF2B5EF4-FFF2-40B4-BE49-F238E27FC236}">
                <a16:creationId xmlns:a16="http://schemas.microsoft.com/office/drawing/2014/main" id="{56E9CC32-1205-416B-AA9F-3A72F87CBB2A}"/>
              </a:ext>
            </a:extLst>
          </p:cNvPr>
          <p:cNvGraphicFramePr>
            <a:graphicFrameLocks noChangeAspect="1"/>
          </p:cNvGraphicFramePr>
          <p:nvPr>
            <p:extLst>
              <p:ext uri="{D42A27DB-BD31-4B8C-83A1-F6EECF244321}">
                <p14:modId xmlns:p14="http://schemas.microsoft.com/office/powerpoint/2010/main" val="2560713670"/>
              </p:ext>
            </p:extLst>
          </p:nvPr>
        </p:nvGraphicFramePr>
        <p:xfrm>
          <a:off x="995362" y="1877358"/>
          <a:ext cx="10201275" cy="1343025"/>
        </p:xfrm>
        <a:graphic>
          <a:graphicData uri="http://schemas.openxmlformats.org/presentationml/2006/ole">
            <mc:AlternateContent xmlns:mc="http://schemas.openxmlformats.org/markup-compatibility/2006">
              <mc:Choice xmlns:v="urn:schemas-microsoft-com:vml" Requires="v">
                <p:oleObj name="Worksheet" r:id="rId2" imgW="10201118" imgH="1342986" progId="Excel.Sheet.12">
                  <p:embed/>
                </p:oleObj>
              </mc:Choice>
              <mc:Fallback>
                <p:oleObj name="Worksheet" r:id="rId2" imgW="10201118" imgH="1342986" progId="Excel.Sheet.12">
                  <p:embed/>
                  <p:pic>
                    <p:nvPicPr>
                      <p:cNvPr id="6" name="Object 5">
                        <a:extLst>
                          <a:ext uri="{FF2B5EF4-FFF2-40B4-BE49-F238E27FC236}">
                            <a16:creationId xmlns:a16="http://schemas.microsoft.com/office/drawing/2014/main" id="{DF15AB3D-FB15-492B-AF87-A3B2D9DCA212}"/>
                          </a:ext>
                        </a:extLst>
                      </p:cNvPr>
                      <p:cNvPicPr/>
                      <p:nvPr/>
                    </p:nvPicPr>
                    <p:blipFill>
                      <a:blip r:embed="rId3"/>
                      <a:stretch>
                        <a:fillRect/>
                      </a:stretch>
                    </p:blipFill>
                    <p:spPr>
                      <a:xfrm>
                        <a:off x="995362" y="1877358"/>
                        <a:ext cx="10201275" cy="1343025"/>
                      </a:xfrm>
                      <a:prstGeom prst="rect">
                        <a:avLst/>
                      </a:prstGeom>
                    </p:spPr>
                  </p:pic>
                </p:oleObj>
              </mc:Fallback>
            </mc:AlternateContent>
          </a:graphicData>
        </a:graphic>
      </p:graphicFrame>
    </p:spTree>
    <p:extLst>
      <p:ext uri="{BB962C8B-B14F-4D97-AF65-F5344CB8AC3E}">
        <p14:creationId xmlns:p14="http://schemas.microsoft.com/office/powerpoint/2010/main" val="234229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C24F1-1433-4B25-B351-182145FE5D11}"/>
              </a:ext>
            </a:extLst>
          </p:cNvPr>
          <p:cNvSpPr>
            <a:spLocks noGrp="1"/>
          </p:cNvSpPr>
          <p:nvPr>
            <p:ph type="title"/>
          </p:nvPr>
        </p:nvSpPr>
        <p:spPr>
          <a:xfrm>
            <a:off x="474133" y="0"/>
            <a:ext cx="10515600" cy="1325563"/>
          </a:xfrm>
        </p:spPr>
        <p:txBody>
          <a:bodyPr/>
          <a:lstStyle/>
          <a:p>
            <a:r>
              <a:rPr lang="en-GB" dirty="0"/>
              <a:t>Data collection terminology</a:t>
            </a:r>
          </a:p>
        </p:txBody>
      </p:sp>
      <p:sp>
        <p:nvSpPr>
          <p:cNvPr id="3" name="Content Placeholder 2">
            <a:extLst>
              <a:ext uri="{FF2B5EF4-FFF2-40B4-BE49-F238E27FC236}">
                <a16:creationId xmlns:a16="http://schemas.microsoft.com/office/drawing/2014/main" id="{51C0A081-77C0-4EB6-87A2-5F0E530C2132}"/>
              </a:ext>
            </a:extLst>
          </p:cNvPr>
          <p:cNvSpPr>
            <a:spLocks noGrp="1"/>
          </p:cNvSpPr>
          <p:nvPr>
            <p:ph idx="1"/>
          </p:nvPr>
        </p:nvSpPr>
        <p:spPr>
          <a:xfrm>
            <a:off x="474133" y="1071716"/>
            <a:ext cx="8256912" cy="5473018"/>
          </a:xfrm>
        </p:spPr>
        <p:txBody>
          <a:bodyPr>
            <a:normAutofit fontScale="70000" lnSpcReduction="20000"/>
          </a:bodyPr>
          <a:lstStyle/>
          <a:p>
            <a:r>
              <a:rPr lang="en-GB" dirty="0"/>
              <a:t>Generally, we are only interested in data if we have more than one of them (you rarely hear anyone talk about the singular ‘datum’)</a:t>
            </a:r>
          </a:p>
          <a:p>
            <a:r>
              <a:rPr lang="en-GB" dirty="0"/>
              <a:t>We are also generally interested in more than one thing at a time, e.g. height, weight, age (linking these for each person tells us much more than if we had these measurements separately)</a:t>
            </a:r>
          </a:p>
          <a:p>
            <a:r>
              <a:rPr lang="en-GB" dirty="0"/>
              <a:t>For example, to investigate social media usage, you might ask 100 people a few questions, e.g.</a:t>
            </a:r>
          </a:p>
          <a:p>
            <a:pPr lvl="1"/>
            <a:r>
              <a:rPr lang="en-GB" dirty="0"/>
              <a:t>Age, Location, Income, Time spent using social media per day</a:t>
            </a:r>
          </a:p>
          <a:p>
            <a:r>
              <a:rPr lang="en-GB" dirty="0"/>
              <a:t>Each person you ask is termed an ‘observation’ (or sometimes an ‘instance’, ‘replicate’, ‘sample point’ or ‘sample unit’)</a:t>
            </a:r>
          </a:p>
          <a:p>
            <a:r>
              <a:rPr lang="en-GB" dirty="0"/>
              <a:t>Each question you ask would be an ‘attribute’ of the data (or sometimes a ‘feature’, ‘parameter’ or ‘variable’)</a:t>
            </a:r>
          </a:p>
          <a:p>
            <a:r>
              <a:rPr lang="en-GB" dirty="0"/>
              <a:t>The collection of observations is termed the ‘sample’, and the number of observations is termed the ‘sample size’ (i.e. 100 in the above example)</a:t>
            </a:r>
          </a:p>
          <a:p>
            <a:r>
              <a:rPr lang="en-GB" dirty="0"/>
              <a:t>The way the people are selected is termed the ‘sampling strategy’, which needs careful consideration to make sure it is ‘representative’ of the wider ‘population’.  Using lots of data doesn’t mean it is necessarily representative of society in general, e.g. demographic bias</a:t>
            </a:r>
          </a:p>
          <a:p>
            <a:r>
              <a:rPr lang="en-GB" dirty="0"/>
              <a:t>These are important concepts, which will make more sense when we start using data in Excel, and will build on throughout the module</a:t>
            </a:r>
          </a:p>
          <a:p>
            <a:pPr lvl="1"/>
            <a:endParaRPr lang="en-GB" dirty="0"/>
          </a:p>
        </p:txBody>
      </p:sp>
      <p:pic>
        <p:nvPicPr>
          <p:cNvPr id="4100" name="Picture 4" descr="2. Data and Sampling Distributions - Practical Statistics ...">
            <a:extLst>
              <a:ext uri="{FF2B5EF4-FFF2-40B4-BE49-F238E27FC236}">
                <a16:creationId xmlns:a16="http://schemas.microsoft.com/office/drawing/2014/main" id="{F55AA7C9-E4AD-4D86-9A40-E8AE23D876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9199" y="2454645"/>
            <a:ext cx="2995083" cy="2507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5808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38CFB-5D21-0D2B-7B59-EA2E6DB3CC00}"/>
              </a:ext>
            </a:extLst>
          </p:cNvPr>
          <p:cNvSpPr>
            <a:spLocks noGrp="1"/>
          </p:cNvSpPr>
          <p:nvPr>
            <p:ph type="title"/>
          </p:nvPr>
        </p:nvSpPr>
        <p:spPr/>
        <p:txBody>
          <a:bodyPr/>
          <a:lstStyle/>
          <a:p>
            <a:r>
              <a:rPr lang="en-GB" dirty="0">
                <a:highlight>
                  <a:srgbClr val="FFFF00"/>
                </a:highlight>
              </a:rPr>
              <a:t>Flipped classroom!</a:t>
            </a:r>
          </a:p>
        </p:txBody>
      </p:sp>
      <p:sp>
        <p:nvSpPr>
          <p:cNvPr id="3" name="Content Placeholder 2">
            <a:extLst>
              <a:ext uri="{FF2B5EF4-FFF2-40B4-BE49-F238E27FC236}">
                <a16:creationId xmlns:a16="http://schemas.microsoft.com/office/drawing/2014/main" id="{611EB429-7EF6-FBCF-AC2F-666E8FEFFB67}"/>
              </a:ext>
            </a:extLst>
          </p:cNvPr>
          <p:cNvSpPr>
            <a:spLocks noGrp="1"/>
          </p:cNvSpPr>
          <p:nvPr>
            <p:ph idx="1"/>
          </p:nvPr>
        </p:nvSpPr>
        <p:spPr/>
        <p:txBody>
          <a:bodyPr/>
          <a:lstStyle/>
          <a:p>
            <a:r>
              <a:rPr lang="en-GB" dirty="0"/>
              <a:t>To allow us to spend more time in class discussing fundamental ideas around data, and to work on practical exercises, please go through the following slides ahead of class, and refer back to earlier slides where necessary</a:t>
            </a:r>
          </a:p>
          <a:p>
            <a:r>
              <a:rPr lang="en-GB" dirty="0"/>
              <a:t>We will go through the earlier slides in class, but spend less time on the following slides</a:t>
            </a:r>
          </a:p>
          <a:p>
            <a:r>
              <a:rPr lang="en-GB" dirty="0"/>
              <a:t>A </a:t>
            </a:r>
            <a:r>
              <a:rPr lang="en-GB"/>
              <a:t>video will also </a:t>
            </a:r>
            <a:r>
              <a:rPr lang="en-GB" dirty="0"/>
              <a:t>be uploaded to Canvas ahead of class. Please watch this before attending.</a:t>
            </a:r>
          </a:p>
        </p:txBody>
      </p:sp>
    </p:spTree>
    <p:extLst>
      <p:ext uri="{BB962C8B-B14F-4D97-AF65-F5344CB8AC3E}">
        <p14:creationId xmlns:p14="http://schemas.microsoft.com/office/powerpoint/2010/main" val="34732554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3A2F95-7602-46FA-B7BC-AEFCAADDC16C}"/>
              </a:ext>
            </a:extLst>
          </p:cNvPr>
          <p:cNvSpPr>
            <a:spLocks noGrp="1"/>
          </p:cNvSpPr>
          <p:nvPr>
            <p:ph type="title"/>
          </p:nvPr>
        </p:nvSpPr>
        <p:spPr>
          <a:xfrm>
            <a:off x="838200" y="0"/>
            <a:ext cx="10515600" cy="1325563"/>
          </a:xfrm>
        </p:spPr>
        <p:txBody>
          <a:bodyPr/>
          <a:lstStyle/>
          <a:p>
            <a:r>
              <a:rPr lang="en-GB" dirty="0">
                <a:highlight>
                  <a:srgbClr val="FFFF00"/>
                </a:highlight>
              </a:rPr>
              <a:t>Data formats and csv files</a:t>
            </a:r>
          </a:p>
        </p:txBody>
      </p:sp>
      <p:sp>
        <p:nvSpPr>
          <p:cNvPr id="3" name="Content Placeholder 2">
            <a:extLst>
              <a:ext uri="{FF2B5EF4-FFF2-40B4-BE49-F238E27FC236}">
                <a16:creationId xmlns:a16="http://schemas.microsoft.com/office/drawing/2014/main" id="{0D5F6E61-C48A-41DF-B8F0-E3C6E66CCEEB}"/>
              </a:ext>
            </a:extLst>
          </p:cNvPr>
          <p:cNvSpPr>
            <a:spLocks noGrp="1"/>
          </p:cNvSpPr>
          <p:nvPr>
            <p:ph idx="1"/>
          </p:nvPr>
        </p:nvSpPr>
        <p:spPr>
          <a:xfrm>
            <a:off x="625642" y="1214792"/>
            <a:ext cx="10809171" cy="2908676"/>
          </a:xfrm>
        </p:spPr>
        <p:txBody>
          <a:bodyPr>
            <a:normAutofit fontScale="92500" lnSpcReduction="20000"/>
          </a:bodyPr>
          <a:lstStyle/>
          <a:p>
            <a:r>
              <a:rPr lang="en-GB" dirty="0"/>
              <a:t>To make use of data, we need to know how they are 'formatted'</a:t>
            </a:r>
          </a:p>
          <a:p>
            <a:r>
              <a:rPr lang="en-GB" dirty="0"/>
              <a:t>Perhaps the most common and easy-to-use format is a ‘csv’ file</a:t>
            </a:r>
          </a:p>
          <a:p>
            <a:pPr lvl="1"/>
            <a:r>
              <a:rPr lang="en-GB" dirty="0"/>
              <a:t>This is a plain text file (see annotated example below)</a:t>
            </a:r>
          </a:p>
          <a:p>
            <a:pPr lvl="1"/>
            <a:r>
              <a:rPr lang="en-GB" dirty="0"/>
              <a:t>csv means comma-separated values, but other ‘delimiters’ can also be used (e.g. tabs)</a:t>
            </a:r>
          </a:p>
          <a:p>
            <a:r>
              <a:rPr lang="en-GB" dirty="0"/>
              <a:t>The csv format is useful because:</a:t>
            </a:r>
          </a:p>
          <a:p>
            <a:pPr lvl="1"/>
            <a:r>
              <a:rPr lang="en-GB" dirty="0"/>
              <a:t>Everything is in a single file with a straightforward layout</a:t>
            </a:r>
          </a:p>
          <a:p>
            <a:pPr lvl="1"/>
            <a:r>
              <a:rPr lang="en-GB" dirty="0"/>
              <a:t>It is human-readable without needing specialist software</a:t>
            </a:r>
          </a:p>
          <a:p>
            <a:pPr lvl="1"/>
            <a:r>
              <a:rPr lang="en-GB" dirty="0"/>
              <a:t>It is widely used, across different computer platforms and applications</a:t>
            </a:r>
          </a:p>
        </p:txBody>
      </p:sp>
      <p:graphicFrame>
        <p:nvGraphicFramePr>
          <p:cNvPr id="9" name="Table 8">
            <a:extLst>
              <a:ext uri="{FF2B5EF4-FFF2-40B4-BE49-F238E27FC236}">
                <a16:creationId xmlns:a16="http://schemas.microsoft.com/office/drawing/2014/main" id="{C81BC09D-3603-428F-9575-6598A7C1FEA6}"/>
              </a:ext>
            </a:extLst>
          </p:cNvPr>
          <p:cNvGraphicFramePr>
            <a:graphicFrameLocks noGrp="1"/>
          </p:cNvGraphicFramePr>
          <p:nvPr>
            <p:extLst>
              <p:ext uri="{D42A27DB-BD31-4B8C-83A1-F6EECF244321}">
                <p14:modId xmlns:p14="http://schemas.microsoft.com/office/powerpoint/2010/main" val="183518154"/>
              </p:ext>
            </p:extLst>
          </p:nvPr>
        </p:nvGraphicFramePr>
        <p:xfrm>
          <a:off x="1751798" y="4652508"/>
          <a:ext cx="4753810" cy="1432560"/>
        </p:xfrm>
        <a:graphic>
          <a:graphicData uri="http://schemas.openxmlformats.org/drawingml/2006/table">
            <a:tbl>
              <a:tblPr firstRow="1" bandRow="1">
                <a:tableStyleId>{5C22544A-7EE6-4342-B048-85BDC9FD1C3A}</a:tableStyleId>
              </a:tblPr>
              <a:tblGrid>
                <a:gridCol w="1307966">
                  <a:extLst>
                    <a:ext uri="{9D8B030D-6E8A-4147-A177-3AD203B41FA5}">
                      <a16:colId xmlns:a16="http://schemas.microsoft.com/office/drawing/2014/main" val="531276150"/>
                    </a:ext>
                  </a:extLst>
                </a:gridCol>
                <a:gridCol w="1386038">
                  <a:extLst>
                    <a:ext uri="{9D8B030D-6E8A-4147-A177-3AD203B41FA5}">
                      <a16:colId xmlns:a16="http://schemas.microsoft.com/office/drawing/2014/main" val="4118200708"/>
                    </a:ext>
                  </a:extLst>
                </a:gridCol>
                <a:gridCol w="956377">
                  <a:extLst>
                    <a:ext uri="{9D8B030D-6E8A-4147-A177-3AD203B41FA5}">
                      <a16:colId xmlns:a16="http://schemas.microsoft.com/office/drawing/2014/main" val="653089526"/>
                    </a:ext>
                  </a:extLst>
                </a:gridCol>
                <a:gridCol w="1103429">
                  <a:extLst>
                    <a:ext uri="{9D8B030D-6E8A-4147-A177-3AD203B41FA5}">
                      <a16:colId xmlns:a16="http://schemas.microsoft.com/office/drawing/2014/main" val="251463217"/>
                    </a:ext>
                  </a:extLst>
                </a:gridCol>
              </a:tblGrid>
              <a:tr h="282096">
                <a:tc>
                  <a:txBody>
                    <a:bodyPr/>
                    <a:lstStyle/>
                    <a:p>
                      <a:r>
                        <a:rPr lang="en-GB" sz="1400" dirty="0"/>
                        <a:t>User ID</a:t>
                      </a:r>
                    </a:p>
                  </a:txBody>
                  <a:tcPr/>
                </a:tc>
                <a:tc>
                  <a:txBody>
                    <a:bodyPr/>
                    <a:lstStyle/>
                    <a:p>
                      <a:r>
                        <a:rPr lang="en-GB" sz="1400" dirty="0"/>
                        <a:t>Date joined</a:t>
                      </a:r>
                    </a:p>
                  </a:txBody>
                  <a:tcPr/>
                </a:tc>
                <a:tc>
                  <a:txBody>
                    <a:bodyPr/>
                    <a:lstStyle/>
                    <a:p>
                      <a:r>
                        <a:rPr lang="en-GB" sz="1400" dirty="0"/>
                        <a:t>Location</a:t>
                      </a:r>
                    </a:p>
                  </a:txBody>
                  <a:tcPr/>
                </a:tc>
                <a:tc>
                  <a:txBody>
                    <a:bodyPr/>
                    <a:lstStyle/>
                    <a:p>
                      <a:r>
                        <a:rPr lang="en-GB" sz="1400" dirty="0"/>
                        <a:t>Tweets/day</a:t>
                      </a:r>
                    </a:p>
                  </a:txBody>
                  <a:tcPr/>
                </a:tc>
                <a:extLst>
                  <a:ext uri="{0D108BD9-81ED-4DB2-BD59-A6C34878D82A}">
                    <a16:rowId xmlns:a16="http://schemas.microsoft.com/office/drawing/2014/main" val="652157640"/>
                  </a:ext>
                </a:extLst>
              </a:tr>
              <a:tr h="2820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0453423</a:t>
                      </a:r>
                    </a:p>
                    <a:p>
                      <a:endParaRPr lang="en-GB" sz="1400" dirty="0"/>
                    </a:p>
                  </a:txBody>
                  <a:tcPr/>
                </a:tc>
                <a:tc>
                  <a:txBody>
                    <a:bodyPr/>
                    <a:lstStyle/>
                    <a:p>
                      <a:r>
                        <a:rPr lang="en-GB" sz="1400" dirty="0"/>
                        <a:t>2020-01-23</a:t>
                      </a:r>
                    </a:p>
                  </a:txBody>
                  <a:tcPr/>
                </a:tc>
                <a:tc>
                  <a:txBody>
                    <a:bodyPr/>
                    <a:lstStyle/>
                    <a:p>
                      <a:r>
                        <a:rPr lang="en-GB" sz="1400" dirty="0"/>
                        <a:t>London</a:t>
                      </a:r>
                    </a:p>
                  </a:txBody>
                  <a:tcPr/>
                </a:tc>
                <a:tc>
                  <a:txBody>
                    <a:bodyPr/>
                    <a:lstStyle/>
                    <a:p>
                      <a:r>
                        <a:rPr lang="en-GB" sz="1400" dirty="0"/>
                        <a:t>2.43</a:t>
                      </a:r>
                    </a:p>
                  </a:txBody>
                  <a:tcPr/>
                </a:tc>
                <a:extLst>
                  <a:ext uri="{0D108BD9-81ED-4DB2-BD59-A6C34878D82A}">
                    <a16:rowId xmlns:a16="http://schemas.microsoft.com/office/drawing/2014/main" val="1210096178"/>
                  </a:ext>
                </a:extLst>
              </a:tr>
              <a:tr h="282096">
                <a:tc>
                  <a:txBody>
                    <a:bodyPr/>
                    <a:lstStyle/>
                    <a:p>
                      <a:r>
                        <a:rPr lang="en-GB" sz="1400" dirty="0"/>
                        <a:t>0004235</a:t>
                      </a:r>
                    </a:p>
                  </a:txBody>
                  <a:tcPr/>
                </a:tc>
                <a:tc>
                  <a:txBody>
                    <a:bodyPr/>
                    <a:lstStyle/>
                    <a:p>
                      <a:r>
                        <a:rPr lang="en-GB" sz="1400" dirty="0"/>
                        <a:t>2012-02-10</a:t>
                      </a:r>
                    </a:p>
                  </a:txBody>
                  <a:tcPr/>
                </a:tc>
                <a:tc>
                  <a:txBody>
                    <a:bodyPr/>
                    <a:lstStyle/>
                    <a:p>
                      <a:r>
                        <a:rPr lang="en-GB" sz="1400" dirty="0"/>
                        <a:t>Scotland</a:t>
                      </a:r>
                    </a:p>
                  </a:txBody>
                  <a:tcPr/>
                </a:tc>
                <a:tc>
                  <a:txBody>
                    <a:bodyPr/>
                    <a:lstStyle/>
                    <a:p>
                      <a:r>
                        <a:rPr lang="en-GB" sz="1400" dirty="0"/>
                        <a:t>3.31</a:t>
                      </a:r>
                    </a:p>
                  </a:txBody>
                  <a:tcPr/>
                </a:tc>
                <a:extLst>
                  <a:ext uri="{0D108BD9-81ED-4DB2-BD59-A6C34878D82A}">
                    <a16:rowId xmlns:a16="http://schemas.microsoft.com/office/drawing/2014/main" val="977073742"/>
                  </a:ext>
                </a:extLst>
              </a:tr>
              <a:tr h="282096">
                <a:tc>
                  <a:txBody>
                    <a:bodyPr/>
                    <a:lstStyle/>
                    <a:p>
                      <a:r>
                        <a:rPr lang="en-GB" sz="1400" dirty="0"/>
                        <a:t>0025346</a:t>
                      </a:r>
                    </a:p>
                  </a:txBody>
                  <a:tcPr/>
                </a:tc>
                <a:tc>
                  <a:txBody>
                    <a:bodyPr/>
                    <a:lstStyle/>
                    <a:p>
                      <a:r>
                        <a:rPr lang="en-GB" sz="1400" dirty="0"/>
                        <a:t>2016-11-04</a:t>
                      </a:r>
                    </a:p>
                  </a:txBody>
                  <a:tcPr/>
                </a:tc>
                <a:tc>
                  <a:txBody>
                    <a:bodyPr/>
                    <a:lstStyle/>
                    <a:p>
                      <a:r>
                        <a:rPr lang="en-GB" sz="1400" dirty="0"/>
                        <a:t>USA</a:t>
                      </a:r>
                    </a:p>
                  </a:txBody>
                  <a:tcPr/>
                </a:tc>
                <a:tc>
                  <a:txBody>
                    <a:bodyPr/>
                    <a:lstStyle/>
                    <a:p>
                      <a:r>
                        <a:rPr lang="en-GB" sz="1400" dirty="0"/>
                        <a:t>0.16</a:t>
                      </a:r>
                    </a:p>
                  </a:txBody>
                  <a:tcPr/>
                </a:tc>
                <a:extLst>
                  <a:ext uri="{0D108BD9-81ED-4DB2-BD59-A6C34878D82A}">
                    <a16:rowId xmlns:a16="http://schemas.microsoft.com/office/drawing/2014/main" val="2565834958"/>
                  </a:ext>
                </a:extLst>
              </a:tr>
            </a:tbl>
          </a:graphicData>
        </a:graphic>
      </p:graphicFrame>
      <p:sp>
        <p:nvSpPr>
          <p:cNvPr id="10" name="TextBox 9">
            <a:extLst>
              <a:ext uri="{FF2B5EF4-FFF2-40B4-BE49-F238E27FC236}">
                <a16:creationId xmlns:a16="http://schemas.microsoft.com/office/drawing/2014/main" id="{44DD2CB3-9EA8-4E75-956A-8B697C18026A}"/>
              </a:ext>
            </a:extLst>
          </p:cNvPr>
          <p:cNvSpPr txBox="1"/>
          <p:nvPr/>
        </p:nvSpPr>
        <p:spPr>
          <a:xfrm>
            <a:off x="385011" y="4585131"/>
            <a:ext cx="1366787" cy="369332"/>
          </a:xfrm>
          <a:prstGeom prst="rect">
            <a:avLst/>
          </a:prstGeom>
          <a:noFill/>
        </p:spPr>
        <p:txBody>
          <a:bodyPr wrap="square" rtlCol="0">
            <a:spAutoFit/>
          </a:bodyPr>
          <a:lstStyle/>
          <a:p>
            <a:r>
              <a:rPr lang="en-GB" dirty="0"/>
              <a:t>Header row</a:t>
            </a:r>
          </a:p>
        </p:txBody>
      </p:sp>
      <p:sp>
        <p:nvSpPr>
          <p:cNvPr id="13" name="TextBox 12">
            <a:extLst>
              <a:ext uri="{FF2B5EF4-FFF2-40B4-BE49-F238E27FC236}">
                <a16:creationId xmlns:a16="http://schemas.microsoft.com/office/drawing/2014/main" id="{1E7D51D0-4150-4E20-A41E-FB70BF96A68A}"/>
              </a:ext>
            </a:extLst>
          </p:cNvPr>
          <p:cNvSpPr txBox="1"/>
          <p:nvPr/>
        </p:nvSpPr>
        <p:spPr>
          <a:xfrm>
            <a:off x="2832540" y="4182175"/>
            <a:ext cx="3108961" cy="369332"/>
          </a:xfrm>
          <a:prstGeom prst="rect">
            <a:avLst/>
          </a:prstGeom>
          <a:noFill/>
        </p:spPr>
        <p:txBody>
          <a:bodyPr wrap="square" rtlCol="0">
            <a:spAutoFit/>
          </a:bodyPr>
          <a:lstStyle/>
          <a:p>
            <a:r>
              <a:rPr lang="en-GB" dirty="0"/>
              <a:t>‘Attributes’ are columns</a:t>
            </a:r>
          </a:p>
        </p:txBody>
      </p:sp>
      <p:sp>
        <p:nvSpPr>
          <p:cNvPr id="14" name="TextBox 13">
            <a:extLst>
              <a:ext uri="{FF2B5EF4-FFF2-40B4-BE49-F238E27FC236}">
                <a16:creationId xmlns:a16="http://schemas.microsoft.com/office/drawing/2014/main" id="{BC3D5760-EE3C-4A41-ACFE-696924A182B3}"/>
              </a:ext>
            </a:extLst>
          </p:cNvPr>
          <p:cNvSpPr txBox="1"/>
          <p:nvPr/>
        </p:nvSpPr>
        <p:spPr>
          <a:xfrm>
            <a:off x="78160" y="5236143"/>
            <a:ext cx="1558135" cy="646331"/>
          </a:xfrm>
          <a:prstGeom prst="rect">
            <a:avLst/>
          </a:prstGeom>
          <a:noFill/>
        </p:spPr>
        <p:txBody>
          <a:bodyPr wrap="square" rtlCol="0">
            <a:spAutoFit/>
          </a:bodyPr>
          <a:lstStyle/>
          <a:p>
            <a:r>
              <a:rPr lang="en-GB" dirty="0"/>
              <a:t>‘Observations’ are rows</a:t>
            </a:r>
          </a:p>
        </p:txBody>
      </p:sp>
      <p:sp>
        <p:nvSpPr>
          <p:cNvPr id="16" name="TextBox 15">
            <a:extLst>
              <a:ext uri="{FF2B5EF4-FFF2-40B4-BE49-F238E27FC236}">
                <a16:creationId xmlns:a16="http://schemas.microsoft.com/office/drawing/2014/main" id="{D633DF40-B663-4257-A10B-FE42B45BE618}"/>
              </a:ext>
            </a:extLst>
          </p:cNvPr>
          <p:cNvSpPr txBox="1"/>
          <p:nvPr/>
        </p:nvSpPr>
        <p:spPr>
          <a:xfrm>
            <a:off x="8082932" y="4530917"/>
            <a:ext cx="2773090" cy="369332"/>
          </a:xfrm>
          <a:prstGeom prst="rect">
            <a:avLst/>
          </a:prstGeom>
          <a:noFill/>
        </p:spPr>
        <p:txBody>
          <a:bodyPr wrap="square" rtlCol="0">
            <a:spAutoFit/>
          </a:bodyPr>
          <a:lstStyle/>
          <a:p>
            <a:r>
              <a:rPr lang="en-GB" dirty="0"/>
              <a:t>Corresponding raw csv data</a:t>
            </a:r>
          </a:p>
        </p:txBody>
      </p:sp>
      <p:cxnSp>
        <p:nvCxnSpPr>
          <p:cNvPr id="19" name="Straight Arrow Connector 18">
            <a:extLst>
              <a:ext uri="{FF2B5EF4-FFF2-40B4-BE49-F238E27FC236}">
                <a16:creationId xmlns:a16="http://schemas.microsoft.com/office/drawing/2014/main" id="{A93FA90E-627F-48D9-9C02-7B4983CB6BF7}"/>
              </a:ext>
            </a:extLst>
          </p:cNvPr>
          <p:cNvCxnSpPr>
            <a:cxnSpLocks/>
          </p:cNvCxnSpPr>
          <p:nvPr/>
        </p:nvCxnSpPr>
        <p:spPr>
          <a:xfrm flipH="1">
            <a:off x="2832540" y="4517786"/>
            <a:ext cx="144379" cy="1172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234DBBB-54FA-4EB2-AB5B-9C811E53C7FB}"/>
              </a:ext>
            </a:extLst>
          </p:cNvPr>
          <p:cNvCxnSpPr>
            <a:cxnSpLocks/>
          </p:cNvCxnSpPr>
          <p:nvPr/>
        </p:nvCxnSpPr>
        <p:spPr>
          <a:xfrm flipH="1">
            <a:off x="3628724" y="4501596"/>
            <a:ext cx="115503" cy="150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C5CBC19-9B65-4A4B-B44F-D62B6C82DD0E}"/>
              </a:ext>
            </a:extLst>
          </p:cNvPr>
          <p:cNvCxnSpPr/>
          <p:nvPr/>
        </p:nvCxnSpPr>
        <p:spPr>
          <a:xfrm flipV="1">
            <a:off x="1366787" y="5188017"/>
            <a:ext cx="269508" cy="962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C8FD7802-8903-4C09-BA86-52063D7BF38E}"/>
              </a:ext>
            </a:extLst>
          </p:cNvPr>
          <p:cNvCxnSpPr>
            <a:cxnSpLocks/>
          </p:cNvCxnSpPr>
          <p:nvPr/>
        </p:nvCxnSpPr>
        <p:spPr>
          <a:xfrm>
            <a:off x="1337912" y="5565409"/>
            <a:ext cx="2983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8AC39514-BAF8-447D-9FA3-79FFADDDD5D1}"/>
              </a:ext>
            </a:extLst>
          </p:cNvPr>
          <p:cNvCxnSpPr/>
          <p:nvPr/>
        </p:nvCxnSpPr>
        <p:spPr>
          <a:xfrm>
            <a:off x="1366787" y="5832909"/>
            <a:ext cx="269508" cy="673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A27CA594-E3E7-4BAA-99D1-791F4C58BBAF}"/>
              </a:ext>
            </a:extLst>
          </p:cNvPr>
          <p:cNvCxnSpPr>
            <a:cxnSpLocks/>
          </p:cNvCxnSpPr>
          <p:nvPr/>
        </p:nvCxnSpPr>
        <p:spPr>
          <a:xfrm>
            <a:off x="4709466" y="4499015"/>
            <a:ext cx="72190" cy="153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0BF7B880-1888-452C-B922-E8BB61333210}"/>
              </a:ext>
            </a:extLst>
          </p:cNvPr>
          <p:cNvCxnSpPr>
            <a:cxnSpLocks/>
          </p:cNvCxnSpPr>
          <p:nvPr/>
        </p:nvCxnSpPr>
        <p:spPr>
          <a:xfrm>
            <a:off x="5505650" y="4482825"/>
            <a:ext cx="192505" cy="1521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E0FCBB63-08A8-4585-B28E-7D6E2EDD44D0}"/>
              </a:ext>
            </a:extLst>
          </p:cNvPr>
          <p:cNvPicPr>
            <a:picLocks noChangeAspect="1"/>
          </p:cNvPicPr>
          <p:nvPr/>
        </p:nvPicPr>
        <p:blipFill>
          <a:blip r:embed="rId3"/>
          <a:stretch>
            <a:fillRect/>
          </a:stretch>
        </p:blipFill>
        <p:spPr>
          <a:xfrm>
            <a:off x="6705600" y="4851638"/>
            <a:ext cx="5181600" cy="1143000"/>
          </a:xfrm>
          <a:prstGeom prst="rect">
            <a:avLst/>
          </a:prstGeom>
        </p:spPr>
      </p:pic>
    </p:spTree>
    <p:extLst>
      <p:ext uri="{BB962C8B-B14F-4D97-AF65-F5344CB8AC3E}">
        <p14:creationId xmlns:p14="http://schemas.microsoft.com/office/powerpoint/2010/main" val="2879733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24029-8AD7-4295-9227-ED8E18421A32}"/>
              </a:ext>
            </a:extLst>
          </p:cNvPr>
          <p:cNvSpPr>
            <a:spLocks noGrp="1"/>
          </p:cNvSpPr>
          <p:nvPr>
            <p:ph type="title"/>
          </p:nvPr>
        </p:nvSpPr>
        <p:spPr>
          <a:xfrm>
            <a:off x="592393" y="345024"/>
            <a:ext cx="10515600" cy="1325563"/>
          </a:xfrm>
        </p:spPr>
        <p:txBody>
          <a:bodyPr/>
          <a:lstStyle/>
          <a:p>
            <a:r>
              <a:rPr lang="en-GB" dirty="0">
                <a:highlight>
                  <a:srgbClr val="FFFF00"/>
                </a:highlight>
              </a:rPr>
              <a:t>Twitter data</a:t>
            </a:r>
            <a:br>
              <a:rPr lang="en-GB" dirty="0">
                <a:highlight>
                  <a:srgbClr val="FFFF00"/>
                </a:highlight>
              </a:rPr>
            </a:br>
            <a:r>
              <a:rPr lang="en-GB" dirty="0">
                <a:highlight>
                  <a:srgbClr val="FFFF00"/>
                </a:highlight>
              </a:rPr>
              <a:t>example</a:t>
            </a:r>
          </a:p>
        </p:txBody>
      </p:sp>
      <p:sp>
        <p:nvSpPr>
          <p:cNvPr id="3" name="Content Placeholder 2">
            <a:extLst>
              <a:ext uri="{FF2B5EF4-FFF2-40B4-BE49-F238E27FC236}">
                <a16:creationId xmlns:a16="http://schemas.microsoft.com/office/drawing/2014/main" id="{F6D838DA-5CA4-40CA-8C50-86E2FA107BF0}"/>
              </a:ext>
            </a:extLst>
          </p:cNvPr>
          <p:cNvSpPr>
            <a:spLocks noGrp="1"/>
          </p:cNvSpPr>
          <p:nvPr>
            <p:ph idx="1"/>
          </p:nvPr>
        </p:nvSpPr>
        <p:spPr>
          <a:xfrm>
            <a:off x="484240" y="2016432"/>
            <a:ext cx="4569542" cy="4351338"/>
          </a:xfrm>
        </p:spPr>
        <p:txBody>
          <a:bodyPr>
            <a:normAutofit fontScale="92500" lnSpcReduction="10000"/>
          </a:bodyPr>
          <a:lstStyle/>
          <a:p>
            <a:r>
              <a:rPr lang="en-GB" dirty="0"/>
              <a:t>To learn how to use Excel, we’re going to make use of data obtained from Twitter, showing every Tweet that mentioned beer and curry in 2020.</a:t>
            </a:r>
          </a:p>
          <a:p>
            <a:r>
              <a:rPr lang="en-GB" dirty="0"/>
              <a:t>In the data file, each row (i.e. observation) is a Tweet, and each column (i.e. attribute) gives information about the Tweet, such as the text, date and retweet count.</a:t>
            </a:r>
          </a:p>
        </p:txBody>
      </p:sp>
      <p:pic>
        <p:nvPicPr>
          <p:cNvPr id="4" name="Picture 3">
            <a:extLst>
              <a:ext uri="{FF2B5EF4-FFF2-40B4-BE49-F238E27FC236}">
                <a16:creationId xmlns:a16="http://schemas.microsoft.com/office/drawing/2014/main" id="{051CCEB6-3E64-43B4-A06A-E8E98331AFAE}"/>
              </a:ext>
            </a:extLst>
          </p:cNvPr>
          <p:cNvPicPr>
            <a:picLocks noChangeAspect="1"/>
          </p:cNvPicPr>
          <p:nvPr/>
        </p:nvPicPr>
        <p:blipFill rotWithShape="1">
          <a:blip r:embed="rId2"/>
          <a:srcRect l="5054" t="6596" r="38105" b="15087"/>
          <a:stretch/>
        </p:blipFill>
        <p:spPr>
          <a:xfrm>
            <a:off x="5299588" y="681037"/>
            <a:ext cx="6669882" cy="5169157"/>
          </a:xfrm>
          <a:prstGeom prst="rect">
            <a:avLst/>
          </a:prstGeom>
        </p:spPr>
      </p:pic>
    </p:spTree>
    <p:extLst>
      <p:ext uri="{BB962C8B-B14F-4D97-AF65-F5344CB8AC3E}">
        <p14:creationId xmlns:p14="http://schemas.microsoft.com/office/powerpoint/2010/main" val="11303034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BC09E-979A-43A9-8534-0C73616608EF}"/>
              </a:ext>
            </a:extLst>
          </p:cNvPr>
          <p:cNvSpPr>
            <a:spLocks noGrp="1"/>
          </p:cNvSpPr>
          <p:nvPr>
            <p:ph type="title"/>
          </p:nvPr>
        </p:nvSpPr>
        <p:spPr>
          <a:xfrm>
            <a:off x="750518" y="0"/>
            <a:ext cx="10515600" cy="1325563"/>
          </a:xfrm>
        </p:spPr>
        <p:txBody>
          <a:bodyPr/>
          <a:lstStyle/>
          <a:p>
            <a:r>
              <a:rPr lang="en-GB" dirty="0">
                <a:highlight>
                  <a:srgbClr val="FFFF00"/>
                </a:highlight>
              </a:rPr>
              <a:t>Using csv files</a:t>
            </a:r>
          </a:p>
        </p:txBody>
      </p:sp>
      <p:sp>
        <p:nvSpPr>
          <p:cNvPr id="3" name="Content Placeholder 2">
            <a:extLst>
              <a:ext uri="{FF2B5EF4-FFF2-40B4-BE49-F238E27FC236}">
                <a16:creationId xmlns:a16="http://schemas.microsoft.com/office/drawing/2014/main" id="{7CA000F8-33F7-4C77-955F-8033A5C80525}"/>
              </a:ext>
            </a:extLst>
          </p:cNvPr>
          <p:cNvSpPr>
            <a:spLocks noGrp="1"/>
          </p:cNvSpPr>
          <p:nvPr>
            <p:ph idx="1"/>
          </p:nvPr>
        </p:nvSpPr>
        <p:spPr>
          <a:xfrm>
            <a:off x="429929" y="1071563"/>
            <a:ext cx="5883188" cy="5363336"/>
          </a:xfrm>
        </p:spPr>
        <p:txBody>
          <a:bodyPr>
            <a:normAutofit fontScale="85000" lnSpcReduction="20000"/>
          </a:bodyPr>
          <a:lstStyle/>
          <a:p>
            <a:r>
              <a:rPr lang="en-GB" dirty="0"/>
              <a:t>You can open csv files in a text editor, but more usefully, you can also open them in a spreadsheet</a:t>
            </a:r>
          </a:p>
          <a:p>
            <a:pPr lvl="1"/>
            <a:r>
              <a:rPr lang="en-GB" dirty="0"/>
              <a:t>We’re going to use Microsoft Excel in this module (you can use the online app with your University login at </a:t>
            </a:r>
            <a:r>
              <a:rPr lang="en-GB" dirty="0">
                <a:hlinkClick r:id="rId3"/>
              </a:rPr>
              <a:t>www.office.com</a:t>
            </a:r>
            <a:r>
              <a:rPr lang="en-GB" dirty="0"/>
              <a:t>)</a:t>
            </a:r>
          </a:p>
          <a:p>
            <a:r>
              <a:rPr lang="en-GB" dirty="0"/>
              <a:t>Download ‘beer_and_curry.csv’ from Canvas and follow the instructions below</a:t>
            </a:r>
          </a:p>
          <a:p>
            <a:r>
              <a:rPr lang="en-GB" dirty="0"/>
              <a:t>Once you’ve opened the csv, the first thing you should do is resave it using:</a:t>
            </a:r>
          </a:p>
          <a:p>
            <a:pPr lvl="1"/>
            <a:r>
              <a:rPr lang="en-GB" dirty="0"/>
              <a:t>A different name so you can always retrieve the original data</a:t>
            </a:r>
          </a:p>
          <a:p>
            <a:pPr lvl="1"/>
            <a:r>
              <a:rPr lang="en-GB" dirty="0"/>
              <a:t>Excel Worksheet format (xlsx) so you won’t lose any analysis you do – because csv files only allow plain text, they can’t store things like plots</a:t>
            </a:r>
          </a:p>
          <a:p>
            <a:pPr lvl="1"/>
            <a:r>
              <a:rPr lang="en-GB" dirty="0"/>
              <a:t>Use ‘version control’ in file naming – each time you perform some work, give the file a new version number, so you can restore old versions if anything goes wrong (good practice with all files)</a:t>
            </a:r>
          </a:p>
          <a:p>
            <a:pPr lvl="1"/>
            <a:endParaRPr lang="en-GB" dirty="0"/>
          </a:p>
        </p:txBody>
      </p:sp>
      <p:pic>
        <p:nvPicPr>
          <p:cNvPr id="4" name="Picture 3">
            <a:extLst>
              <a:ext uri="{FF2B5EF4-FFF2-40B4-BE49-F238E27FC236}">
                <a16:creationId xmlns:a16="http://schemas.microsoft.com/office/drawing/2014/main" id="{294C6FD9-676D-4D7B-9305-C387C2FA1EDB}"/>
              </a:ext>
            </a:extLst>
          </p:cNvPr>
          <p:cNvPicPr>
            <a:picLocks noChangeAspect="1"/>
          </p:cNvPicPr>
          <p:nvPr/>
        </p:nvPicPr>
        <p:blipFill rotWithShape="1">
          <a:blip r:embed="rId4"/>
          <a:srcRect l="5054" t="6596" r="38105" b="15087"/>
          <a:stretch/>
        </p:blipFill>
        <p:spPr>
          <a:xfrm>
            <a:off x="6536241" y="429018"/>
            <a:ext cx="5225830" cy="4050017"/>
          </a:xfrm>
          <a:prstGeom prst="rect">
            <a:avLst/>
          </a:prstGeom>
        </p:spPr>
      </p:pic>
      <p:pic>
        <p:nvPicPr>
          <p:cNvPr id="5" name="Picture 4">
            <a:extLst>
              <a:ext uri="{FF2B5EF4-FFF2-40B4-BE49-F238E27FC236}">
                <a16:creationId xmlns:a16="http://schemas.microsoft.com/office/drawing/2014/main" id="{FB7D3B9A-BD4B-470E-86AD-4913CE2D4396}"/>
              </a:ext>
            </a:extLst>
          </p:cNvPr>
          <p:cNvPicPr>
            <a:picLocks noChangeAspect="1"/>
          </p:cNvPicPr>
          <p:nvPr/>
        </p:nvPicPr>
        <p:blipFill rotWithShape="1">
          <a:blip r:embed="rId5"/>
          <a:srcRect l="13105" t="7298" r="38105" b="23649"/>
          <a:stretch/>
        </p:blipFill>
        <p:spPr>
          <a:xfrm>
            <a:off x="7798815" y="2993664"/>
            <a:ext cx="4040258" cy="321651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00523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2B0EC-354E-4189-8981-CF1E68498CA8}"/>
              </a:ext>
            </a:extLst>
          </p:cNvPr>
          <p:cNvSpPr>
            <a:spLocks noGrp="1"/>
          </p:cNvSpPr>
          <p:nvPr>
            <p:ph type="title"/>
          </p:nvPr>
        </p:nvSpPr>
        <p:spPr>
          <a:xfrm>
            <a:off x="838200" y="365125"/>
            <a:ext cx="10515600" cy="1325563"/>
          </a:xfrm>
        </p:spPr>
        <p:txBody>
          <a:bodyPr/>
          <a:lstStyle/>
          <a:p>
            <a:r>
              <a:rPr lang="en-GB" dirty="0">
                <a:highlight>
                  <a:srgbClr val="FFFF00"/>
                </a:highlight>
              </a:rPr>
              <a:t>Getting started</a:t>
            </a:r>
          </a:p>
        </p:txBody>
      </p:sp>
      <p:sp>
        <p:nvSpPr>
          <p:cNvPr id="3" name="Content Placeholder 2">
            <a:extLst>
              <a:ext uri="{FF2B5EF4-FFF2-40B4-BE49-F238E27FC236}">
                <a16:creationId xmlns:a16="http://schemas.microsoft.com/office/drawing/2014/main" id="{D3583C89-F4F7-413A-9B36-109005FBE7A2}"/>
              </a:ext>
            </a:extLst>
          </p:cNvPr>
          <p:cNvSpPr>
            <a:spLocks noGrp="1"/>
          </p:cNvSpPr>
          <p:nvPr>
            <p:ph idx="1"/>
          </p:nvPr>
        </p:nvSpPr>
        <p:spPr>
          <a:xfrm>
            <a:off x="838200" y="1825625"/>
            <a:ext cx="5111663" cy="4351338"/>
          </a:xfrm>
        </p:spPr>
        <p:txBody>
          <a:bodyPr/>
          <a:lstStyle/>
          <a:p>
            <a:r>
              <a:rPr lang="en-GB" dirty="0"/>
              <a:t>Keep header row visible</a:t>
            </a:r>
          </a:p>
          <a:p>
            <a:pPr lvl="1"/>
            <a:r>
              <a:rPr lang="en-GB" dirty="0"/>
              <a:t>View &gt; Freeze Panes &gt; Freeze Top Row</a:t>
            </a:r>
          </a:p>
          <a:p>
            <a:r>
              <a:rPr lang="en-GB" dirty="0"/>
              <a:t>Stop cell heights from playing up</a:t>
            </a:r>
          </a:p>
          <a:p>
            <a:pPr lvl="1"/>
            <a:r>
              <a:rPr lang="en-GB" dirty="0"/>
              <a:t>Home &gt; Format &gt; Row Height &gt; 14</a:t>
            </a:r>
          </a:p>
          <a:p>
            <a:r>
              <a:rPr lang="en-GB" dirty="0"/>
              <a:t>Select data</a:t>
            </a:r>
          </a:p>
          <a:p>
            <a:pPr lvl="1"/>
            <a:r>
              <a:rPr lang="en-GB" dirty="0"/>
              <a:t>By column or row – click labels</a:t>
            </a:r>
          </a:p>
          <a:p>
            <a:pPr lvl="1"/>
            <a:r>
              <a:rPr lang="en-GB" dirty="0"/>
              <a:t>Specific cells – click and drag, or (ctrl)+</a:t>
            </a:r>
            <a:r>
              <a:rPr lang="en-GB" dirty="0" err="1"/>
              <a:t>shift+arrow</a:t>
            </a:r>
            <a:endParaRPr lang="en-GB" dirty="0"/>
          </a:p>
          <a:p>
            <a:endParaRPr lang="en-GB" dirty="0"/>
          </a:p>
        </p:txBody>
      </p:sp>
      <p:pic>
        <p:nvPicPr>
          <p:cNvPr id="4" name="Picture 3">
            <a:extLst>
              <a:ext uri="{FF2B5EF4-FFF2-40B4-BE49-F238E27FC236}">
                <a16:creationId xmlns:a16="http://schemas.microsoft.com/office/drawing/2014/main" id="{191A98C8-4C3C-4F72-8996-43CDF7D62ADE}"/>
              </a:ext>
            </a:extLst>
          </p:cNvPr>
          <p:cNvPicPr>
            <a:picLocks noChangeAspect="1"/>
          </p:cNvPicPr>
          <p:nvPr/>
        </p:nvPicPr>
        <p:blipFill rotWithShape="1">
          <a:blip r:embed="rId3"/>
          <a:srcRect l="64931" t="5324" r="4555" b="55616"/>
          <a:stretch/>
        </p:blipFill>
        <p:spPr>
          <a:xfrm>
            <a:off x="6300981" y="365125"/>
            <a:ext cx="3349937" cy="2412076"/>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25E38075-0162-4FD1-9A98-87CF85F30905}"/>
              </a:ext>
            </a:extLst>
          </p:cNvPr>
          <p:cNvPicPr>
            <a:picLocks noChangeAspect="1"/>
          </p:cNvPicPr>
          <p:nvPr/>
        </p:nvPicPr>
        <p:blipFill rotWithShape="1">
          <a:blip r:embed="rId4"/>
          <a:srcRect l="69485" t="8584" r="11337" b="62009"/>
          <a:stretch/>
        </p:blipFill>
        <p:spPr>
          <a:xfrm>
            <a:off x="8832939" y="2420654"/>
            <a:ext cx="2338194" cy="2016692"/>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829A2E04-23F1-4D21-A9C5-640B85779577}"/>
              </a:ext>
            </a:extLst>
          </p:cNvPr>
          <p:cNvPicPr>
            <a:picLocks noChangeAspect="1"/>
          </p:cNvPicPr>
          <p:nvPr/>
        </p:nvPicPr>
        <p:blipFill rotWithShape="1">
          <a:blip r:embed="rId5"/>
          <a:srcRect l="15887" t="24652" r="62286" b="35297"/>
          <a:stretch/>
        </p:blipFill>
        <p:spPr>
          <a:xfrm>
            <a:off x="6300981" y="3793983"/>
            <a:ext cx="2661145" cy="2746658"/>
          </a:xfrm>
          <a:prstGeom prst="rect">
            <a:avLst/>
          </a:prstGeom>
          <a:ln>
            <a:noFill/>
          </a:ln>
          <a:effectLst>
            <a:outerShdw blurRad="292100" dist="139700" dir="2700000" algn="tl" rotWithShape="0">
              <a:srgbClr val="333333">
                <a:alpha val="65000"/>
              </a:srgbClr>
            </a:outerShdw>
          </a:effectLst>
        </p:spPr>
      </p:pic>
      <p:sp>
        <p:nvSpPr>
          <p:cNvPr id="7" name="Oval 6">
            <a:extLst>
              <a:ext uri="{FF2B5EF4-FFF2-40B4-BE49-F238E27FC236}">
                <a16:creationId xmlns:a16="http://schemas.microsoft.com/office/drawing/2014/main" id="{FC5C5E6E-6721-40DB-8C3B-66CA524E9783}"/>
              </a:ext>
            </a:extLst>
          </p:cNvPr>
          <p:cNvSpPr/>
          <p:nvPr/>
        </p:nvSpPr>
        <p:spPr>
          <a:xfrm>
            <a:off x="6661517" y="938978"/>
            <a:ext cx="1263283" cy="457203"/>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92B49E16-02E7-4B8C-80B7-D0CF498582A5}"/>
              </a:ext>
            </a:extLst>
          </p:cNvPr>
          <p:cNvSpPr/>
          <p:nvPr/>
        </p:nvSpPr>
        <p:spPr>
          <a:xfrm>
            <a:off x="9147742" y="2346237"/>
            <a:ext cx="714013" cy="888576"/>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70C41AF7-1189-48B4-A5DE-17403AEF6A58}"/>
              </a:ext>
            </a:extLst>
          </p:cNvPr>
          <p:cNvSpPr/>
          <p:nvPr/>
        </p:nvSpPr>
        <p:spPr>
          <a:xfrm>
            <a:off x="6981790" y="3833725"/>
            <a:ext cx="1117060" cy="372795"/>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Arrow Connector 9">
            <a:extLst>
              <a:ext uri="{FF2B5EF4-FFF2-40B4-BE49-F238E27FC236}">
                <a16:creationId xmlns:a16="http://schemas.microsoft.com/office/drawing/2014/main" id="{106C43C6-DFF8-4213-8713-C7E3706337FB}"/>
              </a:ext>
            </a:extLst>
          </p:cNvPr>
          <p:cNvCxnSpPr>
            <a:cxnSpLocks/>
            <a:endCxn id="2" idx="2"/>
          </p:cNvCxnSpPr>
          <p:nvPr/>
        </p:nvCxnSpPr>
        <p:spPr>
          <a:xfrm flipV="1">
            <a:off x="4798142" y="1690688"/>
            <a:ext cx="1297858" cy="364984"/>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BC87EABD-EC94-4F25-B5CF-2EA792E415CB}"/>
              </a:ext>
            </a:extLst>
          </p:cNvPr>
          <p:cNvCxnSpPr>
            <a:cxnSpLocks/>
          </p:cNvCxnSpPr>
          <p:nvPr/>
        </p:nvCxnSpPr>
        <p:spPr>
          <a:xfrm flipV="1">
            <a:off x="5559033" y="3212981"/>
            <a:ext cx="3167224" cy="194078"/>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60F740DE-2EA6-4F48-90C5-2ED50BC618AE}"/>
              </a:ext>
            </a:extLst>
          </p:cNvPr>
          <p:cNvCxnSpPr>
            <a:cxnSpLocks/>
          </p:cNvCxnSpPr>
          <p:nvPr/>
        </p:nvCxnSpPr>
        <p:spPr>
          <a:xfrm flipV="1">
            <a:off x="3491690" y="4568921"/>
            <a:ext cx="2612904" cy="107429"/>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04476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1FCE9-800F-46FF-8093-891B22B7E58B}"/>
              </a:ext>
            </a:extLst>
          </p:cNvPr>
          <p:cNvSpPr>
            <a:spLocks noGrp="1"/>
          </p:cNvSpPr>
          <p:nvPr>
            <p:ph type="title"/>
          </p:nvPr>
        </p:nvSpPr>
        <p:spPr>
          <a:xfrm>
            <a:off x="609763" y="-17871"/>
            <a:ext cx="10515600" cy="1325563"/>
          </a:xfrm>
        </p:spPr>
        <p:txBody>
          <a:bodyPr/>
          <a:lstStyle/>
          <a:p>
            <a:r>
              <a:rPr lang="en-GB" dirty="0">
                <a:highlight>
                  <a:srgbClr val="FFFF00"/>
                </a:highlight>
              </a:rPr>
              <a:t>Basic operations</a:t>
            </a:r>
          </a:p>
        </p:txBody>
      </p:sp>
      <p:sp>
        <p:nvSpPr>
          <p:cNvPr id="3" name="Content Placeholder 2">
            <a:extLst>
              <a:ext uri="{FF2B5EF4-FFF2-40B4-BE49-F238E27FC236}">
                <a16:creationId xmlns:a16="http://schemas.microsoft.com/office/drawing/2014/main" id="{B7EDEE79-0645-45C3-8D7F-0E21C127667A}"/>
              </a:ext>
            </a:extLst>
          </p:cNvPr>
          <p:cNvSpPr>
            <a:spLocks noGrp="1"/>
          </p:cNvSpPr>
          <p:nvPr>
            <p:ph idx="1"/>
          </p:nvPr>
        </p:nvSpPr>
        <p:spPr>
          <a:xfrm>
            <a:off x="376177" y="1481970"/>
            <a:ext cx="5589788" cy="5069627"/>
          </a:xfrm>
        </p:spPr>
        <p:txBody>
          <a:bodyPr>
            <a:normAutofit fontScale="92500" lnSpcReduction="20000"/>
          </a:bodyPr>
          <a:lstStyle/>
          <a:p>
            <a:r>
              <a:rPr lang="en-GB" dirty="0"/>
              <a:t>Colouring cells can make the data easier to view and navigate</a:t>
            </a:r>
          </a:p>
          <a:p>
            <a:pPr lvl="1"/>
            <a:r>
              <a:rPr lang="en-GB" dirty="0"/>
              <a:t>To highlight selected cells:</a:t>
            </a:r>
            <a:br>
              <a:rPr lang="en-GB" dirty="0"/>
            </a:br>
            <a:r>
              <a:rPr lang="en-GB" dirty="0"/>
              <a:t>Home &gt; Cell </a:t>
            </a:r>
            <a:r>
              <a:rPr lang="en-GB" dirty="0" err="1"/>
              <a:t>Color</a:t>
            </a:r>
            <a:endParaRPr lang="en-GB" dirty="0"/>
          </a:p>
          <a:p>
            <a:pPr lvl="1"/>
            <a:r>
              <a:rPr lang="en-GB" dirty="0"/>
              <a:t>To highlight cells with specific properties:</a:t>
            </a:r>
            <a:br>
              <a:rPr lang="en-GB" dirty="0"/>
            </a:br>
            <a:r>
              <a:rPr lang="en-GB" dirty="0"/>
              <a:t>Home &gt; Conditional Formatting </a:t>
            </a:r>
          </a:p>
          <a:p>
            <a:r>
              <a:rPr lang="en-GB" dirty="0"/>
              <a:t>Put the data in order:</a:t>
            </a:r>
          </a:p>
          <a:p>
            <a:pPr lvl="1"/>
            <a:r>
              <a:rPr lang="en-GB" dirty="0"/>
              <a:t>Home &gt; Sort &amp; Filter &gt; Sort</a:t>
            </a:r>
            <a:br>
              <a:rPr lang="en-GB" dirty="0"/>
            </a:br>
            <a:r>
              <a:rPr lang="en-GB" dirty="0"/>
              <a:t>or: Data &gt; Sort</a:t>
            </a:r>
          </a:p>
          <a:p>
            <a:r>
              <a:rPr lang="en-GB" dirty="0"/>
              <a:t>Keep only data with specific properties:</a:t>
            </a:r>
          </a:p>
          <a:p>
            <a:pPr lvl="1"/>
            <a:r>
              <a:rPr lang="en-GB" dirty="0"/>
              <a:t>Home &gt; Sort &amp; Filter &gt; Filter</a:t>
            </a:r>
            <a:br>
              <a:rPr lang="en-GB" dirty="0"/>
            </a:br>
            <a:r>
              <a:rPr lang="en-GB" dirty="0"/>
              <a:t>or: Data &gt; Filter</a:t>
            </a:r>
          </a:p>
          <a:p>
            <a:pPr lvl="1"/>
            <a:r>
              <a:rPr lang="en-GB" b="1" dirty="0"/>
              <a:t>Be careful when working with filtered data!  To avoid confusion, you should copy the filtered data into a new worksheet as raw values.</a:t>
            </a:r>
          </a:p>
        </p:txBody>
      </p:sp>
      <p:pic>
        <p:nvPicPr>
          <p:cNvPr id="5" name="Picture 4">
            <a:extLst>
              <a:ext uri="{FF2B5EF4-FFF2-40B4-BE49-F238E27FC236}">
                <a16:creationId xmlns:a16="http://schemas.microsoft.com/office/drawing/2014/main" id="{CD99CE56-D481-4A70-9F4B-7D94F15D7878}"/>
              </a:ext>
            </a:extLst>
          </p:cNvPr>
          <p:cNvPicPr>
            <a:picLocks noChangeAspect="1"/>
          </p:cNvPicPr>
          <p:nvPr/>
        </p:nvPicPr>
        <p:blipFill rotWithShape="1">
          <a:blip r:embed="rId3"/>
          <a:srcRect l="19829" t="10959" r="32808" b="11241"/>
          <a:stretch/>
        </p:blipFill>
        <p:spPr>
          <a:xfrm>
            <a:off x="5997934" y="1068927"/>
            <a:ext cx="5714892" cy="5280502"/>
          </a:xfrm>
          <a:prstGeom prst="rect">
            <a:avLst/>
          </a:prstGeom>
        </p:spPr>
      </p:pic>
      <p:sp>
        <p:nvSpPr>
          <p:cNvPr id="6" name="Oval 5">
            <a:extLst>
              <a:ext uri="{FF2B5EF4-FFF2-40B4-BE49-F238E27FC236}">
                <a16:creationId xmlns:a16="http://schemas.microsoft.com/office/drawing/2014/main" id="{40D63AC9-6BF6-45DC-8B86-F6E0C8FB75F5}"/>
              </a:ext>
            </a:extLst>
          </p:cNvPr>
          <p:cNvSpPr/>
          <p:nvPr/>
        </p:nvSpPr>
        <p:spPr>
          <a:xfrm>
            <a:off x="11125363" y="1037278"/>
            <a:ext cx="619432" cy="889384"/>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CDB2C412-0130-4EBF-BB38-928DA1540E12}"/>
              </a:ext>
            </a:extLst>
          </p:cNvPr>
          <p:cNvSpPr/>
          <p:nvPr/>
        </p:nvSpPr>
        <p:spPr>
          <a:xfrm>
            <a:off x="8761974" y="1037278"/>
            <a:ext cx="1434078" cy="368735"/>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8364873B-E161-4D77-AF74-607696C4087D}"/>
              </a:ext>
            </a:extLst>
          </p:cNvPr>
          <p:cNvSpPr/>
          <p:nvPr/>
        </p:nvSpPr>
        <p:spPr>
          <a:xfrm>
            <a:off x="5879690" y="1406013"/>
            <a:ext cx="437550" cy="432619"/>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Arrow Connector 8">
            <a:extLst>
              <a:ext uri="{FF2B5EF4-FFF2-40B4-BE49-F238E27FC236}">
                <a16:creationId xmlns:a16="http://schemas.microsoft.com/office/drawing/2014/main" id="{CC817B90-9274-49BD-9827-A5EEB3565E45}"/>
              </a:ext>
            </a:extLst>
          </p:cNvPr>
          <p:cNvCxnSpPr>
            <a:cxnSpLocks/>
            <a:endCxn id="8" idx="2"/>
          </p:cNvCxnSpPr>
          <p:nvPr/>
        </p:nvCxnSpPr>
        <p:spPr>
          <a:xfrm flipV="1">
            <a:off x="4219470" y="1622323"/>
            <a:ext cx="1660220" cy="629264"/>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A7635D7-1B27-4F5A-8032-44BBEA81BCCD}"/>
              </a:ext>
            </a:extLst>
          </p:cNvPr>
          <p:cNvCxnSpPr>
            <a:cxnSpLocks/>
            <a:endCxn id="7" idx="2"/>
          </p:cNvCxnSpPr>
          <p:nvPr/>
        </p:nvCxnSpPr>
        <p:spPr>
          <a:xfrm flipV="1">
            <a:off x="5378245" y="1221646"/>
            <a:ext cx="3383729" cy="140356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9EE89B0-A20F-49F3-84FC-8BB6E4DA9D97}"/>
              </a:ext>
            </a:extLst>
          </p:cNvPr>
          <p:cNvCxnSpPr>
            <a:cxnSpLocks/>
          </p:cNvCxnSpPr>
          <p:nvPr/>
        </p:nvCxnSpPr>
        <p:spPr>
          <a:xfrm flipV="1">
            <a:off x="4807974" y="1622325"/>
            <a:ext cx="6317389" cy="214343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695FBC7-3A5F-456D-B556-03EBE03686B2}"/>
              </a:ext>
            </a:extLst>
          </p:cNvPr>
          <p:cNvCxnSpPr>
            <a:cxnSpLocks/>
          </p:cNvCxnSpPr>
          <p:nvPr/>
        </p:nvCxnSpPr>
        <p:spPr>
          <a:xfrm>
            <a:off x="5122606" y="6046839"/>
            <a:ext cx="2182762" cy="19012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BBA27D28-FEDF-482D-BD4B-E000B51E4019}"/>
              </a:ext>
            </a:extLst>
          </p:cNvPr>
          <p:cNvSpPr/>
          <p:nvPr/>
        </p:nvSpPr>
        <p:spPr>
          <a:xfrm>
            <a:off x="7305368" y="6046839"/>
            <a:ext cx="437550" cy="432619"/>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476158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701F0-49D3-40F7-9734-EAC9EDBCC5DE}"/>
              </a:ext>
            </a:extLst>
          </p:cNvPr>
          <p:cNvSpPr>
            <a:spLocks noGrp="1"/>
          </p:cNvSpPr>
          <p:nvPr>
            <p:ph type="title"/>
          </p:nvPr>
        </p:nvSpPr>
        <p:spPr>
          <a:xfrm>
            <a:off x="838200" y="365125"/>
            <a:ext cx="4313903" cy="1325563"/>
          </a:xfrm>
        </p:spPr>
        <p:txBody>
          <a:bodyPr/>
          <a:lstStyle/>
          <a:p>
            <a:r>
              <a:rPr lang="en-GB" dirty="0">
                <a:highlight>
                  <a:srgbClr val="FFFF00"/>
                </a:highlight>
              </a:rPr>
              <a:t>Data cleaning</a:t>
            </a:r>
          </a:p>
        </p:txBody>
      </p:sp>
      <p:sp>
        <p:nvSpPr>
          <p:cNvPr id="3" name="Content Placeholder 2">
            <a:extLst>
              <a:ext uri="{FF2B5EF4-FFF2-40B4-BE49-F238E27FC236}">
                <a16:creationId xmlns:a16="http://schemas.microsoft.com/office/drawing/2014/main" id="{C77C354A-1035-49E8-B019-284091A03CCD}"/>
              </a:ext>
            </a:extLst>
          </p:cNvPr>
          <p:cNvSpPr>
            <a:spLocks noGrp="1"/>
          </p:cNvSpPr>
          <p:nvPr>
            <p:ph idx="1"/>
          </p:nvPr>
        </p:nvSpPr>
        <p:spPr>
          <a:xfrm>
            <a:off x="838202" y="1825625"/>
            <a:ext cx="4225412" cy="4351338"/>
          </a:xfrm>
        </p:spPr>
        <p:txBody>
          <a:bodyPr>
            <a:normAutofit/>
          </a:bodyPr>
          <a:lstStyle/>
          <a:p>
            <a:r>
              <a:rPr lang="en-GB" dirty="0"/>
              <a:t>Highlight duplicates:</a:t>
            </a:r>
          </a:p>
          <a:p>
            <a:pPr marL="457200" lvl="1" indent="0">
              <a:buNone/>
            </a:pPr>
            <a:r>
              <a:rPr lang="en-GB" dirty="0"/>
              <a:t>Home &gt; Conditional Formatting &gt; Highlight Cells Rules &gt; Duplicates</a:t>
            </a:r>
          </a:p>
          <a:p>
            <a:r>
              <a:rPr lang="en-GB" dirty="0"/>
              <a:t>Remove duplicates:</a:t>
            </a:r>
          </a:p>
          <a:p>
            <a:pPr marL="457200" lvl="1" indent="0">
              <a:buNone/>
            </a:pPr>
            <a:r>
              <a:rPr lang="en-GB" dirty="0"/>
              <a:t>Data &gt; Remove Duplicates</a:t>
            </a:r>
          </a:p>
        </p:txBody>
      </p:sp>
      <p:pic>
        <p:nvPicPr>
          <p:cNvPr id="8" name="Picture 7">
            <a:extLst>
              <a:ext uri="{FF2B5EF4-FFF2-40B4-BE49-F238E27FC236}">
                <a16:creationId xmlns:a16="http://schemas.microsoft.com/office/drawing/2014/main" id="{E89B79D2-1F46-4630-88BF-C7C3B440092C}"/>
              </a:ext>
            </a:extLst>
          </p:cNvPr>
          <p:cNvPicPr>
            <a:picLocks noChangeAspect="1"/>
          </p:cNvPicPr>
          <p:nvPr/>
        </p:nvPicPr>
        <p:blipFill rotWithShape="1">
          <a:blip r:embed="rId2"/>
          <a:srcRect l="16885" t="29677" r="27580" b="9931"/>
          <a:stretch/>
        </p:blipFill>
        <p:spPr>
          <a:xfrm>
            <a:off x="5063614" y="1584299"/>
            <a:ext cx="6770738" cy="4141686"/>
          </a:xfrm>
          <a:prstGeom prst="rect">
            <a:avLst/>
          </a:prstGeom>
        </p:spPr>
      </p:pic>
    </p:spTree>
    <p:extLst>
      <p:ext uri="{BB962C8B-B14F-4D97-AF65-F5344CB8AC3E}">
        <p14:creationId xmlns:p14="http://schemas.microsoft.com/office/powerpoint/2010/main" val="1378461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02911-9136-4E4C-A072-A1A6680C0098}"/>
              </a:ext>
            </a:extLst>
          </p:cNvPr>
          <p:cNvSpPr>
            <a:spLocks noGrp="1"/>
          </p:cNvSpPr>
          <p:nvPr>
            <p:ph type="title"/>
          </p:nvPr>
        </p:nvSpPr>
        <p:spPr/>
        <p:txBody>
          <a:bodyPr/>
          <a:lstStyle/>
          <a:p>
            <a:r>
              <a:rPr lang="en-GB" dirty="0">
                <a:highlight>
                  <a:srgbClr val="FFFF00"/>
                </a:highlight>
              </a:rPr>
              <a:t>Functions</a:t>
            </a:r>
          </a:p>
        </p:txBody>
      </p:sp>
      <p:sp>
        <p:nvSpPr>
          <p:cNvPr id="3" name="Content Placeholder 2">
            <a:extLst>
              <a:ext uri="{FF2B5EF4-FFF2-40B4-BE49-F238E27FC236}">
                <a16:creationId xmlns:a16="http://schemas.microsoft.com/office/drawing/2014/main" id="{E104E89A-B608-471E-8DCF-6BA4B6BD9454}"/>
              </a:ext>
            </a:extLst>
          </p:cNvPr>
          <p:cNvSpPr>
            <a:spLocks noGrp="1"/>
          </p:cNvSpPr>
          <p:nvPr>
            <p:ph idx="1"/>
          </p:nvPr>
        </p:nvSpPr>
        <p:spPr>
          <a:xfrm>
            <a:off x="838201" y="1825625"/>
            <a:ext cx="6093541" cy="4351338"/>
          </a:xfrm>
        </p:spPr>
        <p:txBody>
          <a:bodyPr>
            <a:normAutofit fontScale="85000" lnSpcReduction="20000"/>
          </a:bodyPr>
          <a:lstStyle/>
          <a:p>
            <a:r>
              <a:rPr lang="en-GB" dirty="0"/>
              <a:t>‘Functions’ allow you to perform calculations on data</a:t>
            </a:r>
          </a:p>
          <a:p>
            <a:r>
              <a:rPr lang="en-GB" dirty="0"/>
              <a:t>E.g. To calculate the average number of retweets, we first select any blank cell and type </a:t>
            </a:r>
            <a:r>
              <a:rPr lang="en-GB" dirty="0">
                <a:latin typeface="Courier New" panose="02070309020205020404" pitchFamily="49" charset="0"/>
                <a:cs typeface="Courier New" panose="02070309020205020404" pitchFamily="49" charset="0"/>
              </a:rPr>
              <a:t>=AVERAGE() </a:t>
            </a:r>
          </a:p>
          <a:p>
            <a:pPr marL="457200" lvl="1" indent="0">
              <a:buNone/>
            </a:pPr>
            <a:r>
              <a:rPr lang="en-GB" dirty="0"/>
              <a:t>This will also be shown in the formula bar at the top</a:t>
            </a:r>
          </a:p>
          <a:p>
            <a:r>
              <a:rPr lang="en-GB" dirty="0"/>
              <a:t>With the text cursor inside the brackets we’ve just typed, we then select the data we want to average, and press enter</a:t>
            </a:r>
          </a:p>
          <a:p>
            <a:pPr marL="457200" lvl="1" indent="0">
              <a:buNone/>
            </a:pPr>
            <a:r>
              <a:rPr lang="en-GB" dirty="0"/>
              <a:t>This is called a ‘summary statistic’.  It summarises the data with a single number</a:t>
            </a:r>
          </a:p>
          <a:p>
            <a:r>
              <a:rPr lang="en-GB" dirty="0"/>
              <a:t>We can also calculate the standard deviation in a similar way, by using </a:t>
            </a:r>
            <a:r>
              <a:rPr lang="en-GB" dirty="0">
                <a:latin typeface="Courier New" panose="02070309020205020404" pitchFamily="49" charset="0"/>
                <a:cs typeface="Courier New" panose="02070309020205020404" pitchFamily="49" charset="0"/>
              </a:rPr>
              <a:t>=STDEV()</a:t>
            </a:r>
          </a:p>
          <a:p>
            <a:pPr marL="457200" lvl="1" indent="0">
              <a:buNone/>
            </a:pPr>
            <a:r>
              <a:rPr lang="en-GB" dirty="0"/>
              <a:t>The standard deviation tells us how spread out the data are – the bigger it is, the larger the spread</a:t>
            </a:r>
          </a:p>
        </p:txBody>
      </p:sp>
      <p:pic>
        <p:nvPicPr>
          <p:cNvPr id="4" name="Picture 3">
            <a:extLst>
              <a:ext uri="{FF2B5EF4-FFF2-40B4-BE49-F238E27FC236}">
                <a16:creationId xmlns:a16="http://schemas.microsoft.com/office/drawing/2014/main" id="{A41B88BD-3808-445D-A83C-0529CE24C8B1}"/>
              </a:ext>
            </a:extLst>
          </p:cNvPr>
          <p:cNvPicPr>
            <a:picLocks noChangeAspect="1"/>
          </p:cNvPicPr>
          <p:nvPr/>
        </p:nvPicPr>
        <p:blipFill rotWithShape="1">
          <a:blip r:embed="rId3"/>
          <a:srcRect l="44516" t="24652" r="37822" b="19713"/>
          <a:stretch/>
        </p:blipFill>
        <p:spPr>
          <a:xfrm>
            <a:off x="7688825" y="717295"/>
            <a:ext cx="3146323" cy="5574980"/>
          </a:xfrm>
          <a:prstGeom prst="rect">
            <a:avLst/>
          </a:prstGeom>
        </p:spPr>
      </p:pic>
      <p:sp>
        <p:nvSpPr>
          <p:cNvPr id="5" name="Oval 4">
            <a:extLst>
              <a:ext uri="{FF2B5EF4-FFF2-40B4-BE49-F238E27FC236}">
                <a16:creationId xmlns:a16="http://schemas.microsoft.com/office/drawing/2014/main" id="{457F1E95-2851-4201-8A2C-0AA374688251}"/>
              </a:ext>
            </a:extLst>
          </p:cNvPr>
          <p:cNvSpPr/>
          <p:nvPr/>
        </p:nvSpPr>
        <p:spPr>
          <a:xfrm>
            <a:off x="8554064" y="256510"/>
            <a:ext cx="2172929" cy="1247869"/>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Oval 5">
            <a:extLst>
              <a:ext uri="{FF2B5EF4-FFF2-40B4-BE49-F238E27FC236}">
                <a16:creationId xmlns:a16="http://schemas.microsoft.com/office/drawing/2014/main" id="{EE6952E6-661B-4477-9F49-4D0A1FC7D8AB}"/>
              </a:ext>
            </a:extLst>
          </p:cNvPr>
          <p:cNvSpPr/>
          <p:nvPr/>
        </p:nvSpPr>
        <p:spPr>
          <a:xfrm>
            <a:off x="7939548" y="5245006"/>
            <a:ext cx="2172929" cy="1247869"/>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34049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16566-12C3-A0E8-4B26-047F1B88103B}"/>
              </a:ext>
            </a:extLst>
          </p:cNvPr>
          <p:cNvSpPr>
            <a:spLocks noGrp="1"/>
          </p:cNvSpPr>
          <p:nvPr>
            <p:ph type="title"/>
          </p:nvPr>
        </p:nvSpPr>
        <p:spPr/>
        <p:txBody>
          <a:bodyPr/>
          <a:lstStyle/>
          <a:p>
            <a:r>
              <a:rPr lang="en-GB" dirty="0"/>
              <a:t>Exercise</a:t>
            </a:r>
          </a:p>
        </p:txBody>
      </p:sp>
      <p:sp>
        <p:nvSpPr>
          <p:cNvPr id="3" name="Content Placeholder 2">
            <a:extLst>
              <a:ext uri="{FF2B5EF4-FFF2-40B4-BE49-F238E27FC236}">
                <a16:creationId xmlns:a16="http://schemas.microsoft.com/office/drawing/2014/main" id="{FF4F9970-F015-9CBB-D42D-AB14A1368843}"/>
              </a:ext>
            </a:extLst>
          </p:cNvPr>
          <p:cNvSpPr>
            <a:spLocks noGrp="1"/>
          </p:cNvSpPr>
          <p:nvPr>
            <p:ph idx="1"/>
          </p:nvPr>
        </p:nvSpPr>
        <p:spPr/>
        <p:txBody>
          <a:bodyPr/>
          <a:lstStyle/>
          <a:p>
            <a:r>
              <a:rPr lang="en-GB" dirty="0"/>
              <a:t>Refer back to the 'scales of measurement' slide, and use this to identify what scale of measurement is represented by the </a:t>
            </a:r>
            <a:r>
              <a:rPr lang="en-GB" dirty="0" err="1"/>
              <a:t>retweet_count</a:t>
            </a:r>
            <a:r>
              <a:rPr lang="en-GB" dirty="0"/>
              <a:t> column</a:t>
            </a:r>
          </a:p>
          <a:p>
            <a:r>
              <a:rPr lang="en-GB" dirty="0"/>
              <a:t>With this in mind, apply a suitable function to it</a:t>
            </a:r>
          </a:p>
        </p:txBody>
      </p:sp>
    </p:spTree>
    <p:extLst>
      <p:ext uri="{BB962C8B-B14F-4D97-AF65-F5344CB8AC3E}">
        <p14:creationId xmlns:p14="http://schemas.microsoft.com/office/powerpoint/2010/main" val="20352780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002B34-E167-484D-924C-AFD1D151D6B6}"/>
              </a:ext>
            </a:extLst>
          </p:cNvPr>
          <p:cNvSpPr>
            <a:spLocks noGrp="1"/>
          </p:cNvSpPr>
          <p:nvPr>
            <p:ph type="title"/>
          </p:nvPr>
        </p:nvSpPr>
        <p:spPr/>
        <p:txBody>
          <a:bodyPr/>
          <a:lstStyle/>
          <a:p>
            <a:r>
              <a:rPr lang="en-GB" dirty="0">
                <a:highlight>
                  <a:srgbClr val="FFFF00"/>
                </a:highlight>
              </a:rPr>
              <a:t>Summing columns</a:t>
            </a:r>
          </a:p>
        </p:txBody>
      </p:sp>
      <p:sp>
        <p:nvSpPr>
          <p:cNvPr id="3" name="Content Placeholder 2">
            <a:extLst>
              <a:ext uri="{FF2B5EF4-FFF2-40B4-BE49-F238E27FC236}">
                <a16:creationId xmlns:a16="http://schemas.microsoft.com/office/drawing/2014/main" id="{9C476D9F-064F-425C-A492-B2C9BA1E7DFA}"/>
              </a:ext>
            </a:extLst>
          </p:cNvPr>
          <p:cNvSpPr>
            <a:spLocks noGrp="1"/>
          </p:cNvSpPr>
          <p:nvPr>
            <p:ph idx="1"/>
          </p:nvPr>
        </p:nvSpPr>
        <p:spPr>
          <a:xfrm>
            <a:off x="164875" y="1604630"/>
            <a:ext cx="6107431" cy="4568977"/>
          </a:xfrm>
        </p:spPr>
        <p:txBody>
          <a:bodyPr>
            <a:normAutofit fontScale="85000" lnSpcReduction="20000"/>
          </a:bodyPr>
          <a:lstStyle/>
          <a:p>
            <a:r>
              <a:rPr lang="en-GB" dirty="0"/>
              <a:t>We can do lots of other things with functions</a:t>
            </a:r>
          </a:p>
          <a:p>
            <a:r>
              <a:rPr lang="en-GB" dirty="0"/>
              <a:t>E.g. We can sum favourites and retweets to find the combined engagement count</a:t>
            </a:r>
          </a:p>
          <a:p>
            <a:pPr lvl="1"/>
            <a:r>
              <a:rPr lang="en-GB" dirty="0"/>
              <a:t>To do this, we first perform the calculation for a single row by typing the calculation into a blank cell in the same row</a:t>
            </a:r>
          </a:p>
          <a:p>
            <a:pPr lvl="1"/>
            <a:r>
              <a:rPr lang="en-GB" dirty="0"/>
              <a:t>We then copy and paste this into the corresponding cells for all other rows, and Excel will automatically perform the equivalent calculation for them</a:t>
            </a:r>
          </a:p>
          <a:p>
            <a:pPr marL="914400" lvl="2" indent="0">
              <a:buNone/>
            </a:pPr>
            <a:r>
              <a:rPr lang="en-GB" dirty="0"/>
              <a:t>Notice that the copied cell has a dashed line moving around it until you paste the formula into the other cells</a:t>
            </a:r>
          </a:p>
          <a:p>
            <a:pPr lvl="1"/>
            <a:r>
              <a:rPr lang="en-GB" dirty="0"/>
              <a:t>Once you’ve done this, if you click on any of the newly calculated cells, you’ll see they contain the formula, not just the result</a:t>
            </a:r>
          </a:p>
          <a:p>
            <a:pPr marL="914400" lvl="2" indent="0">
              <a:buNone/>
            </a:pPr>
            <a:r>
              <a:rPr lang="en-GB" dirty="0"/>
              <a:t>This means that if you make any changes to the original data, it will automatically update the calculated values</a:t>
            </a:r>
          </a:p>
        </p:txBody>
      </p:sp>
      <p:pic>
        <p:nvPicPr>
          <p:cNvPr id="4" name="Picture 3">
            <a:extLst>
              <a:ext uri="{FF2B5EF4-FFF2-40B4-BE49-F238E27FC236}">
                <a16:creationId xmlns:a16="http://schemas.microsoft.com/office/drawing/2014/main" id="{A1535880-E3A3-4C1F-B9E2-530D81F073EE}"/>
              </a:ext>
            </a:extLst>
          </p:cNvPr>
          <p:cNvPicPr>
            <a:picLocks noChangeAspect="1"/>
          </p:cNvPicPr>
          <p:nvPr/>
        </p:nvPicPr>
        <p:blipFill rotWithShape="1">
          <a:blip r:embed="rId2"/>
          <a:srcRect l="35403" t="22365" r="34678" b="55699"/>
          <a:stretch/>
        </p:blipFill>
        <p:spPr>
          <a:xfrm>
            <a:off x="7168941" y="727827"/>
            <a:ext cx="3647769" cy="1504336"/>
          </a:xfrm>
          <a:prstGeom prst="rect">
            <a:avLst/>
          </a:prstGeom>
          <a:ln>
            <a:noFill/>
          </a:ln>
          <a:effectLst>
            <a:outerShdw blurRad="292100" dist="139700" dir="2700000" algn="tl" rotWithShape="0">
              <a:srgbClr val="333333">
                <a:alpha val="65000"/>
              </a:srgbClr>
            </a:outerShdw>
          </a:effectLst>
        </p:spPr>
      </p:pic>
      <p:cxnSp>
        <p:nvCxnSpPr>
          <p:cNvPr id="5" name="Straight Arrow Connector 4">
            <a:extLst>
              <a:ext uri="{FF2B5EF4-FFF2-40B4-BE49-F238E27FC236}">
                <a16:creationId xmlns:a16="http://schemas.microsoft.com/office/drawing/2014/main" id="{92A620C6-6A73-4D72-B26F-691A4F3AC746}"/>
              </a:ext>
            </a:extLst>
          </p:cNvPr>
          <p:cNvCxnSpPr>
            <a:cxnSpLocks/>
          </p:cNvCxnSpPr>
          <p:nvPr/>
        </p:nvCxnSpPr>
        <p:spPr>
          <a:xfrm flipV="1">
            <a:off x="5997677" y="2201097"/>
            <a:ext cx="1139311" cy="671243"/>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BBC4310C-0EC1-423D-827B-3143D0A80BE2}"/>
              </a:ext>
            </a:extLst>
          </p:cNvPr>
          <p:cNvPicPr>
            <a:picLocks noChangeAspect="1"/>
          </p:cNvPicPr>
          <p:nvPr/>
        </p:nvPicPr>
        <p:blipFill rotWithShape="1">
          <a:blip r:embed="rId3"/>
          <a:srcRect l="43112" t="30537" r="35403" b="33989"/>
          <a:stretch/>
        </p:blipFill>
        <p:spPr>
          <a:xfrm>
            <a:off x="6737117" y="2742571"/>
            <a:ext cx="2598180" cy="2413058"/>
          </a:xfrm>
          <a:prstGeom prst="rect">
            <a:avLst/>
          </a:prstGeom>
          <a:ln>
            <a:noFill/>
          </a:ln>
          <a:effectLst>
            <a:outerShdw blurRad="292100" dist="139700" dir="2700000" algn="tl" rotWithShape="0">
              <a:srgbClr val="333333">
                <a:alpha val="65000"/>
              </a:srgbClr>
            </a:outerShdw>
          </a:effectLst>
        </p:spPr>
      </p:pic>
      <p:pic>
        <p:nvPicPr>
          <p:cNvPr id="8" name="Picture 7">
            <a:extLst>
              <a:ext uri="{FF2B5EF4-FFF2-40B4-BE49-F238E27FC236}">
                <a16:creationId xmlns:a16="http://schemas.microsoft.com/office/drawing/2014/main" id="{B35DC955-B604-486E-8807-04111B7C68ED}"/>
              </a:ext>
            </a:extLst>
          </p:cNvPr>
          <p:cNvPicPr>
            <a:picLocks noChangeAspect="1"/>
          </p:cNvPicPr>
          <p:nvPr/>
        </p:nvPicPr>
        <p:blipFill rotWithShape="1">
          <a:blip r:embed="rId4"/>
          <a:srcRect l="36371" t="22788" r="39596" b="40678"/>
          <a:stretch/>
        </p:blipFill>
        <p:spPr>
          <a:xfrm>
            <a:off x="8984221" y="3889119"/>
            <a:ext cx="2930013" cy="2505483"/>
          </a:xfrm>
          <a:prstGeom prst="rect">
            <a:avLst/>
          </a:prstGeom>
          <a:ln>
            <a:noFill/>
          </a:ln>
          <a:effectLst>
            <a:outerShdw blurRad="292100" dist="139700" dir="2700000" algn="tl" rotWithShape="0">
              <a:srgbClr val="333333">
                <a:alpha val="65000"/>
              </a:srgbClr>
            </a:outerShdw>
          </a:effectLst>
        </p:spPr>
      </p:pic>
      <p:cxnSp>
        <p:nvCxnSpPr>
          <p:cNvPr id="10" name="Straight Arrow Connector 9">
            <a:extLst>
              <a:ext uri="{FF2B5EF4-FFF2-40B4-BE49-F238E27FC236}">
                <a16:creationId xmlns:a16="http://schemas.microsoft.com/office/drawing/2014/main" id="{AEC75904-8B51-460D-9917-941F5794682C}"/>
              </a:ext>
            </a:extLst>
          </p:cNvPr>
          <p:cNvCxnSpPr>
            <a:cxnSpLocks/>
          </p:cNvCxnSpPr>
          <p:nvPr/>
        </p:nvCxnSpPr>
        <p:spPr>
          <a:xfrm>
            <a:off x="5820697" y="4262603"/>
            <a:ext cx="777218"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67E98EA8-3276-4311-B12B-D9C0062087C3}"/>
              </a:ext>
            </a:extLst>
          </p:cNvPr>
          <p:cNvSpPr/>
          <p:nvPr/>
        </p:nvSpPr>
        <p:spPr>
          <a:xfrm>
            <a:off x="7982427" y="2786602"/>
            <a:ext cx="888059" cy="742309"/>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a:extLst>
              <a:ext uri="{FF2B5EF4-FFF2-40B4-BE49-F238E27FC236}">
                <a16:creationId xmlns:a16="http://schemas.microsoft.com/office/drawing/2014/main" id="{B6965423-D302-4F48-8F08-3FA08BFFA5EA}"/>
              </a:ext>
            </a:extLst>
          </p:cNvPr>
          <p:cNvSpPr/>
          <p:nvPr/>
        </p:nvSpPr>
        <p:spPr>
          <a:xfrm>
            <a:off x="8757387" y="577755"/>
            <a:ext cx="1635310" cy="1247869"/>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6" name="Straight Arrow Connector 15">
            <a:extLst>
              <a:ext uri="{FF2B5EF4-FFF2-40B4-BE49-F238E27FC236}">
                <a16:creationId xmlns:a16="http://schemas.microsoft.com/office/drawing/2014/main" id="{DF24E53E-0568-4524-9B5B-242138626496}"/>
              </a:ext>
            </a:extLst>
          </p:cNvPr>
          <p:cNvCxnSpPr>
            <a:cxnSpLocks/>
          </p:cNvCxnSpPr>
          <p:nvPr/>
        </p:nvCxnSpPr>
        <p:spPr>
          <a:xfrm>
            <a:off x="6410632" y="5468519"/>
            <a:ext cx="2247104" cy="228587"/>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82F98C2D-05ED-4300-90BC-78C5C2227A16}"/>
              </a:ext>
            </a:extLst>
          </p:cNvPr>
          <p:cNvSpPr/>
          <p:nvPr/>
        </p:nvSpPr>
        <p:spPr>
          <a:xfrm>
            <a:off x="10412363" y="3783156"/>
            <a:ext cx="1551827" cy="1685363"/>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456010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72E3D-2E89-418E-B82D-22A48DCDB962}"/>
              </a:ext>
            </a:extLst>
          </p:cNvPr>
          <p:cNvSpPr>
            <a:spLocks noGrp="1"/>
          </p:cNvSpPr>
          <p:nvPr>
            <p:ph type="title"/>
          </p:nvPr>
        </p:nvSpPr>
        <p:spPr/>
        <p:txBody>
          <a:bodyPr/>
          <a:lstStyle/>
          <a:p>
            <a:r>
              <a:rPr lang="en-GB" dirty="0">
                <a:highlight>
                  <a:srgbClr val="FFFF00"/>
                </a:highlight>
              </a:rPr>
              <a:t>Selecting cells with keywords</a:t>
            </a:r>
          </a:p>
        </p:txBody>
      </p:sp>
      <p:sp>
        <p:nvSpPr>
          <p:cNvPr id="3" name="Content Placeholder 2">
            <a:extLst>
              <a:ext uri="{FF2B5EF4-FFF2-40B4-BE49-F238E27FC236}">
                <a16:creationId xmlns:a16="http://schemas.microsoft.com/office/drawing/2014/main" id="{01384E9F-9B6B-4283-B0F2-354190357887}"/>
              </a:ext>
            </a:extLst>
          </p:cNvPr>
          <p:cNvSpPr>
            <a:spLocks noGrp="1"/>
          </p:cNvSpPr>
          <p:nvPr>
            <p:ph idx="1"/>
          </p:nvPr>
        </p:nvSpPr>
        <p:spPr>
          <a:xfrm>
            <a:off x="838201" y="1825625"/>
            <a:ext cx="4559710" cy="4351338"/>
          </a:xfrm>
        </p:spPr>
        <p:txBody>
          <a:bodyPr>
            <a:normAutofit lnSpcReduction="10000"/>
          </a:bodyPr>
          <a:lstStyle/>
          <a:p>
            <a:r>
              <a:rPr lang="en-GB" dirty="0"/>
              <a:t>Use Filter and search for any keywords you want to select entries for, e.g. a specific location, username, or tweet content</a:t>
            </a:r>
          </a:p>
          <a:p>
            <a:r>
              <a:rPr lang="en-GB" dirty="0"/>
              <a:t>This can be useful to compare different categories within the data, e.g. do tweets from London get more engagement than tweets from other cities?</a:t>
            </a:r>
          </a:p>
        </p:txBody>
      </p:sp>
      <p:pic>
        <p:nvPicPr>
          <p:cNvPr id="8" name="Picture 7">
            <a:extLst>
              <a:ext uri="{FF2B5EF4-FFF2-40B4-BE49-F238E27FC236}">
                <a16:creationId xmlns:a16="http://schemas.microsoft.com/office/drawing/2014/main" id="{CE41278B-CEBA-4D7D-913B-87113D281988}"/>
              </a:ext>
            </a:extLst>
          </p:cNvPr>
          <p:cNvPicPr>
            <a:picLocks noChangeAspect="1"/>
          </p:cNvPicPr>
          <p:nvPr/>
        </p:nvPicPr>
        <p:blipFill rotWithShape="1">
          <a:blip r:embed="rId3"/>
          <a:srcRect l="15808" t="31398" r="34999" b="9931"/>
          <a:stretch/>
        </p:blipFill>
        <p:spPr>
          <a:xfrm>
            <a:off x="5899355" y="1884184"/>
            <a:ext cx="5997678" cy="4023698"/>
          </a:xfrm>
          <a:prstGeom prst="rect">
            <a:avLst/>
          </a:prstGeom>
        </p:spPr>
      </p:pic>
    </p:spTree>
    <p:extLst>
      <p:ext uri="{BB962C8B-B14F-4D97-AF65-F5344CB8AC3E}">
        <p14:creationId xmlns:p14="http://schemas.microsoft.com/office/powerpoint/2010/main" val="8207386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805E6B40-354B-41FF-9A6D-3D1FDD411786}"/>
              </a:ext>
            </a:extLst>
          </p:cNvPr>
          <p:cNvPicPr>
            <a:picLocks noChangeAspect="1"/>
          </p:cNvPicPr>
          <p:nvPr/>
        </p:nvPicPr>
        <p:blipFill>
          <a:blip r:embed="rId2"/>
          <a:stretch>
            <a:fillRect/>
          </a:stretch>
        </p:blipFill>
        <p:spPr>
          <a:xfrm>
            <a:off x="7236869" y="3429000"/>
            <a:ext cx="4200280" cy="2796081"/>
          </a:xfrm>
          <a:prstGeom prst="rect">
            <a:avLst/>
          </a:prstGeom>
        </p:spPr>
      </p:pic>
      <p:sp>
        <p:nvSpPr>
          <p:cNvPr id="2" name="Title 1">
            <a:extLst>
              <a:ext uri="{FF2B5EF4-FFF2-40B4-BE49-F238E27FC236}">
                <a16:creationId xmlns:a16="http://schemas.microsoft.com/office/drawing/2014/main" id="{104DD8E8-8DC5-44D3-BD40-A015F3B33DBC}"/>
              </a:ext>
            </a:extLst>
          </p:cNvPr>
          <p:cNvSpPr>
            <a:spLocks noGrp="1"/>
          </p:cNvSpPr>
          <p:nvPr>
            <p:ph type="title"/>
          </p:nvPr>
        </p:nvSpPr>
        <p:spPr/>
        <p:txBody>
          <a:bodyPr/>
          <a:lstStyle/>
          <a:p>
            <a:r>
              <a:rPr lang="en-GB" dirty="0">
                <a:highlight>
                  <a:srgbClr val="FFFF00"/>
                </a:highlight>
              </a:rPr>
              <a:t>Histograms</a:t>
            </a:r>
          </a:p>
        </p:txBody>
      </p:sp>
      <p:sp>
        <p:nvSpPr>
          <p:cNvPr id="3" name="Content Placeholder 2">
            <a:extLst>
              <a:ext uri="{FF2B5EF4-FFF2-40B4-BE49-F238E27FC236}">
                <a16:creationId xmlns:a16="http://schemas.microsoft.com/office/drawing/2014/main" id="{F7570108-A082-47E2-ADDA-EBE0412AD282}"/>
              </a:ext>
            </a:extLst>
          </p:cNvPr>
          <p:cNvSpPr>
            <a:spLocks noGrp="1"/>
          </p:cNvSpPr>
          <p:nvPr>
            <p:ph idx="1"/>
          </p:nvPr>
        </p:nvSpPr>
        <p:spPr>
          <a:xfrm>
            <a:off x="838199" y="1825625"/>
            <a:ext cx="5730075" cy="4351338"/>
          </a:xfrm>
        </p:spPr>
        <p:txBody>
          <a:bodyPr>
            <a:normAutofit fontScale="85000" lnSpcReduction="20000"/>
          </a:bodyPr>
          <a:lstStyle/>
          <a:p>
            <a:r>
              <a:rPr lang="en-GB" dirty="0"/>
              <a:t>Histograms tell us about properties of a single attribute (e.g. retweet count of each tweet, or number of tweets sent in different time periods)</a:t>
            </a:r>
          </a:p>
          <a:p>
            <a:pPr lvl="1"/>
            <a:r>
              <a:rPr lang="en-GB" dirty="0"/>
              <a:t>They count the frequency of data in different ranges, to show the ‘distribution’ or ‘spread’</a:t>
            </a:r>
          </a:p>
          <a:p>
            <a:r>
              <a:rPr lang="en-GB" dirty="0"/>
              <a:t>E.g. Select the date column and click Insert &gt; Charts &gt; Histogram</a:t>
            </a:r>
          </a:p>
          <a:p>
            <a:pPr lvl="1"/>
            <a:r>
              <a:rPr lang="en-GB" dirty="0"/>
              <a:t>You will see the number of tweets over different periods</a:t>
            </a:r>
          </a:p>
          <a:p>
            <a:pPr lvl="1"/>
            <a:r>
              <a:rPr lang="en-GB" dirty="0"/>
              <a:t>If you right-click the date axis, select Format Axis, and change ‘Bin width’ to 1, this will show the number of tweets each day</a:t>
            </a:r>
          </a:p>
          <a:p>
            <a:pPr lvl="1"/>
            <a:r>
              <a:rPr lang="en-GB" dirty="0"/>
              <a:t>Bin width is the data range that each bar is counting over, e.g. Bin width = 7 would count the number of tweets each week</a:t>
            </a:r>
          </a:p>
        </p:txBody>
      </p:sp>
      <p:pic>
        <p:nvPicPr>
          <p:cNvPr id="8" name="Picture 7">
            <a:extLst>
              <a:ext uri="{FF2B5EF4-FFF2-40B4-BE49-F238E27FC236}">
                <a16:creationId xmlns:a16="http://schemas.microsoft.com/office/drawing/2014/main" id="{AE0FC1DE-6C8B-4726-8FF4-17F590B5F43D}"/>
              </a:ext>
            </a:extLst>
          </p:cNvPr>
          <p:cNvPicPr>
            <a:picLocks noChangeAspect="1"/>
          </p:cNvPicPr>
          <p:nvPr/>
        </p:nvPicPr>
        <p:blipFill>
          <a:blip r:embed="rId3"/>
          <a:stretch>
            <a:fillRect/>
          </a:stretch>
        </p:blipFill>
        <p:spPr>
          <a:xfrm>
            <a:off x="7236870" y="471489"/>
            <a:ext cx="4200279" cy="2796080"/>
          </a:xfrm>
          <a:prstGeom prst="rect">
            <a:avLst/>
          </a:prstGeom>
        </p:spPr>
      </p:pic>
    </p:spTree>
    <p:extLst>
      <p:ext uri="{BB962C8B-B14F-4D97-AF65-F5344CB8AC3E}">
        <p14:creationId xmlns:p14="http://schemas.microsoft.com/office/powerpoint/2010/main" val="16557882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F8194-35FC-42EF-988B-E0C67B616B65}"/>
              </a:ext>
            </a:extLst>
          </p:cNvPr>
          <p:cNvSpPr>
            <a:spLocks noGrp="1"/>
          </p:cNvSpPr>
          <p:nvPr>
            <p:ph type="title"/>
          </p:nvPr>
        </p:nvSpPr>
        <p:spPr/>
        <p:txBody>
          <a:bodyPr/>
          <a:lstStyle/>
          <a:p>
            <a:r>
              <a:rPr lang="en-GB" dirty="0">
                <a:highlight>
                  <a:srgbClr val="FFFF00"/>
                </a:highlight>
              </a:rPr>
              <a:t>Scatter plots and linear regression</a:t>
            </a:r>
          </a:p>
        </p:txBody>
      </p:sp>
      <p:sp>
        <p:nvSpPr>
          <p:cNvPr id="3" name="Content Placeholder 2">
            <a:extLst>
              <a:ext uri="{FF2B5EF4-FFF2-40B4-BE49-F238E27FC236}">
                <a16:creationId xmlns:a16="http://schemas.microsoft.com/office/drawing/2014/main" id="{5B0ECC70-C51E-4ED2-A1D2-3F90E2A37260}"/>
              </a:ext>
            </a:extLst>
          </p:cNvPr>
          <p:cNvSpPr>
            <a:spLocks noGrp="1"/>
          </p:cNvSpPr>
          <p:nvPr>
            <p:ph idx="1"/>
          </p:nvPr>
        </p:nvSpPr>
        <p:spPr>
          <a:xfrm>
            <a:off x="511278" y="1484671"/>
            <a:ext cx="6341806" cy="5008204"/>
          </a:xfrm>
        </p:spPr>
        <p:txBody>
          <a:bodyPr>
            <a:normAutofit fontScale="77500" lnSpcReduction="20000"/>
          </a:bodyPr>
          <a:lstStyle/>
          <a:p>
            <a:r>
              <a:rPr lang="en-GB" dirty="0"/>
              <a:t>Scatter plots show the relationship between 2 attributes</a:t>
            </a:r>
          </a:p>
          <a:p>
            <a:r>
              <a:rPr lang="en-GB" dirty="0"/>
              <a:t>E.g. we can plot the number of favourites versus the number of retweets by selecting the two columns and clicking Insert &gt; Plot &gt; Scatter</a:t>
            </a:r>
          </a:p>
          <a:p>
            <a:r>
              <a:rPr lang="en-GB" dirty="0"/>
              <a:t>Each datapoint represents a single tweet.  Its horizontal position shows how many retweets it has, and its vertical position shows the number of times it was favourited.</a:t>
            </a:r>
          </a:p>
          <a:p>
            <a:r>
              <a:rPr lang="en-GB" dirty="0"/>
              <a:t>In this case, there is a small upward trend, which shows that in general, more retweets means more favourites (and vice versa).  This is called ‘positive correlation’, which we’ll discuss more in later weeks.</a:t>
            </a:r>
          </a:p>
          <a:p>
            <a:r>
              <a:rPr lang="en-GB" dirty="0"/>
              <a:t>We can quantify the strength of correlation by right- clicking the plot, adding a trend line, and selecting ‘Display R-squared value on chart’.  This gives a number between 0 and 1, where 1 shows complete correlation, and 0 shows no correlation at all.</a:t>
            </a:r>
          </a:p>
          <a:p>
            <a:endParaRPr lang="en-GB" dirty="0"/>
          </a:p>
          <a:p>
            <a:endParaRPr lang="en-GB" dirty="0"/>
          </a:p>
        </p:txBody>
      </p:sp>
      <p:pic>
        <p:nvPicPr>
          <p:cNvPr id="4" name="Picture 3">
            <a:extLst>
              <a:ext uri="{FF2B5EF4-FFF2-40B4-BE49-F238E27FC236}">
                <a16:creationId xmlns:a16="http://schemas.microsoft.com/office/drawing/2014/main" id="{F7092901-217D-496C-B8CB-E7C234FDEEFA}"/>
              </a:ext>
            </a:extLst>
          </p:cNvPr>
          <p:cNvPicPr>
            <a:picLocks noChangeAspect="1"/>
          </p:cNvPicPr>
          <p:nvPr/>
        </p:nvPicPr>
        <p:blipFill>
          <a:blip r:embed="rId2"/>
          <a:stretch>
            <a:fillRect/>
          </a:stretch>
        </p:blipFill>
        <p:spPr>
          <a:xfrm>
            <a:off x="6853083" y="1484671"/>
            <a:ext cx="5045651" cy="3032759"/>
          </a:xfrm>
          <a:prstGeom prst="rect">
            <a:avLst/>
          </a:prstGeom>
        </p:spPr>
      </p:pic>
      <p:sp>
        <p:nvSpPr>
          <p:cNvPr id="6" name="TextBox 5">
            <a:extLst>
              <a:ext uri="{FF2B5EF4-FFF2-40B4-BE49-F238E27FC236}">
                <a16:creationId xmlns:a16="http://schemas.microsoft.com/office/drawing/2014/main" id="{A56D0936-AFC4-02F7-99C5-2F8B119504E7}"/>
              </a:ext>
            </a:extLst>
          </p:cNvPr>
          <p:cNvSpPr txBox="1"/>
          <p:nvPr/>
        </p:nvSpPr>
        <p:spPr>
          <a:xfrm>
            <a:off x="6944779" y="4865497"/>
            <a:ext cx="4735943" cy="1107996"/>
          </a:xfrm>
          <a:prstGeom prst="rect">
            <a:avLst/>
          </a:prstGeom>
          <a:noFill/>
        </p:spPr>
        <p:txBody>
          <a:bodyPr wrap="square">
            <a:spAutoFit/>
          </a:bodyPr>
          <a:lstStyle/>
          <a:p>
            <a:r>
              <a:rPr lang="en-GB" sz="2200" dirty="0"/>
              <a:t>We will look more at plotting in Weeks 5 and 11. I also teach COMM740 Data Visualisation as a semester 2 option</a:t>
            </a:r>
          </a:p>
        </p:txBody>
      </p:sp>
    </p:spTree>
    <p:extLst>
      <p:ext uri="{BB962C8B-B14F-4D97-AF65-F5344CB8AC3E}">
        <p14:creationId xmlns:p14="http://schemas.microsoft.com/office/powerpoint/2010/main" val="38919313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4B307FB5-B85C-475F-A9F7-4A53FE855DE8}"/>
              </a:ext>
            </a:extLst>
          </p:cNvPr>
          <p:cNvPicPr>
            <a:picLocks noChangeAspect="1"/>
          </p:cNvPicPr>
          <p:nvPr/>
        </p:nvPicPr>
        <p:blipFill rotWithShape="1">
          <a:blip r:embed="rId3"/>
          <a:srcRect l="3397" t="13059" r="4515" b="3806"/>
          <a:stretch/>
        </p:blipFill>
        <p:spPr>
          <a:xfrm>
            <a:off x="6626942" y="4200000"/>
            <a:ext cx="3677266" cy="2290916"/>
          </a:xfrm>
          <a:prstGeom prst="rect">
            <a:avLst/>
          </a:prstGeom>
        </p:spPr>
      </p:pic>
      <p:sp>
        <p:nvSpPr>
          <p:cNvPr id="2" name="Title 1">
            <a:extLst>
              <a:ext uri="{FF2B5EF4-FFF2-40B4-BE49-F238E27FC236}">
                <a16:creationId xmlns:a16="http://schemas.microsoft.com/office/drawing/2014/main" id="{0E4626E0-A035-4DC4-9A7D-B55553173298}"/>
              </a:ext>
            </a:extLst>
          </p:cNvPr>
          <p:cNvSpPr>
            <a:spLocks noGrp="1"/>
          </p:cNvSpPr>
          <p:nvPr>
            <p:ph type="title"/>
          </p:nvPr>
        </p:nvSpPr>
        <p:spPr>
          <a:xfrm>
            <a:off x="838200" y="365125"/>
            <a:ext cx="6545826" cy="1325563"/>
          </a:xfrm>
        </p:spPr>
        <p:txBody>
          <a:bodyPr/>
          <a:lstStyle/>
          <a:p>
            <a:r>
              <a:rPr lang="en-GB" dirty="0">
                <a:highlight>
                  <a:srgbClr val="FFFF00"/>
                </a:highlight>
              </a:rPr>
              <a:t>Line plots, bar charts, pie charts and editing plots</a:t>
            </a:r>
          </a:p>
        </p:txBody>
      </p:sp>
      <p:sp>
        <p:nvSpPr>
          <p:cNvPr id="3" name="Content Placeholder 2">
            <a:extLst>
              <a:ext uri="{FF2B5EF4-FFF2-40B4-BE49-F238E27FC236}">
                <a16:creationId xmlns:a16="http://schemas.microsoft.com/office/drawing/2014/main" id="{541EE6C5-1799-4AF3-A220-84DD2038F461}"/>
              </a:ext>
            </a:extLst>
          </p:cNvPr>
          <p:cNvSpPr>
            <a:spLocks noGrp="1"/>
          </p:cNvSpPr>
          <p:nvPr>
            <p:ph idx="1"/>
          </p:nvPr>
        </p:nvSpPr>
        <p:spPr>
          <a:xfrm>
            <a:off x="489996" y="1825624"/>
            <a:ext cx="6215604" cy="4665291"/>
          </a:xfrm>
        </p:spPr>
        <p:txBody>
          <a:bodyPr>
            <a:normAutofit fontScale="70000" lnSpcReduction="20000"/>
          </a:bodyPr>
          <a:lstStyle/>
          <a:p>
            <a:r>
              <a:rPr lang="en-GB" dirty="0"/>
              <a:t>Line plots are a type of scatter plot where it makes sense to join up the data points with lines, e.g. plotting the number of favourites against date (shown here for users in London) – your data must be sorted ascendingly to avoid a zig-zagging line</a:t>
            </a:r>
          </a:p>
          <a:p>
            <a:r>
              <a:rPr lang="en-GB" dirty="0"/>
              <a:t>Bar charts show the value of one discrete (categorical) attribute against another, e.g. friend count for each user in Liverpool – see demo in class</a:t>
            </a:r>
          </a:p>
          <a:p>
            <a:r>
              <a:rPr lang="en-GB" dirty="0"/>
              <a:t>Pie charts show similar information to bar charts, but using proportions instead of totals</a:t>
            </a:r>
          </a:p>
          <a:p>
            <a:r>
              <a:rPr lang="en-GB" dirty="0"/>
              <a:t>You can change or add data to a plot by right-clicking on the plot and clicking Select Data…</a:t>
            </a:r>
          </a:p>
          <a:p>
            <a:pPr lvl="1"/>
            <a:r>
              <a:rPr lang="en-GB" dirty="0"/>
              <a:t>E.g. Show both favourites and retweets versus date on the same plot</a:t>
            </a:r>
          </a:p>
          <a:p>
            <a:r>
              <a:rPr lang="en-GB" dirty="0"/>
              <a:t>You can change the appearance of a plot by right-clicking on an element and selecting the option to Format {Element Name}…, e.g. colour of bars, rotation of axis labels</a:t>
            </a:r>
          </a:p>
          <a:p>
            <a:endParaRPr lang="en-GB" dirty="0"/>
          </a:p>
        </p:txBody>
      </p:sp>
      <p:pic>
        <p:nvPicPr>
          <p:cNvPr id="8" name="Picture 7">
            <a:extLst>
              <a:ext uri="{FF2B5EF4-FFF2-40B4-BE49-F238E27FC236}">
                <a16:creationId xmlns:a16="http://schemas.microsoft.com/office/drawing/2014/main" id="{0399506B-9658-41CD-AF7B-12A32DCCD942}"/>
              </a:ext>
            </a:extLst>
          </p:cNvPr>
          <p:cNvPicPr>
            <a:picLocks noChangeAspect="1"/>
          </p:cNvPicPr>
          <p:nvPr/>
        </p:nvPicPr>
        <p:blipFill>
          <a:blip r:embed="rId4"/>
          <a:stretch>
            <a:fillRect/>
          </a:stretch>
        </p:blipFill>
        <p:spPr>
          <a:xfrm>
            <a:off x="7384026" y="365125"/>
            <a:ext cx="4317978" cy="2566847"/>
          </a:xfrm>
          <a:prstGeom prst="rect">
            <a:avLst/>
          </a:prstGeom>
        </p:spPr>
      </p:pic>
      <p:pic>
        <p:nvPicPr>
          <p:cNvPr id="14" name="Picture 13">
            <a:extLst>
              <a:ext uri="{FF2B5EF4-FFF2-40B4-BE49-F238E27FC236}">
                <a16:creationId xmlns:a16="http://schemas.microsoft.com/office/drawing/2014/main" id="{BBEB4649-09D7-4873-87DF-70594D3C62EF}"/>
              </a:ext>
            </a:extLst>
          </p:cNvPr>
          <p:cNvPicPr>
            <a:picLocks noChangeAspect="1"/>
          </p:cNvPicPr>
          <p:nvPr/>
        </p:nvPicPr>
        <p:blipFill rotWithShape="1">
          <a:blip r:embed="rId5"/>
          <a:srcRect l="14118" t="11526" r="11020" b="4251"/>
          <a:stretch/>
        </p:blipFill>
        <p:spPr>
          <a:xfrm>
            <a:off x="9182760" y="3199271"/>
            <a:ext cx="2780483" cy="188021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0709049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ational Curry Week: From Jalfrezi to Katsu, Goat to Thai ...">
            <a:extLst>
              <a:ext uri="{FF2B5EF4-FFF2-40B4-BE49-F238E27FC236}">
                <a16:creationId xmlns:a16="http://schemas.microsoft.com/office/drawing/2014/main" id="{2BD1F806-A1E2-4933-93C5-6842AFEDE6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20330" y="2106440"/>
            <a:ext cx="3526825" cy="2645119"/>
          </a:xfrm>
          <a:prstGeom prst="rect">
            <a:avLst/>
          </a:prstGeom>
          <a:noFill/>
          <a:extLst>
            <a:ext uri="{909E8E84-426E-40DD-AFC4-6F175D3DCCD1}">
              <a14:hiddenFill xmlns:a14="http://schemas.microsoft.com/office/drawing/2010/main">
                <a:solidFill>
                  <a:srgbClr val="FFFFFF"/>
                </a:solidFill>
              </a14:hiddenFill>
            </a:ext>
          </a:extLst>
        </p:spPr>
      </p:pic>
      <p:sp>
        <p:nvSpPr>
          <p:cNvPr id="5" name="Title 4">
            <a:extLst>
              <a:ext uri="{FF2B5EF4-FFF2-40B4-BE49-F238E27FC236}">
                <a16:creationId xmlns:a16="http://schemas.microsoft.com/office/drawing/2014/main" id="{5BB5F21A-5B73-4A59-9870-BCD437CC85C7}"/>
              </a:ext>
            </a:extLst>
          </p:cNvPr>
          <p:cNvSpPr>
            <a:spLocks noGrp="1"/>
          </p:cNvSpPr>
          <p:nvPr>
            <p:ph type="title"/>
          </p:nvPr>
        </p:nvSpPr>
        <p:spPr>
          <a:xfrm>
            <a:off x="838199" y="239645"/>
            <a:ext cx="10515600" cy="1325563"/>
          </a:xfrm>
        </p:spPr>
        <p:txBody>
          <a:bodyPr/>
          <a:lstStyle/>
          <a:p>
            <a:r>
              <a:rPr lang="en-GB" dirty="0"/>
              <a:t>Exercises, using beer_AND_curry.csv</a:t>
            </a:r>
          </a:p>
        </p:txBody>
      </p:sp>
      <p:sp>
        <p:nvSpPr>
          <p:cNvPr id="4" name="Rectangle 3">
            <a:extLst>
              <a:ext uri="{FF2B5EF4-FFF2-40B4-BE49-F238E27FC236}">
                <a16:creationId xmlns:a16="http://schemas.microsoft.com/office/drawing/2014/main" id="{51153FBD-93F0-4C0F-AD13-8D82D2433ADA}"/>
              </a:ext>
            </a:extLst>
          </p:cNvPr>
          <p:cNvSpPr/>
          <p:nvPr/>
        </p:nvSpPr>
        <p:spPr>
          <a:xfrm>
            <a:off x="758686" y="1447709"/>
            <a:ext cx="7305151" cy="5170646"/>
          </a:xfrm>
          <a:prstGeom prst="rect">
            <a:avLst/>
          </a:prstGeom>
        </p:spPr>
        <p:txBody>
          <a:bodyPr wrap="square">
            <a:spAutoFit/>
          </a:bodyPr>
          <a:lstStyle/>
          <a:p>
            <a:pPr marL="514350" indent="-514350">
              <a:buFont typeface="+mj-lt"/>
              <a:buAutoNum type="arabicPeriod"/>
            </a:pPr>
            <a:r>
              <a:rPr lang="en-GB" sz="2200" dirty="0"/>
              <a:t>Which user had the most retweeted tweet?</a:t>
            </a:r>
          </a:p>
          <a:p>
            <a:pPr marL="514350" indent="-514350">
              <a:buFont typeface="+mj-lt"/>
              <a:buAutoNum type="arabicPeriod"/>
            </a:pPr>
            <a:r>
              <a:rPr lang="en-GB" sz="2200" dirty="0"/>
              <a:t>How many tweets came from Liverpool?</a:t>
            </a:r>
          </a:p>
          <a:p>
            <a:pPr marL="514350" indent="-514350">
              <a:buFont typeface="+mj-lt"/>
              <a:buAutoNum type="arabicPeriod"/>
            </a:pPr>
            <a:r>
              <a:rPr lang="en-GB" sz="2200" dirty="0"/>
              <a:t>How many tweets mentioned chips?</a:t>
            </a:r>
          </a:p>
          <a:p>
            <a:pPr marL="514350" indent="-514350">
              <a:buFont typeface="+mj-lt"/>
              <a:buAutoNum type="arabicPeriod"/>
            </a:pPr>
            <a:r>
              <a:rPr lang="en-GB" sz="2200" dirty="0"/>
              <a:t>Plot how many tweets were sent each week</a:t>
            </a:r>
          </a:p>
          <a:p>
            <a:pPr marL="514350" indent="-514350">
              <a:buFont typeface="+mj-lt"/>
              <a:buAutoNum type="arabicPeriod"/>
            </a:pPr>
            <a:r>
              <a:rPr lang="en-GB" sz="2200" dirty="0"/>
              <a:t>Plot how many tweets were sent in each hour of the day</a:t>
            </a:r>
          </a:p>
          <a:p>
            <a:pPr marL="514350" indent="-514350">
              <a:buFont typeface="+mj-lt"/>
              <a:buAutoNum type="arabicPeriod"/>
            </a:pPr>
            <a:r>
              <a:rPr lang="en-GB" sz="2200" dirty="0"/>
              <a:t>On average, how long had users been on Twitter when they tweeted about beer and curry?</a:t>
            </a:r>
          </a:p>
          <a:p>
            <a:pPr marL="514350" indent="-514350">
              <a:buFont typeface="+mj-lt"/>
              <a:buAutoNum type="arabicPeriod"/>
            </a:pPr>
            <a:r>
              <a:rPr lang="en-GB" sz="2200" dirty="0"/>
              <a:t>Repeat this, but just using tweets that mentioned bhajis.  Then repeat with just tweets that didn’t.  Compare these.</a:t>
            </a:r>
          </a:p>
          <a:p>
            <a:pPr marL="514350" indent="-514350">
              <a:buFont typeface="+mj-lt"/>
              <a:buAutoNum type="arabicPeriod"/>
            </a:pPr>
            <a:r>
              <a:rPr lang="en-GB" sz="2200" dirty="0"/>
              <a:t>Find the correlation between the number of retweets and how long users had been on Twitter</a:t>
            </a:r>
          </a:p>
          <a:p>
            <a:pPr marL="514350" indent="-514350">
              <a:buFont typeface="+mj-lt"/>
              <a:buAutoNum type="arabicPeriod"/>
            </a:pPr>
            <a:r>
              <a:rPr lang="en-GB" sz="2200" dirty="0"/>
              <a:t>Pick something you’re interested about in the data.  Try to come up with your own result and visualisation</a:t>
            </a:r>
          </a:p>
          <a:p>
            <a:pPr marL="514350" indent="-514350">
              <a:buFont typeface="+mj-lt"/>
              <a:buAutoNum type="arabicPeriod"/>
            </a:pPr>
            <a:r>
              <a:rPr lang="en-GB" sz="2200" dirty="0"/>
              <a:t>Search online for a csv file of social media data. Apply the same methods to answer similar questions for that data</a:t>
            </a:r>
          </a:p>
        </p:txBody>
      </p:sp>
    </p:spTree>
    <p:extLst>
      <p:ext uri="{BB962C8B-B14F-4D97-AF65-F5344CB8AC3E}">
        <p14:creationId xmlns:p14="http://schemas.microsoft.com/office/powerpoint/2010/main" val="31090389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AF740-6EA2-085C-40A3-8C804D738A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9672F1-0547-3825-CE61-683D2D36918C}"/>
              </a:ext>
            </a:extLst>
          </p:cNvPr>
          <p:cNvSpPr>
            <a:spLocks noGrp="1"/>
          </p:cNvSpPr>
          <p:nvPr>
            <p:ph type="title"/>
          </p:nvPr>
        </p:nvSpPr>
        <p:spPr/>
        <p:txBody>
          <a:bodyPr/>
          <a:lstStyle/>
          <a:p>
            <a:r>
              <a:rPr lang="en-GB" dirty="0"/>
              <a:t>Recap Learning Objectives – Week 1</a:t>
            </a:r>
          </a:p>
        </p:txBody>
      </p:sp>
      <p:sp>
        <p:nvSpPr>
          <p:cNvPr id="3" name="Content Placeholder 2">
            <a:extLst>
              <a:ext uri="{FF2B5EF4-FFF2-40B4-BE49-F238E27FC236}">
                <a16:creationId xmlns:a16="http://schemas.microsoft.com/office/drawing/2014/main" id="{A644A3A3-3232-9794-4A20-5F05E9979B06}"/>
              </a:ext>
            </a:extLst>
          </p:cNvPr>
          <p:cNvSpPr>
            <a:spLocks noGrp="1"/>
          </p:cNvSpPr>
          <p:nvPr>
            <p:ph idx="1"/>
          </p:nvPr>
        </p:nvSpPr>
        <p:spPr/>
        <p:txBody>
          <a:bodyPr/>
          <a:lstStyle/>
          <a:p>
            <a:r>
              <a:rPr lang="en-GB" dirty="0"/>
              <a:t>Know what data are, including different scales of measurement</a:t>
            </a:r>
          </a:p>
          <a:p>
            <a:r>
              <a:rPr lang="en-GB" dirty="0"/>
              <a:t>Know what is meant by data science, and the main stages of the data lifecycle</a:t>
            </a:r>
          </a:p>
          <a:p>
            <a:r>
              <a:rPr lang="en-GB" dirty="0">
                <a:highlight>
                  <a:srgbClr val="FFFF00"/>
                </a:highlight>
              </a:rPr>
              <a:t>Use spreadsheets to view data and perform basic analysis (flipped classroom!)</a:t>
            </a:r>
          </a:p>
        </p:txBody>
      </p:sp>
    </p:spTree>
    <p:extLst>
      <p:ext uri="{BB962C8B-B14F-4D97-AF65-F5344CB8AC3E}">
        <p14:creationId xmlns:p14="http://schemas.microsoft.com/office/powerpoint/2010/main" val="7806930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82460-5E53-487E-8795-4F8799C6CA94}"/>
              </a:ext>
            </a:extLst>
          </p:cNvPr>
          <p:cNvSpPr>
            <a:spLocks noGrp="1"/>
          </p:cNvSpPr>
          <p:nvPr>
            <p:ph type="title"/>
          </p:nvPr>
        </p:nvSpPr>
        <p:spPr/>
        <p:txBody>
          <a:bodyPr/>
          <a:lstStyle/>
          <a:p>
            <a:r>
              <a:rPr lang="en-GB" dirty="0"/>
              <a:t>Further Reading</a:t>
            </a:r>
          </a:p>
        </p:txBody>
      </p:sp>
      <p:sp>
        <p:nvSpPr>
          <p:cNvPr id="3" name="Content Placeholder 2">
            <a:extLst>
              <a:ext uri="{FF2B5EF4-FFF2-40B4-BE49-F238E27FC236}">
                <a16:creationId xmlns:a16="http://schemas.microsoft.com/office/drawing/2014/main" id="{F389FFA9-6C72-4E91-9D22-8D9A91F4F602}"/>
              </a:ext>
            </a:extLst>
          </p:cNvPr>
          <p:cNvSpPr>
            <a:spLocks noGrp="1"/>
          </p:cNvSpPr>
          <p:nvPr>
            <p:ph idx="1"/>
          </p:nvPr>
        </p:nvSpPr>
        <p:spPr/>
        <p:txBody>
          <a:bodyPr>
            <a:normAutofit fontScale="77500" lnSpcReduction="20000"/>
          </a:bodyPr>
          <a:lstStyle/>
          <a:p>
            <a:r>
              <a:rPr lang="en-GB" dirty="0"/>
              <a:t>Background to the internet</a:t>
            </a:r>
          </a:p>
          <a:p>
            <a:pPr lvl="1"/>
            <a:r>
              <a:rPr lang="en-GB" dirty="0">
                <a:hlinkClick r:id="rId2"/>
              </a:rPr>
              <a:t>https://www.theguardian.com/technology/2018/oct/22/what-is-the-internet-13-key-questions-answered</a:t>
            </a:r>
            <a:endParaRPr lang="en-GB" dirty="0"/>
          </a:p>
          <a:p>
            <a:pPr lvl="1"/>
            <a:r>
              <a:rPr lang="en-GB" dirty="0">
                <a:hlinkClick r:id="rId3"/>
              </a:rPr>
              <a:t>https://hostingfacts.com/news/internet-facts-stats/</a:t>
            </a:r>
          </a:p>
          <a:p>
            <a:r>
              <a:rPr lang="en-GB" dirty="0"/>
              <a:t>Data ethics</a:t>
            </a:r>
            <a:br>
              <a:rPr lang="en-GB" dirty="0"/>
            </a:br>
            <a:r>
              <a:rPr lang="en-GB" dirty="0">
                <a:hlinkClick r:id="rId4"/>
              </a:rPr>
              <a:t>https://news.mit.edu/2020/seeing-values-behind-numbers-data-action-1208</a:t>
            </a:r>
            <a:r>
              <a:rPr lang="en-GB" dirty="0"/>
              <a:t> </a:t>
            </a:r>
          </a:p>
          <a:p>
            <a:r>
              <a:rPr lang="en-GB" dirty="0"/>
              <a:t>Data journalism</a:t>
            </a:r>
            <a:br>
              <a:rPr lang="en-GB" dirty="0"/>
            </a:br>
            <a:r>
              <a:rPr lang="en-GB" dirty="0">
                <a:hlinkClick r:id="rId5"/>
              </a:rPr>
              <a:t>https://datajournalism.com/</a:t>
            </a:r>
            <a:endParaRPr lang="en-GB" dirty="0"/>
          </a:p>
          <a:p>
            <a:r>
              <a:rPr lang="en-GB" dirty="0"/>
              <a:t>Excel training</a:t>
            </a:r>
            <a:br>
              <a:rPr lang="en-GB" dirty="0"/>
            </a:br>
            <a:r>
              <a:rPr lang="en-GB" dirty="0">
                <a:hlinkClick r:id="rId6"/>
              </a:rPr>
              <a:t>https://support.microsoft.com/en-gb/office/excel-video-training-9bc05390-e94c-46af-a5b3-d7c22f6990bb</a:t>
            </a:r>
            <a:endParaRPr lang="en-GB" dirty="0"/>
          </a:p>
          <a:p>
            <a:r>
              <a:rPr lang="en-GB" dirty="0"/>
              <a:t>Basic statistics</a:t>
            </a:r>
          </a:p>
          <a:p>
            <a:pPr lvl="1"/>
            <a:r>
              <a:rPr lang="en-GB" dirty="0">
                <a:hlinkClick r:id="rId7"/>
              </a:rPr>
              <a:t>https://www.bbc.co.uk/bitesize/topics/znjqtfr</a:t>
            </a:r>
            <a:endParaRPr lang="en-GB" dirty="0"/>
          </a:p>
          <a:p>
            <a:pPr lvl="1"/>
            <a:r>
              <a:rPr lang="en-GB" dirty="0">
                <a:hlinkClick r:id="rId8"/>
              </a:rPr>
              <a:t>https://www.bbc.co.uk/bitesize/guides/znhsgk7</a:t>
            </a:r>
            <a:endParaRPr lang="en-GB" dirty="0"/>
          </a:p>
          <a:p>
            <a:pPr lvl="1"/>
            <a:r>
              <a:rPr lang="en-GB" u="sng" dirty="0">
                <a:hlinkClick r:id="rId9"/>
              </a:rPr>
              <a:t>https://www.bbc.co.uk/bitesize/topics/ztwx4j6</a:t>
            </a:r>
            <a:endParaRPr lang="en-GB" dirty="0"/>
          </a:p>
          <a:p>
            <a:endParaRPr lang="en-GB" dirty="0"/>
          </a:p>
        </p:txBody>
      </p:sp>
    </p:spTree>
    <p:extLst>
      <p:ext uri="{BB962C8B-B14F-4D97-AF65-F5344CB8AC3E}">
        <p14:creationId xmlns:p14="http://schemas.microsoft.com/office/powerpoint/2010/main" val="26750404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2433</TotalTime>
  <Words>4132</Words>
  <Application>Microsoft Office PowerPoint</Application>
  <PresentationFormat>Widescreen</PresentationFormat>
  <Paragraphs>384</Paragraphs>
  <Slides>34</Slides>
  <Notes>18</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40" baseType="lpstr">
      <vt:lpstr>Arial</vt:lpstr>
      <vt:lpstr>Calibri</vt:lpstr>
      <vt:lpstr>Calibri Light</vt:lpstr>
      <vt:lpstr>Courier New</vt:lpstr>
      <vt:lpstr>Office Theme</vt:lpstr>
      <vt:lpstr>Worksheet</vt:lpstr>
      <vt:lpstr>Week 1 Introduction to Data Science – Data and Spreadsheets</vt:lpstr>
      <vt:lpstr>Module lecturers</vt:lpstr>
      <vt:lpstr>Introduction to Data Science Module Overview</vt:lpstr>
      <vt:lpstr>Assessment</vt:lpstr>
      <vt:lpstr>Module Approach</vt:lpstr>
      <vt:lpstr>Generative artificial intelligence</vt:lpstr>
      <vt:lpstr>Changes in response to student feedback</vt:lpstr>
      <vt:lpstr>Learning Objectives – Week 1</vt:lpstr>
      <vt:lpstr>Key aspects of data science for communication</vt:lpstr>
      <vt:lpstr>What are data?  Where do they come from?</vt:lpstr>
      <vt:lpstr>What is Data Science?</vt:lpstr>
      <vt:lpstr>The Data Lifecycle</vt:lpstr>
      <vt:lpstr>Data in communication</vt:lpstr>
      <vt:lpstr>Ethical considerations with data</vt:lpstr>
      <vt:lpstr>Scales of measurement</vt:lpstr>
      <vt:lpstr>Exercise</vt:lpstr>
      <vt:lpstr>Data collection terminology</vt:lpstr>
      <vt:lpstr>Flipped classroom!</vt:lpstr>
      <vt:lpstr>Data formats and csv files</vt:lpstr>
      <vt:lpstr>Twitter data example</vt:lpstr>
      <vt:lpstr>Using csv files</vt:lpstr>
      <vt:lpstr>Getting started</vt:lpstr>
      <vt:lpstr>Basic operations</vt:lpstr>
      <vt:lpstr>Data cleaning</vt:lpstr>
      <vt:lpstr>Functions</vt:lpstr>
      <vt:lpstr>Exercise</vt:lpstr>
      <vt:lpstr>Summing columns</vt:lpstr>
      <vt:lpstr>Selecting cells with keywords</vt:lpstr>
      <vt:lpstr>Histograms</vt:lpstr>
      <vt:lpstr>Scatter plots and linear regression</vt:lpstr>
      <vt:lpstr>Line plots, bar charts, pie charts and editing plots</vt:lpstr>
      <vt:lpstr>Exercises, using beer_AND_curry.csv</vt:lpstr>
      <vt:lpstr>Recap Learning Objectives – Week 1</vt:lpstr>
      <vt:lpstr>Further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Data from Social Media Week 1 - </dc:title>
  <dc:creator>Pogson, Mark</dc:creator>
  <cp:lastModifiedBy>Pogson, Mark</cp:lastModifiedBy>
  <cp:revision>1077</cp:revision>
  <dcterms:created xsi:type="dcterms:W3CDTF">2020-12-07T18:38:15Z</dcterms:created>
  <dcterms:modified xsi:type="dcterms:W3CDTF">2026-09-21T11:01:25Z</dcterms:modified>
</cp:coreProperties>
</file>