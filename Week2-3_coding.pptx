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75" r:id="rId4"/>
    <p:sldId id="295" r:id="rId5"/>
    <p:sldId id="276" r:id="rId6"/>
    <p:sldId id="277" r:id="rId7"/>
    <p:sldId id="278" r:id="rId8"/>
    <p:sldId id="279" r:id="rId9"/>
    <p:sldId id="280" r:id="rId10"/>
    <p:sldId id="281" r:id="rId11"/>
    <p:sldId id="283" r:id="rId12"/>
    <p:sldId id="294" r:id="rId13"/>
    <p:sldId id="284" r:id="rId14"/>
    <p:sldId id="285" r:id="rId15"/>
    <p:sldId id="286" r:id="rId16"/>
    <p:sldId id="287" r:id="rId17"/>
    <p:sldId id="288" r:id="rId18"/>
    <p:sldId id="289" r:id="rId19"/>
    <p:sldId id="292" r:id="rId20"/>
    <p:sldId id="293" r:id="rId21"/>
    <p:sldId id="290" r:id="rId22"/>
    <p:sldId id="296" r:id="rId23"/>
    <p:sldId id="29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94660"/>
  </p:normalViewPr>
  <p:slideViewPr>
    <p:cSldViewPr snapToGrid="0">
      <p:cViewPr varScale="1">
        <p:scale>
          <a:sx n="105" d="100"/>
          <a:sy n="105"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51DC1E-1DFF-48AC-9595-5BCB1999C240}" type="datetimeFigureOut">
              <a:rPr lang="en-GB" smtClean="0"/>
              <a:t>12/09/2025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EBA6F9-43EF-4091-A434-B74F3EF5A56D}" type="slidenum">
              <a:rPr lang="en-GB" smtClean="0"/>
              <a:t>‹#›</a:t>
            </a:fld>
            <a:endParaRPr lang="en-GB"/>
          </a:p>
        </p:txBody>
      </p:sp>
    </p:spTree>
    <p:extLst>
      <p:ext uri="{BB962C8B-B14F-4D97-AF65-F5344CB8AC3E}">
        <p14:creationId xmlns:p14="http://schemas.microsoft.com/office/powerpoint/2010/main" val="471509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2</a:t>
            </a:fld>
            <a:endParaRPr lang="en-GB"/>
          </a:p>
        </p:txBody>
      </p:sp>
    </p:spTree>
    <p:extLst>
      <p:ext uri="{BB962C8B-B14F-4D97-AF65-F5344CB8AC3E}">
        <p14:creationId xmlns:p14="http://schemas.microsoft.com/office/powerpoint/2010/main" val="2948046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3</a:t>
            </a:fld>
            <a:endParaRPr lang="en-GB"/>
          </a:p>
        </p:txBody>
      </p:sp>
    </p:spTree>
    <p:extLst>
      <p:ext uri="{BB962C8B-B14F-4D97-AF65-F5344CB8AC3E}">
        <p14:creationId xmlns:p14="http://schemas.microsoft.com/office/powerpoint/2010/main" val="2194925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7</a:t>
            </a:fld>
            <a:endParaRPr lang="en-GB"/>
          </a:p>
        </p:txBody>
      </p:sp>
    </p:spTree>
    <p:extLst>
      <p:ext uri="{BB962C8B-B14F-4D97-AF65-F5344CB8AC3E}">
        <p14:creationId xmlns:p14="http://schemas.microsoft.com/office/powerpoint/2010/main" val="2548358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8</a:t>
            </a:fld>
            <a:endParaRPr lang="en-GB"/>
          </a:p>
        </p:txBody>
      </p:sp>
    </p:spTree>
    <p:extLst>
      <p:ext uri="{BB962C8B-B14F-4D97-AF65-F5344CB8AC3E}">
        <p14:creationId xmlns:p14="http://schemas.microsoft.com/office/powerpoint/2010/main" val="2490133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10</a:t>
            </a:fld>
            <a:endParaRPr lang="en-GB"/>
          </a:p>
        </p:txBody>
      </p:sp>
    </p:spTree>
    <p:extLst>
      <p:ext uri="{BB962C8B-B14F-4D97-AF65-F5344CB8AC3E}">
        <p14:creationId xmlns:p14="http://schemas.microsoft.com/office/powerpoint/2010/main" val="570013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7E128-C681-1B95-63C1-1AC0633776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E895CF-C09F-58E6-FBB7-4F2063F5E4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DF0DE-C948-6AE4-A832-27FEC3FB4B9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0866ADD-8C8E-695A-EB04-E6569D2DEABC}"/>
              </a:ext>
            </a:extLst>
          </p:cNvPr>
          <p:cNvSpPr>
            <a:spLocks noGrp="1"/>
          </p:cNvSpPr>
          <p:nvPr>
            <p:ph type="sldNum" sz="quarter" idx="5"/>
          </p:nvPr>
        </p:nvSpPr>
        <p:spPr/>
        <p:txBody>
          <a:bodyPr/>
          <a:lstStyle/>
          <a:p>
            <a:fld id="{CCEBA6F9-43EF-4091-A434-B74F3EF5A56D}" type="slidenum">
              <a:rPr lang="en-GB" smtClean="0"/>
              <a:t>22</a:t>
            </a:fld>
            <a:endParaRPr lang="en-GB"/>
          </a:p>
        </p:txBody>
      </p:sp>
    </p:spTree>
    <p:extLst>
      <p:ext uri="{BB962C8B-B14F-4D97-AF65-F5344CB8AC3E}">
        <p14:creationId xmlns:p14="http://schemas.microsoft.com/office/powerpoint/2010/main" val="1772853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CACAB-C41B-4661-B893-64F5425F4A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E255C7C-DC35-41D5-9841-581FD8AF8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8A61BFC-D53E-442B-8B14-CD10FFACA1A9}"/>
              </a:ext>
            </a:extLst>
          </p:cNvPr>
          <p:cNvSpPr>
            <a:spLocks noGrp="1"/>
          </p:cNvSpPr>
          <p:nvPr>
            <p:ph type="dt" sz="half" idx="10"/>
          </p:nvPr>
        </p:nvSpPr>
        <p:spPr/>
        <p:txBody>
          <a:bodyPr/>
          <a:lstStyle/>
          <a:p>
            <a:fld id="{CB56A054-DB01-418F-9BA9-E3D444C21FF9}" type="datetimeFigureOut">
              <a:rPr lang="en-GB" smtClean="0"/>
              <a:t>12/09/2025</a:t>
            </a:fld>
            <a:endParaRPr lang="en-GB"/>
          </a:p>
        </p:txBody>
      </p:sp>
      <p:sp>
        <p:nvSpPr>
          <p:cNvPr id="5" name="Footer Placeholder 4">
            <a:extLst>
              <a:ext uri="{FF2B5EF4-FFF2-40B4-BE49-F238E27FC236}">
                <a16:creationId xmlns:a16="http://schemas.microsoft.com/office/drawing/2014/main" id="{5195A976-D547-4D2A-B361-F074A3709C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7CBEAA-4B9D-48E1-A2A8-C3D9CE869324}"/>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248672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1E05C-8B97-4A30-896A-FCFDF15C553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E37E68A-4F96-4F1A-B02E-47E446292DD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032C10-BA11-4059-B2D5-9D17B8AAB25C}"/>
              </a:ext>
            </a:extLst>
          </p:cNvPr>
          <p:cNvSpPr>
            <a:spLocks noGrp="1"/>
          </p:cNvSpPr>
          <p:nvPr>
            <p:ph type="dt" sz="half" idx="10"/>
          </p:nvPr>
        </p:nvSpPr>
        <p:spPr/>
        <p:txBody>
          <a:bodyPr/>
          <a:lstStyle/>
          <a:p>
            <a:fld id="{CB56A054-DB01-418F-9BA9-E3D444C21FF9}" type="datetimeFigureOut">
              <a:rPr lang="en-GB" smtClean="0"/>
              <a:t>12/09/2025</a:t>
            </a:fld>
            <a:endParaRPr lang="en-GB"/>
          </a:p>
        </p:txBody>
      </p:sp>
      <p:sp>
        <p:nvSpPr>
          <p:cNvPr id="5" name="Footer Placeholder 4">
            <a:extLst>
              <a:ext uri="{FF2B5EF4-FFF2-40B4-BE49-F238E27FC236}">
                <a16:creationId xmlns:a16="http://schemas.microsoft.com/office/drawing/2014/main" id="{884DEF30-0093-48ED-BD68-A04A3D19A8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05081F-813C-47EE-B6E0-CD3D3D67BAE1}"/>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1748952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5A64C-CDA0-4AF8-A858-CCA834FDB8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F0B3998-58B3-408F-B6A9-7DF0F8586E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1A92665-0752-47CD-9F2A-88F2550F167F}"/>
              </a:ext>
            </a:extLst>
          </p:cNvPr>
          <p:cNvSpPr>
            <a:spLocks noGrp="1"/>
          </p:cNvSpPr>
          <p:nvPr>
            <p:ph type="dt" sz="half" idx="10"/>
          </p:nvPr>
        </p:nvSpPr>
        <p:spPr/>
        <p:txBody>
          <a:bodyPr/>
          <a:lstStyle/>
          <a:p>
            <a:fld id="{CB56A054-DB01-418F-9BA9-E3D444C21FF9}" type="datetimeFigureOut">
              <a:rPr lang="en-GB" smtClean="0"/>
              <a:t>12/09/2025</a:t>
            </a:fld>
            <a:endParaRPr lang="en-GB"/>
          </a:p>
        </p:txBody>
      </p:sp>
      <p:sp>
        <p:nvSpPr>
          <p:cNvPr id="5" name="Footer Placeholder 4">
            <a:extLst>
              <a:ext uri="{FF2B5EF4-FFF2-40B4-BE49-F238E27FC236}">
                <a16:creationId xmlns:a16="http://schemas.microsoft.com/office/drawing/2014/main" id="{1DE29D63-063A-4AD0-B345-DE177D721A3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CD96AE-57ED-4DF7-BF32-B9C19BC1C224}"/>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3779086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3473D-13A3-4004-B4ED-A5C0BEF83D4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1972C34-CE69-4023-ADE3-B652D0CF75E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167E729-A5E0-48B1-8BF4-6AF57A87A10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0910AEC-D25C-4225-B32C-03F45BBF5D9B}"/>
              </a:ext>
            </a:extLst>
          </p:cNvPr>
          <p:cNvSpPr>
            <a:spLocks noGrp="1"/>
          </p:cNvSpPr>
          <p:nvPr>
            <p:ph type="dt" sz="half" idx="10"/>
          </p:nvPr>
        </p:nvSpPr>
        <p:spPr/>
        <p:txBody>
          <a:bodyPr/>
          <a:lstStyle/>
          <a:p>
            <a:fld id="{CB56A054-DB01-418F-9BA9-E3D444C21FF9}" type="datetimeFigureOut">
              <a:rPr lang="en-GB" smtClean="0"/>
              <a:t>12/09/2025</a:t>
            </a:fld>
            <a:endParaRPr lang="en-GB"/>
          </a:p>
        </p:txBody>
      </p:sp>
      <p:sp>
        <p:nvSpPr>
          <p:cNvPr id="6" name="Footer Placeholder 5">
            <a:extLst>
              <a:ext uri="{FF2B5EF4-FFF2-40B4-BE49-F238E27FC236}">
                <a16:creationId xmlns:a16="http://schemas.microsoft.com/office/drawing/2014/main" id="{F2625352-9EBA-4901-98E1-1D8B768DBC0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F985AF3-C58D-4F8C-8282-6E19C538BC04}"/>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747927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EB274-A740-4D31-8F08-50E120606B8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13EA2D4-FA50-4615-ABCE-8834C8C360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349B158-17FC-4F95-BF43-CB5D608B892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5EEC8B6-2D75-452F-961C-76E6E9A944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37F7632-32FB-4B86-BADF-16736F74A8C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59C3051-B518-4664-ABD6-ED07DD844B32}"/>
              </a:ext>
            </a:extLst>
          </p:cNvPr>
          <p:cNvSpPr>
            <a:spLocks noGrp="1"/>
          </p:cNvSpPr>
          <p:nvPr>
            <p:ph type="dt" sz="half" idx="10"/>
          </p:nvPr>
        </p:nvSpPr>
        <p:spPr/>
        <p:txBody>
          <a:bodyPr/>
          <a:lstStyle/>
          <a:p>
            <a:fld id="{CB56A054-DB01-418F-9BA9-E3D444C21FF9}" type="datetimeFigureOut">
              <a:rPr lang="en-GB" smtClean="0"/>
              <a:t>12/09/2025</a:t>
            </a:fld>
            <a:endParaRPr lang="en-GB"/>
          </a:p>
        </p:txBody>
      </p:sp>
      <p:sp>
        <p:nvSpPr>
          <p:cNvPr id="8" name="Footer Placeholder 7">
            <a:extLst>
              <a:ext uri="{FF2B5EF4-FFF2-40B4-BE49-F238E27FC236}">
                <a16:creationId xmlns:a16="http://schemas.microsoft.com/office/drawing/2014/main" id="{C39906F9-532D-4464-90E7-6EA63BA4057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DDCA96E-B708-4CF3-8B04-C9D42EBAC700}"/>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2909813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732F4-13C9-4DB2-82ED-B4F3B1ED096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3D7E89A-A590-4190-9D9F-80CBC6FEF57D}"/>
              </a:ext>
            </a:extLst>
          </p:cNvPr>
          <p:cNvSpPr>
            <a:spLocks noGrp="1"/>
          </p:cNvSpPr>
          <p:nvPr>
            <p:ph type="dt" sz="half" idx="10"/>
          </p:nvPr>
        </p:nvSpPr>
        <p:spPr/>
        <p:txBody>
          <a:bodyPr/>
          <a:lstStyle/>
          <a:p>
            <a:fld id="{CB56A054-DB01-418F-9BA9-E3D444C21FF9}" type="datetimeFigureOut">
              <a:rPr lang="en-GB" smtClean="0"/>
              <a:t>12/09/2025</a:t>
            </a:fld>
            <a:endParaRPr lang="en-GB"/>
          </a:p>
        </p:txBody>
      </p:sp>
      <p:sp>
        <p:nvSpPr>
          <p:cNvPr id="4" name="Footer Placeholder 3">
            <a:extLst>
              <a:ext uri="{FF2B5EF4-FFF2-40B4-BE49-F238E27FC236}">
                <a16:creationId xmlns:a16="http://schemas.microsoft.com/office/drawing/2014/main" id="{C8FF85A4-5E11-407C-AECA-EB2FD1040A3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85E76DE-9A4B-4426-A645-1A19C174F9A4}"/>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764032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44B07B-14A4-4685-91EE-E7C50750A7C9}"/>
              </a:ext>
            </a:extLst>
          </p:cNvPr>
          <p:cNvSpPr>
            <a:spLocks noGrp="1"/>
          </p:cNvSpPr>
          <p:nvPr>
            <p:ph type="dt" sz="half" idx="10"/>
          </p:nvPr>
        </p:nvSpPr>
        <p:spPr/>
        <p:txBody>
          <a:bodyPr/>
          <a:lstStyle/>
          <a:p>
            <a:fld id="{CB56A054-DB01-418F-9BA9-E3D444C21FF9}" type="datetimeFigureOut">
              <a:rPr lang="en-GB" smtClean="0"/>
              <a:t>12/09/2025</a:t>
            </a:fld>
            <a:endParaRPr lang="en-GB"/>
          </a:p>
        </p:txBody>
      </p:sp>
      <p:sp>
        <p:nvSpPr>
          <p:cNvPr id="3" name="Footer Placeholder 2">
            <a:extLst>
              <a:ext uri="{FF2B5EF4-FFF2-40B4-BE49-F238E27FC236}">
                <a16:creationId xmlns:a16="http://schemas.microsoft.com/office/drawing/2014/main" id="{25E7FB1C-1A74-488B-B5AE-A4728399BDF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D06FFB1-3D35-405B-9E96-2F87E4920919}"/>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10657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0ED3B-D605-487D-B277-1B1A08E9FB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2C43FB0-68E9-406D-B0BB-168D1873D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980E1E2-77D6-4513-9FC6-BFD14BF0DC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E418701-A632-4FA4-B9F9-80EAF193A3DE}"/>
              </a:ext>
            </a:extLst>
          </p:cNvPr>
          <p:cNvSpPr>
            <a:spLocks noGrp="1"/>
          </p:cNvSpPr>
          <p:nvPr>
            <p:ph type="dt" sz="half" idx="10"/>
          </p:nvPr>
        </p:nvSpPr>
        <p:spPr/>
        <p:txBody>
          <a:bodyPr/>
          <a:lstStyle/>
          <a:p>
            <a:fld id="{CB56A054-DB01-418F-9BA9-E3D444C21FF9}" type="datetimeFigureOut">
              <a:rPr lang="en-GB" smtClean="0"/>
              <a:t>12/09/2025</a:t>
            </a:fld>
            <a:endParaRPr lang="en-GB"/>
          </a:p>
        </p:txBody>
      </p:sp>
      <p:sp>
        <p:nvSpPr>
          <p:cNvPr id="6" name="Footer Placeholder 5">
            <a:extLst>
              <a:ext uri="{FF2B5EF4-FFF2-40B4-BE49-F238E27FC236}">
                <a16:creationId xmlns:a16="http://schemas.microsoft.com/office/drawing/2014/main" id="{FE939508-1285-4148-B9DB-A648EFB1BFC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0DAF4E-54F0-4FFE-AB94-52B0681AF97B}"/>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2979277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1A7A2-9340-4183-BFE5-B54E316F55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D36F320-F322-4EAC-B711-FB79FF4C27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F14BBF2-F676-431C-AFAA-9E73C8BD23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425401E-46A6-4A39-8EAE-996B645AAAEB}"/>
              </a:ext>
            </a:extLst>
          </p:cNvPr>
          <p:cNvSpPr>
            <a:spLocks noGrp="1"/>
          </p:cNvSpPr>
          <p:nvPr>
            <p:ph type="dt" sz="half" idx="10"/>
          </p:nvPr>
        </p:nvSpPr>
        <p:spPr/>
        <p:txBody>
          <a:bodyPr/>
          <a:lstStyle/>
          <a:p>
            <a:fld id="{CB56A054-DB01-418F-9BA9-E3D444C21FF9}" type="datetimeFigureOut">
              <a:rPr lang="en-GB" smtClean="0"/>
              <a:t>12/09/2025</a:t>
            </a:fld>
            <a:endParaRPr lang="en-GB"/>
          </a:p>
        </p:txBody>
      </p:sp>
      <p:sp>
        <p:nvSpPr>
          <p:cNvPr id="6" name="Footer Placeholder 5">
            <a:extLst>
              <a:ext uri="{FF2B5EF4-FFF2-40B4-BE49-F238E27FC236}">
                <a16:creationId xmlns:a16="http://schemas.microsoft.com/office/drawing/2014/main" id="{30D7DBF3-371F-49B1-B3DB-29A8D859913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EE53258-D983-4537-828D-2AC527A0DADB}"/>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1931520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5E9B-5EE4-408F-88EA-CE97170C240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AC64D64-7EA0-4955-8FD0-29972BD6CB3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435984-82C5-404E-BBD4-25E1D359517F}"/>
              </a:ext>
            </a:extLst>
          </p:cNvPr>
          <p:cNvSpPr>
            <a:spLocks noGrp="1"/>
          </p:cNvSpPr>
          <p:nvPr>
            <p:ph type="dt" sz="half" idx="10"/>
          </p:nvPr>
        </p:nvSpPr>
        <p:spPr/>
        <p:txBody>
          <a:bodyPr/>
          <a:lstStyle/>
          <a:p>
            <a:fld id="{CB56A054-DB01-418F-9BA9-E3D444C21FF9}" type="datetimeFigureOut">
              <a:rPr lang="en-GB" smtClean="0"/>
              <a:t>12/09/2025</a:t>
            </a:fld>
            <a:endParaRPr lang="en-GB"/>
          </a:p>
        </p:txBody>
      </p:sp>
      <p:sp>
        <p:nvSpPr>
          <p:cNvPr id="5" name="Footer Placeholder 4">
            <a:extLst>
              <a:ext uri="{FF2B5EF4-FFF2-40B4-BE49-F238E27FC236}">
                <a16:creationId xmlns:a16="http://schemas.microsoft.com/office/drawing/2014/main" id="{88D46EBB-3A8E-4A16-A39A-E2107C6EC5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2E0049-94E2-4921-A740-4C44CB53D6B7}"/>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3113526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92CC7D-EDAD-4CF7-B609-A97F6F65F8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4926DDB-A7A4-4841-9B87-84EBE9A2F19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9A01469-519D-480A-BBDE-3F39A61A20C7}"/>
              </a:ext>
            </a:extLst>
          </p:cNvPr>
          <p:cNvSpPr>
            <a:spLocks noGrp="1"/>
          </p:cNvSpPr>
          <p:nvPr>
            <p:ph type="dt" sz="half" idx="10"/>
          </p:nvPr>
        </p:nvSpPr>
        <p:spPr/>
        <p:txBody>
          <a:bodyPr/>
          <a:lstStyle/>
          <a:p>
            <a:fld id="{CB56A054-DB01-418F-9BA9-E3D444C21FF9}" type="datetimeFigureOut">
              <a:rPr lang="en-GB" smtClean="0"/>
              <a:t>12/09/2025</a:t>
            </a:fld>
            <a:endParaRPr lang="en-GB"/>
          </a:p>
        </p:txBody>
      </p:sp>
      <p:sp>
        <p:nvSpPr>
          <p:cNvPr id="5" name="Footer Placeholder 4">
            <a:extLst>
              <a:ext uri="{FF2B5EF4-FFF2-40B4-BE49-F238E27FC236}">
                <a16:creationId xmlns:a16="http://schemas.microsoft.com/office/drawing/2014/main" id="{8C71DBC5-9CC6-42F6-B60D-752AF195ACF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F5B9D33-69B8-4AEE-8AD4-6EA9BA3D48C7}"/>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1516179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A0E419-63A9-4EF4-A40C-292E65582E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12F03-559D-41E6-A67C-3925D3333A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9EFECAA-690C-4629-A8AA-961E6C1CBA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56A054-DB01-418F-9BA9-E3D444C21FF9}" type="datetimeFigureOut">
              <a:rPr lang="en-GB" smtClean="0"/>
              <a:t>12/09/2025</a:t>
            </a:fld>
            <a:endParaRPr lang="en-GB"/>
          </a:p>
        </p:txBody>
      </p:sp>
      <p:sp>
        <p:nvSpPr>
          <p:cNvPr id="5" name="Footer Placeholder 4">
            <a:extLst>
              <a:ext uri="{FF2B5EF4-FFF2-40B4-BE49-F238E27FC236}">
                <a16:creationId xmlns:a16="http://schemas.microsoft.com/office/drawing/2014/main" id="{1DA48391-8C65-4EED-9802-34B4D26CB5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5E40826-E463-4A66-A052-44AD443209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401FCB-2125-438D-8321-B5F5338A69EF}" type="slidenum">
              <a:rPr lang="en-GB" smtClean="0"/>
              <a:t>‹#›</a:t>
            </a:fld>
            <a:endParaRPr lang="en-GB"/>
          </a:p>
        </p:txBody>
      </p:sp>
    </p:spTree>
    <p:extLst>
      <p:ext uri="{BB962C8B-B14F-4D97-AF65-F5344CB8AC3E}">
        <p14:creationId xmlns:p14="http://schemas.microsoft.com/office/powerpoint/2010/main" val="1695165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ark.pogson@liverpool.ac.u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codecademy.com/learn/learn-how-to-cod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w3schools.com/pyth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colab.research.google.co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www.anaconda.com/"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www.markdownguide.org/cheat-shee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w3schools.com/python" TargetMode="External"/><Relationship Id="rId2" Type="http://schemas.openxmlformats.org/officeDocument/2006/relationships/hyperlink" Target="http://www.codecademy.com/learn/learn-how-to-cod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37E95-E291-4406-A7D1-BE48BFCB42DE}"/>
              </a:ext>
            </a:extLst>
          </p:cNvPr>
          <p:cNvSpPr>
            <a:spLocks noGrp="1"/>
          </p:cNvSpPr>
          <p:nvPr>
            <p:ph type="ctrTitle"/>
          </p:nvPr>
        </p:nvSpPr>
        <p:spPr/>
        <p:txBody>
          <a:bodyPr>
            <a:normAutofit/>
          </a:bodyPr>
          <a:lstStyle/>
          <a:p>
            <a:r>
              <a:rPr lang="en-GB" sz="4900" dirty="0"/>
              <a:t>Week 2-3</a:t>
            </a:r>
            <a:br>
              <a:rPr lang="en-GB" dirty="0"/>
            </a:br>
            <a:r>
              <a:rPr lang="en-GB" b="1" dirty="0"/>
              <a:t>Computer Coding</a:t>
            </a:r>
          </a:p>
        </p:txBody>
      </p:sp>
      <p:sp>
        <p:nvSpPr>
          <p:cNvPr id="3" name="Subtitle 2">
            <a:extLst>
              <a:ext uri="{FF2B5EF4-FFF2-40B4-BE49-F238E27FC236}">
                <a16:creationId xmlns:a16="http://schemas.microsoft.com/office/drawing/2014/main" id="{F119DC21-DEC0-4AD0-82BD-34AF2B4319F8}"/>
              </a:ext>
            </a:extLst>
          </p:cNvPr>
          <p:cNvSpPr>
            <a:spLocks noGrp="1"/>
          </p:cNvSpPr>
          <p:nvPr>
            <p:ph type="subTitle" idx="1"/>
          </p:nvPr>
        </p:nvSpPr>
        <p:spPr>
          <a:xfrm>
            <a:off x="1524000" y="3602037"/>
            <a:ext cx="9144000" cy="2133600"/>
          </a:xfrm>
        </p:spPr>
        <p:txBody>
          <a:bodyPr>
            <a:normAutofit/>
          </a:bodyPr>
          <a:lstStyle/>
          <a:p>
            <a:r>
              <a:rPr lang="en-GB" b="1" dirty="0"/>
              <a:t>COMM741/767 Introduction to Data Science A/B</a:t>
            </a:r>
          </a:p>
          <a:p>
            <a:endParaRPr lang="en-GB" dirty="0"/>
          </a:p>
          <a:p>
            <a:r>
              <a:rPr lang="en-GB" dirty="0"/>
              <a:t>Mark Pogson</a:t>
            </a:r>
          </a:p>
          <a:p>
            <a:r>
              <a:rPr lang="en-GB" dirty="0">
                <a:hlinkClick r:id="rId2"/>
              </a:rPr>
              <a:t>mark.pogson@liverpool.ac.uk</a:t>
            </a:r>
            <a:endParaRPr lang="en-GB" dirty="0"/>
          </a:p>
        </p:txBody>
      </p:sp>
    </p:spTree>
    <p:extLst>
      <p:ext uri="{BB962C8B-B14F-4D97-AF65-F5344CB8AC3E}">
        <p14:creationId xmlns:p14="http://schemas.microsoft.com/office/powerpoint/2010/main" val="2110216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8B0A-D610-470F-B6C5-AE8D7E77E3C8}"/>
              </a:ext>
            </a:extLst>
          </p:cNvPr>
          <p:cNvSpPr>
            <a:spLocks noGrp="1"/>
          </p:cNvSpPr>
          <p:nvPr>
            <p:ph type="title"/>
          </p:nvPr>
        </p:nvSpPr>
        <p:spPr/>
        <p:txBody>
          <a:bodyPr/>
          <a:lstStyle/>
          <a:p>
            <a:r>
              <a:rPr lang="en-GB" dirty="0"/>
              <a:t>Learning Objectives – </a:t>
            </a:r>
            <a:r>
              <a:rPr lang="en-GB"/>
              <a:t>Week 2-3</a:t>
            </a:r>
            <a:endParaRPr lang="en-GB" dirty="0"/>
          </a:p>
        </p:txBody>
      </p:sp>
      <p:sp>
        <p:nvSpPr>
          <p:cNvPr id="3" name="Content Placeholder 2">
            <a:extLst>
              <a:ext uri="{FF2B5EF4-FFF2-40B4-BE49-F238E27FC236}">
                <a16:creationId xmlns:a16="http://schemas.microsoft.com/office/drawing/2014/main" id="{5CB5226D-614E-4F33-92D4-20681697BDD4}"/>
              </a:ext>
            </a:extLst>
          </p:cNvPr>
          <p:cNvSpPr>
            <a:spLocks noGrp="1"/>
          </p:cNvSpPr>
          <p:nvPr>
            <p:ph idx="1"/>
          </p:nvPr>
        </p:nvSpPr>
        <p:spPr/>
        <p:txBody>
          <a:bodyPr/>
          <a:lstStyle/>
          <a:p>
            <a:r>
              <a:rPr lang="en-GB" dirty="0"/>
              <a:t>Know what computer coding is and its importance to data science</a:t>
            </a:r>
          </a:p>
          <a:p>
            <a:r>
              <a:rPr lang="en-GB" dirty="0">
                <a:highlight>
                  <a:srgbClr val="FFFF00"/>
                </a:highlight>
              </a:rPr>
              <a:t>Know what computer variables, functions, 'if/</a:t>
            </a:r>
            <a:r>
              <a:rPr lang="en-GB" dirty="0" err="1">
                <a:highlight>
                  <a:srgbClr val="FFFF00"/>
                </a:highlight>
              </a:rPr>
              <a:t>elif</a:t>
            </a:r>
            <a:r>
              <a:rPr lang="en-GB" dirty="0">
                <a:highlight>
                  <a:srgbClr val="FFFF00"/>
                </a:highlight>
              </a:rPr>
              <a:t>/else statements' and ‘for loops’ are (flipped classroom!)</a:t>
            </a:r>
          </a:p>
          <a:p>
            <a:r>
              <a:rPr lang="en-GB" dirty="0">
                <a:highlight>
                  <a:srgbClr val="FFFF00"/>
                </a:highlight>
              </a:rPr>
              <a:t>Write simple computer programs in Python, including functions (flipped classroom!)</a:t>
            </a:r>
          </a:p>
        </p:txBody>
      </p:sp>
    </p:spTree>
    <p:extLst>
      <p:ext uri="{BB962C8B-B14F-4D97-AF65-F5344CB8AC3E}">
        <p14:creationId xmlns:p14="http://schemas.microsoft.com/office/powerpoint/2010/main" val="3664348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8B0A-D610-470F-B6C5-AE8D7E77E3C8}"/>
              </a:ext>
            </a:extLst>
          </p:cNvPr>
          <p:cNvSpPr>
            <a:spLocks noGrp="1"/>
          </p:cNvSpPr>
          <p:nvPr>
            <p:ph type="title"/>
          </p:nvPr>
        </p:nvSpPr>
        <p:spPr/>
        <p:txBody>
          <a:bodyPr/>
          <a:lstStyle/>
          <a:p>
            <a:r>
              <a:rPr lang="en-GB" dirty="0"/>
              <a:t>Overview of coding</a:t>
            </a:r>
          </a:p>
        </p:txBody>
      </p:sp>
      <p:sp>
        <p:nvSpPr>
          <p:cNvPr id="3" name="Content Placeholder 2">
            <a:extLst>
              <a:ext uri="{FF2B5EF4-FFF2-40B4-BE49-F238E27FC236}">
                <a16:creationId xmlns:a16="http://schemas.microsoft.com/office/drawing/2014/main" id="{5CB5226D-614E-4F33-92D4-20681697BDD4}"/>
              </a:ext>
            </a:extLst>
          </p:cNvPr>
          <p:cNvSpPr>
            <a:spLocks noGrp="1"/>
          </p:cNvSpPr>
          <p:nvPr>
            <p:ph idx="1"/>
          </p:nvPr>
        </p:nvSpPr>
        <p:spPr>
          <a:xfrm>
            <a:off x="838200" y="1573161"/>
            <a:ext cx="10665542" cy="4603802"/>
          </a:xfrm>
        </p:spPr>
        <p:txBody>
          <a:bodyPr>
            <a:normAutofit fontScale="85000" lnSpcReduction="20000"/>
          </a:bodyPr>
          <a:lstStyle/>
          <a:p>
            <a:r>
              <a:rPr lang="en-GB" dirty="0"/>
              <a:t>Computer coding simply means writing instructions for a computer to carry out</a:t>
            </a:r>
          </a:p>
          <a:p>
            <a:r>
              <a:rPr lang="en-GB" dirty="0"/>
              <a:t>‘Coding’ and ‘programming’ are often used interchangeably, as are ‘code’ and ‘program’.  ‘Scripting’ and ‘script’ may also be used in a similar way (there is a subtle distinction to these that we don’t need to worry about).</a:t>
            </a:r>
          </a:p>
          <a:p>
            <a:r>
              <a:rPr lang="en-GB" dirty="0"/>
              <a:t>You’ve already written computer code in Excel, when using formulas.  However, we’re now going to start using a dedicated programming language, which is far more powerful, and in many ways easier to use, once you get over the initial hurdles.</a:t>
            </a:r>
          </a:p>
          <a:p>
            <a:r>
              <a:rPr lang="en-GB" dirty="0"/>
              <a:t>There are lots of programming languages, which all have their own benefits and drawbacks, depending what you want to do.  However, most have a lot in common, so learning one language will give you skills that are widely transferable.</a:t>
            </a:r>
          </a:p>
          <a:p>
            <a:r>
              <a:rPr lang="en-GB" dirty="0"/>
              <a:t>We’re going to use Python, which is very widely used, particularly for data science.</a:t>
            </a:r>
          </a:p>
          <a:p>
            <a:r>
              <a:rPr lang="en-GB" dirty="0"/>
              <a:t>We'll only scratch the surface of everything you can do in Python, but once you’ve learned the basics, you’ll be in a position to learn lots more independently</a:t>
            </a:r>
          </a:p>
        </p:txBody>
      </p:sp>
    </p:spTree>
    <p:extLst>
      <p:ext uri="{BB962C8B-B14F-4D97-AF65-F5344CB8AC3E}">
        <p14:creationId xmlns:p14="http://schemas.microsoft.com/office/powerpoint/2010/main" val="3828110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F5E94-F832-838A-EBBB-D0F6EC8CE104}"/>
              </a:ext>
            </a:extLst>
          </p:cNvPr>
          <p:cNvSpPr>
            <a:spLocks noGrp="1"/>
          </p:cNvSpPr>
          <p:nvPr>
            <p:ph type="title"/>
          </p:nvPr>
        </p:nvSpPr>
        <p:spPr/>
        <p:txBody>
          <a:bodyPr/>
          <a:lstStyle/>
          <a:p>
            <a:r>
              <a:rPr lang="en-GB" dirty="0">
                <a:highlight>
                  <a:srgbClr val="FFFF00"/>
                </a:highlight>
              </a:rPr>
              <a:t>Flipped classroom!</a:t>
            </a:r>
          </a:p>
        </p:txBody>
      </p:sp>
      <p:sp>
        <p:nvSpPr>
          <p:cNvPr id="3" name="Content Placeholder 2">
            <a:extLst>
              <a:ext uri="{FF2B5EF4-FFF2-40B4-BE49-F238E27FC236}">
                <a16:creationId xmlns:a16="http://schemas.microsoft.com/office/drawing/2014/main" id="{F0D26D02-FBB9-7B9F-0AAD-E3CE1B0897A9}"/>
              </a:ext>
            </a:extLst>
          </p:cNvPr>
          <p:cNvSpPr>
            <a:spLocks noGrp="1"/>
          </p:cNvSpPr>
          <p:nvPr>
            <p:ph idx="1"/>
          </p:nvPr>
        </p:nvSpPr>
        <p:spPr/>
        <p:txBody>
          <a:bodyPr/>
          <a:lstStyle/>
          <a:p>
            <a:r>
              <a:rPr lang="en-GB" dirty="0"/>
              <a:t>Please watch the video ahead of class to help you with the following slides. We will use class to allow you to ask questions and work through the exercises.</a:t>
            </a:r>
          </a:p>
        </p:txBody>
      </p:sp>
    </p:spTree>
    <p:extLst>
      <p:ext uri="{BB962C8B-B14F-4D97-AF65-F5344CB8AC3E}">
        <p14:creationId xmlns:p14="http://schemas.microsoft.com/office/powerpoint/2010/main" val="3986409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835E-55D7-4059-83C5-949C73D98941}"/>
              </a:ext>
            </a:extLst>
          </p:cNvPr>
          <p:cNvSpPr>
            <a:spLocks noGrp="1"/>
          </p:cNvSpPr>
          <p:nvPr>
            <p:ph type="title"/>
          </p:nvPr>
        </p:nvSpPr>
        <p:spPr/>
        <p:txBody>
          <a:bodyPr/>
          <a:lstStyle/>
          <a:p>
            <a:r>
              <a:rPr lang="en-GB" dirty="0">
                <a:highlight>
                  <a:srgbClr val="FFFF00"/>
                </a:highlight>
              </a:rPr>
              <a:t>Coding and data science</a:t>
            </a:r>
          </a:p>
        </p:txBody>
      </p:sp>
      <p:sp>
        <p:nvSpPr>
          <p:cNvPr id="3" name="Content Placeholder 2">
            <a:extLst>
              <a:ext uri="{FF2B5EF4-FFF2-40B4-BE49-F238E27FC236}">
                <a16:creationId xmlns:a16="http://schemas.microsoft.com/office/drawing/2014/main" id="{81748EAD-4052-4AE6-A7D8-ED6DAAC0B88F}"/>
              </a:ext>
            </a:extLst>
          </p:cNvPr>
          <p:cNvSpPr>
            <a:spLocks noGrp="1"/>
          </p:cNvSpPr>
          <p:nvPr>
            <p:ph idx="1"/>
          </p:nvPr>
        </p:nvSpPr>
        <p:spPr>
          <a:xfrm>
            <a:off x="838200" y="1602658"/>
            <a:ext cx="10515600" cy="4709651"/>
          </a:xfrm>
        </p:spPr>
        <p:txBody>
          <a:bodyPr>
            <a:normAutofit fontScale="77500" lnSpcReduction="20000"/>
          </a:bodyPr>
          <a:lstStyle/>
          <a:p>
            <a:r>
              <a:rPr lang="en-GB" dirty="0"/>
              <a:t>There are two main approaches to working with data:</a:t>
            </a:r>
          </a:p>
          <a:p>
            <a:pPr lvl="1"/>
            <a:r>
              <a:rPr lang="en-GB" dirty="0"/>
              <a:t>Using computer packages with ‘graphical interfaces’ (i.e. how most of us are used to using computers, e.g. Excel, SPSS, etc.)</a:t>
            </a:r>
          </a:p>
          <a:p>
            <a:pPr lvl="1"/>
            <a:r>
              <a:rPr lang="en-GB" dirty="0"/>
              <a:t>Writing computer code (i.e. what we’re going to do)</a:t>
            </a:r>
          </a:p>
          <a:p>
            <a:r>
              <a:rPr lang="en-GB" dirty="0"/>
              <a:t>Although writing computer code might initially seem like we’re making life harder for ourselves, there are lots of good reasons to do it, including:</a:t>
            </a:r>
          </a:p>
          <a:p>
            <a:pPr lvl="1"/>
            <a:r>
              <a:rPr lang="en-GB" dirty="0"/>
              <a:t>It’s easier than it looks</a:t>
            </a:r>
          </a:p>
          <a:p>
            <a:pPr lvl="1"/>
            <a:r>
              <a:rPr lang="en-GB" dirty="0"/>
              <a:t>It allows you to do things you would find difficult or impossible otherwise, including many data collection, analysis and visualisation tasks</a:t>
            </a:r>
          </a:p>
          <a:p>
            <a:pPr lvl="1"/>
            <a:r>
              <a:rPr lang="en-GB" dirty="0"/>
              <a:t>Because code is written as a clear sequence of steps, it is often easier to find and correct mistakes than with a graphical interface like Excel</a:t>
            </a:r>
          </a:p>
          <a:p>
            <a:pPr lvl="1"/>
            <a:r>
              <a:rPr lang="en-GB" dirty="0"/>
              <a:t>It lets you repeat a process as many times as you want, using different data without extra work</a:t>
            </a:r>
          </a:p>
          <a:p>
            <a:pPr lvl="1"/>
            <a:r>
              <a:rPr lang="en-GB" dirty="0"/>
              <a:t>Knowing how to code gives you a much better understanding of how algorithms work</a:t>
            </a:r>
          </a:p>
          <a:p>
            <a:pPr lvl="1"/>
            <a:r>
              <a:rPr lang="en-GB" dirty="0"/>
              <a:t>We can connect up different bits of code to do new things, which lets us build more complicated methods relatively easily</a:t>
            </a:r>
          </a:p>
          <a:p>
            <a:r>
              <a:rPr lang="en-GB" dirty="0"/>
              <a:t>Take a look at </a:t>
            </a:r>
            <a:r>
              <a:rPr lang="en-GB" dirty="0">
                <a:hlinkClick r:id="rId2"/>
              </a:rPr>
              <a:t>www.codecademy.com/learn/learn-how-to-code</a:t>
            </a:r>
            <a:r>
              <a:rPr lang="en-GB" dirty="0"/>
              <a:t>. It is an interactive tutorial introducing key concepts in coding. It’s also worth returning to this as we cover new topics.</a:t>
            </a:r>
          </a:p>
        </p:txBody>
      </p:sp>
    </p:spTree>
    <p:extLst>
      <p:ext uri="{BB962C8B-B14F-4D97-AF65-F5344CB8AC3E}">
        <p14:creationId xmlns:p14="http://schemas.microsoft.com/office/powerpoint/2010/main" val="3335672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03F3-C3C6-4F54-B2D7-EE11006F2F6D}"/>
              </a:ext>
            </a:extLst>
          </p:cNvPr>
          <p:cNvSpPr>
            <a:spLocks noGrp="1"/>
          </p:cNvSpPr>
          <p:nvPr>
            <p:ph type="title"/>
          </p:nvPr>
        </p:nvSpPr>
        <p:spPr>
          <a:xfrm>
            <a:off x="510940" y="191871"/>
            <a:ext cx="10515600" cy="1325563"/>
          </a:xfrm>
        </p:spPr>
        <p:txBody>
          <a:bodyPr/>
          <a:lstStyle/>
          <a:p>
            <a:r>
              <a:rPr lang="en-GB" dirty="0">
                <a:highlight>
                  <a:srgbClr val="FFFF00"/>
                </a:highlight>
              </a:rPr>
              <a:t>Getting started with Python</a:t>
            </a:r>
          </a:p>
        </p:txBody>
      </p:sp>
      <p:sp>
        <p:nvSpPr>
          <p:cNvPr id="3" name="Content Placeholder 2">
            <a:extLst>
              <a:ext uri="{FF2B5EF4-FFF2-40B4-BE49-F238E27FC236}">
                <a16:creationId xmlns:a16="http://schemas.microsoft.com/office/drawing/2014/main" id="{33816E05-A46F-4077-813D-8ADDE42083A4}"/>
              </a:ext>
            </a:extLst>
          </p:cNvPr>
          <p:cNvSpPr>
            <a:spLocks noGrp="1"/>
          </p:cNvSpPr>
          <p:nvPr>
            <p:ph idx="1"/>
          </p:nvPr>
        </p:nvSpPr>
        <p:spPr>
          <a:xfrm>
            <a:off x="510940" y="1429262"/>
            <a:ext cx="6076673" cy="5063613"/>
          </a:xfrm>
        </p:spPr>
        <p:txBody>
          <a:bodyPr>
            <a:normAutofit fontScale="77500" lnSpcReduction="20000"/>
          </a:bodyPr>
          <a:lstStyle/>
          <a:p>
            <a:r>
              <a:rPr lang="en-GB" dirty="0"/>
              <a:t>A Python script is just plain text (e.g. like you’d write in Notepad) where you write instructions for the computer to carry out, e.g.</a:t>
            </a:r>
          </a:p>
          <a:p>
            <a:pPr marL="457200" lvl="1" indent="0">
              <a:buNone/>
            </a:pPr>
            <a:r>
              <a:rPr lang="en-GB" dirty="0">
                <a:latin typeface="Courier New" panose="02070309020205020404" pitchFamily="49" charset="0"/>
                <a:cs typeface="Courier New" panose="02070309020205020404" pitchFamily="49" charset="0"/>
              </a:rPr>
              <a:t>print(2+3)</a:t>
            </a:r>
          </a:p>
          <a:p>
            <a:pPr lvl="1"/>
            <a:r>
              <a:rPr lang="en-GB" dirty="0"/>
              <a:t>Instead of saving the file with a .txt extension, if we change this to .</a:t>
            </a:r>
            <a:r>
              <a:rPr lang="en-GB" dirty="0" err="1"/>
              <a:t>py</a:t>
            </a:r>
            <a:r>
              <a:rPr lang="en-GB" dirty="0"/>
              <a:t>, then if Python is installed on the computer, it will know this is a Python script.</a:t>
            </a:r>
          </a:p>
          <a:p>
            <a:pPr lvl="1"/>
            <a:r>
              <a:rPr lang="en-GB" dirty="0"/>
              <a:t>We can then run the script from a command prompt, and we’d see the number 5 displayed</a:t>
            </a:r>
          </a:p>
          <a:p>
            <a:r>
              <a:rPr lang="en-GB" dirty="0"/>
              <a:t>The application you use to write your code in is called a ‘coding environment’.  There are lots of coding environments available, most of which make life a lot easier than using Notepad. (I’ve just used Notepad as an example here to try to demystify things a little.)</a:t>
            </a:r>
          </a:p>
          <a:p>
            <a:r>
              <a:rPr lang="en-GB" dirty="0"/>
              <a:t>There are lots of good Python guides online.  </a:t>
            </a:r>
            <a:r>
              <a:rPr lang="en-GB" dirty="0">
                <a:hlinkClick r:id="rId2"/>
              </a:rPr>
              <a:t>www.w3schools.com/python</a:t>
            </a:r>
            <a:r>
              <a:rPr lang="en-GB" dirty="0"/>
              <a:t> is an excellent reference, with tutorials on a range of topics.  It’s definitely worth returning to this throughout the module. </a:t>
            </a:r>
            <a:r>
              <a:rPr lang="en-GB" b="1" dirty="0"/>
              <a:t>Please spend lots of time on w3schools</a:t>
            </a:r>
          </a:p>
        </p:txBody>
      </p:sp>
      <p:pic>
        <p:nvPicPr>
          <p:cNvPr id="4" name="Picture 3">
            <a:extLst>
              <a:ext uri="{FF2B5EF4-FFF2-40B4-BE49-F238E27FC236}">
                <a16:creationId xmlns:a16="http://schemas.microsoft.com/office/drawing/2014/main" id="{5B0B90DE-469A-4A72-93A3-CA506755D2C3}"/>
              </a:ext>
            </a:extLst>
          </p:cNvPr>
          <p:cNvPicPr>
            <a:picLocks noChangeAspect="1"/>
          </p:cNvPicPr>
          <p:nvPr/>
        </p:nvPicPr>
        <p:blipFill rotWithShape="1">
          <a:blip r:embed="rId3"/>
          <a:srcRect l="41371" t="9318" r="13064" b="8101"/>
          <a:stretch/>
        </p:blipFill>
        <p:spPr>
          <a:xfrm>
            <a:off x="6824311" y="1209424"/>
            <a:ext cx="5182551" cy="5283451"/>
          </a:xfrm>
          <a:prstGeom prst="rect">
            <a:avLst/>
          </a:prstGeom>
        </p:spPr>
      </p:pic>
      <p:cxnSp>
        <p:nvCxnSpPr>
          <p:cNvPr id="8" name="Straight Arrow Connector 7">
            <a:extLst>
              <a:ext uri="{FF2B5EF4-FFF2-40B4-BE49-F238E27FC236}">
                <a16:creationId xmlns:a16="http://schemas.microsoft.com/office/drawing/2014/main" id="{90BF246B-15E6-42DC-9FF2-1E002D9FE2A0}"/>
              </a:ext>
            </a:extLst>
          </p:cNvPr>
          <p:cNvCxnSpPr>
            <a:cxnSpLocks/>
          </p:cNvCxnSpPr>
          <p:nvPr/>
        </p:nvCxnSpPr>
        <p:spPr>
          <a:xfrm>
            <a:off x="6263148" y="3429000"/>
            <a:ext cx="1138679" cy="82536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9144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D8D37-CC42-4182-91A8-225532F64293}"/>
              </a:ext>
            </a:extLst>
          </p:cNvPr>
          <p:cNvSpPr>
            <a:spLocks noGrp="1"/>
          </p:cNvSpPr>
          <p:nvPr>
            <p:ph type="title"/>
          </p:nvPr>
        </p:nvSpPr>
        <p:spPr>
          <a:xfrm>
            <a:off x="838200" y="201495"/>
            <a:ext cx="10515600" cy="1325563"/>
          </a:xfrm>
        </p:spPr>
        <p:txBody>
          <a:bodyPr/>
          <a:lstStyle/>
          <a:p>
            <a:r>
              <a:rPr lang="en-GB" dirty="0" err="1">
                <a:highlight>
                  <a:srgbClr val="FFFF00"/>
                </a:highlight>
              </a:rPr>
              <a:t>Jupyter</a:t>
            </a:r>
            <a:r>
              <a:rPr lang="en-GB" dirty="0">
                <a:highlight>
                  <a:srgbClr val="FFFF00"/>
                </a:highlight>
              </a:rPr>
              <a:t> Notebook / </a:t>
            </a:r>
            <a:r>
              <a:rPr lang="en-GB" dirty="0" err="1">
                <a:highlight>
                  <a:srgbClr val="FFFF00"/>
                </a:highlight>
              </a:rPr>
              <a:t>Colab</a:t>
            </a:r>
            <a:endParaRPr lang="en-GB" dirty="0">
              <a:highlight>
                <a:srgbClr val="FFFF00"/>
              </a:highlight>
            </a:endParaRPr>
          </a:p>
        </p:txBody>
      </p:sp>
      <p:sp>
        <p:nvSpPr>
          <p:cNvPr id="3" name="Content Placeholder 2">
            <a:extLst>
              <a:ext uri="{FF2B5EF4-FFF2-40B4-BE49-F238E27FC236}">
                <a16:creationId xmlns:a16="http://schemas.microsoft.com/office/drawing/2014/main" id="{0B8459B3-92EA-4E9C-9A88-9BA38C109C02}"/>
              </a:ext>
            </a:extLst>
          </p:cNvPr>
          <p:cNvSpPr>
            <a:spLocks noGrp="1"/>
          </p:cNvSpPr>
          <p:nvPr>
            <p:ph idx="1"/>
          </p:nvPr>
        </p:nvSpPr>
        <p:spPr>
          <a:xfrm>
            <a:off x="571345" y="1414914"/>
            <a:ext cx="6384965" cy="5077961"/>
          </a:xfrm>
        </p:spPr>
        <p:txBody>
          <a:bodyPr>
            <a:normAutofit fontScale="77500" lnSpcReduction="20000"/>
          </a:bodyPr>
          <a:lstStyle/>
          <a:p>
            <a:r>
              <a:rPr lang="en-GB" dirty="0"/>
              <a:t>We’re going to use an Interactive Python Notebook as our coding environment</a:t>
            </a:r>
          </a:p>
          <a:p>
            <a:pPr lvl="1"/>
            <a:r>
              <a:rPr lang="en-GB" dirty="0"/>
              <a:t>Write and run code in one place</a:t>
            </a:r>
          </a:p>
          <a:p>
            <a:pPr lvl="1"/>
            <a:r>
              <a:rPr lang="en-GB" dirty="0"/>
              <a:t>Plots are displayed inline with your code</a:t>
            </a:r>
          </a:p>
          <a:p>
            <a:pPr lvl="1"/>
            <a:r>
              <a:rPr lang="en-GB" dirty="0"/>
              <a:t>Ability to write normal text too – will use to make blog!</a:t>
            </a:r>
          </a:p>
          <a:p>
            <a:r>
              <a:rPr lang="en-GB" dirty="0"/>
              <a:t>There are two options for this, both of which use your web browser (e.g. Chrome):</a:t>
            </a:r>
          </a:p>
          <a:p>
            <a:pPr lvl="1"/>
            <a:r>
              <a:rPr lang="en-GB" dirty="0"/>
              <a:t>If you’re happy to use a Google account and run your code online, then use Google </a:t>
            </a:r>
            <a:r>
              <a:rPr lang="en-GB" dirty="0" err="1"/>
              <a:t>Colab</a:t>
            </a:r>
            <a:r>
              <a:rPr lang="en-GB" dirty="0"/>
              <a:t> (</a:t>
            </a:r>
            <a:r>
              <a:rPr lang="en-GB" dirty="0">
                <a:hlinkClick r:id="rId3" action="ppaction://hlinkfile"/>
              </a:rPr>
              <a:t>colab.research.google.com</a:t>
            </a:r>
            <a:r>
              <a:rPr lang="en-GB" dirty="0"/>
              <a:t>).  This has the advantage of cloud backups, processing power, automatic updates and remote access</a:t>
            </a:r>
          </a:p>
          <a:p>
            <a:pPr lvl="1"/>
            <a:r>
              <a:rPr lang="en-GB" dirty="0"/>
              <a:t>Alternatively, you can install Anaconda (</a:t>
            </a:r>
            <a:r>
              <a:rPr lang="en-GB" u="sng" dirty="0">
                <a:hlinkClick r:id="rId4"/>
              </a:rPr>
              <a:t>www.anaconda.com</a:t>
            </a:r>
            <a:r>
              <a:rPr lang="en-GB" dirty="0"/>
              <a:t>), which includes </a:t>
            </a:r>
            <a:r>
              <a:rPr lang="en-GB" dirty="0" err="1"/>
              <a:t>Jupyter</a:t>
            </a:r>
            <a:r>
              <a:rPr lang="en-GB" dirty="0"/>
              <a:t> Notebook</a:t>
            </a:r>
          </a:p>
          <a:p>
            <a:r>
              <a:rPr lang="en-GB" dirty="0"/>
              <a:t>Note that we’ll use Python3 (it’s the default with both of the above).  Python2 is still sometimes used, but there are subtle differences and it’s best avoided nowadays.</a:t>
            </a:r>
          </a:p>
          <a:p>
            <a:r>
              <a:rPr lang="en-GB" dirty="0"/>
              <a:t>Click ‘File &gt; New notebook’ to get started in </a:t>
            </a:r>
            <a:r>
              <a:rPr lang="en-GB" dirty="0" err="1"/>
              <a:t>Colab</a:t>
            </a:r>
            <a:endParaRPr lang="en-GB" dirty="0"/>
          </a:p>
        </p:txBody>
      </p:sp>
      <p:pic>
        <p:nvPicPr>
          <p:cNvPr id="4" name="Picture 3">
            <a:extLst>
              <a:ext uri="{FF2B5EF4-FFF2-40B4-BE49-F238E27FC236}">
                <a16:creationId xmlns:a16="http://schemas.microsoft.com/office/drawing/2014/main" id="{BCC51A9F-79DD-4F5C-A61A-BBB99C366924}"/>
              </a:ext>
            </a:extLst>
          </p:cNvPr>
          <p:cNvPicPr>
            <a:picLocks noChangeAspect="1"/>
          </p:cNvPicPr>
          <p:nvPr/>
        </p:nvPicPr>
        <p:blipFill rotWithShape="1">
          <a:blip r:embed="rId5"/>
          <a:srcRect l="49342" t="6596" r="19948" b="45965"/>
          <a:stretch/>
        </p:blipFill>
        <p:spPr>
          <a:xfrm>
            <a:off x="8065969" y="3239535"/>
            <a:ext cx="3744229" cy="3253340"/>
          </a:xfrm>
          <a:prstGeom prst="rect">
            <a:avLst/>
          </a:prstGeom>
        </p:spPr>
      </p:pic>
      <p:pic>
        <p:nvPicPr>
          <p:cNvPr id="5" name="Picture 4">
            <a:extLst>
              <a:ext uri="{FF2B5EF4-FFF2-40B4-BE49-F238E27FC236}">
                <a16:creationId xmlns:a16="http://schemas.microsoft.com/office/drawing/2014/main" id="{E3955DF4-A5CC-48C4-8184-8D0701584D38}"/>
              </a:ext>
            </a:extLst>
          </p:cNvPr>
          <p:cNvPicPr>
            <a:picLocks noChangeAspect="1"/>
          </p:cNvPicPr>
          <p:nvPr/>
        </p:nvPicPr>
        <p:blipFill rotWithShape="1">
          <a:blip r:embed="rId6"/>
          <a:srcRect l="49342" t="7579" r="16635" b="50000"/>
          <a:stretch/>
        </p:blipFill>
        <p:spPr>
          <a:xfrm>
            <a:off x="7205646" y="330299"/>
            <a:ext cx="4148154" cy="2909236"/>
          </a:xfrm>
          <a:prstGeom prst="rect">
            <a:avLst/>
          </a:prstGeom>
        </p:spPr>
      </p:pic>
      <p:cxnSp>
        <p:nvCxnSpPr>
          <p:cNvPr id="6" name="Straight Arrow Connector 5">
            <a:extLst>
              <a:ext uri="{FF2B5EF4-FFF2-40B4-BE49-F238E27FC236}">
                <a16:creationId xmlns:a16="http://schemas.microsoft.com/office/drawing/2014/main" id="{6ACC1652-0AE6-4486-9265-F336FA74C38C}"/>
              </a:ext>
            </a:extLst>
          </p:cNvPr>
          <p:cNvCxnSpPr>
            <a:cxnSpLocks/>
          </p:cNvCxnSpPr>
          <p:nvPr/>
        </p:nvCxnSpPr>
        <p:spPr>
          <a:xfrm flipV="1">
            <a:off x="6781458" y="3003083"/>
            <a:ext cx="832125" cy="61538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322DBF5-6B40-4E7B-8D5D-532BA78BEADB}"/>
              </a:ext>
            </a:extLst>
          </p:cNvPr>
          <p:cNvCxnSpPr>
            <a:cxnSpLocks/>
          </p:cNvCxnSpPr>
          <p:nvPr/>
        </p:nvCxnSpPr>
        <p:spPr>
          <a:xfrm>
            <a:off x="6781458" y="4514065"/>
            <a:ext cx="1339750" cy="43794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7145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09DF8-FE8C-4BC9-B0A7-F58DFD1FBFCB}"/>
              </a:ext>
            </a:extLst>
          </p:cNvPr>
          <p:cNvSpPr>
            <a:spLocks noGrp="1"/>
          </p:cNvSpPr>
          <p:nvPr>
            <p:ph type="title"/>
          </p:nvPr>
        </p:nvSpPr>
        <p:spPr>
          <a:xfrm>
            <a:off x="796891" y="158648"/>
            <a:ext cx="10515600" cy="1325563"/>
          </a:xfrm>
        </p:spPr>
        <p:txBody>
          <a:bodyPr/>
          <a:lstStyle/>
          <a:p>
            <a:r>
              <a:rPr lang="en-GB" dirty="0">
                <a:highlight>
                  <a:srgbClr val="FFFF00"/>
                </a:highlight>
              </a:rPr>
              <a:t>Coding basics and assigning variables</a:t>
            </a:r>
          </a:p>
        </p:txBody>
      </p:sp>
      <p:sp>
        <p:nvSpPr>
          <p:cNvPr id="3" name="Content Placeholder 2">
            <a:extLst>
              <a:ext uri="{FF2B5EF4-FFF2-40B4-BE49-F238E27FC236}">
                <a16:creationId xmlns:a16="http://schemas.microsoft.com/office/drawing/2014/main" id="{564A0F1A-2245-436A-BBFD-7BBF21E27AEA}"/>
              </a:ext>
            </a:extLst>
          </p:cNvPr>
          <p:cNvSpPr>
            <a:spLocks noGrp="1"/>
          </p:cNvSpPr>
          <p:nvPr>
            <p:ph idx="1"/>
          </p:nvPr>
        </p:nvSpPr>
        <p:spPr>
          <a:xfrm>
            <a:off x="429491" y="1163782"/>
            <a:ext cx="11111345" cy="5329093"/>
          </a:xfrm>
        </p:spPr>
        <p:txBody>
          <a:bodyPr>
            <a:normAutofit fontScale="62500" lnSpcReduction="20000"/>
          </a:bodyPr>
          <a:lstStyle/>
          <a:p>
            <a:r>
              <a:rPr lang="en-GB" dirty="0"/>
              <a:t>You write your code in ‘cells’ in </a:t>
            </a:r>
            <a:r>
              <a:rPr lang="en-GB" dirty="0" err="1"/>
              <a:t>Colab</a:t>
            </a:r>
            <a:r>
              <a:rPr lang="en-GB" dirty="0"/>
              <a:t>/</a:t>
            </a:r>
            <a:r>
              <a:rPr lang="en-GB" dirty="0" err="1"/>
              <a:t>Jupyter</a:t>
            </a:r>
            <a:r>
              <a:rPr lang="en-GB" dirty="0"/>
              <a:t>.  Cells will be ‘executed’ when you run them.</a:t>
            </a:r>
          </a:p>
          <a:p>
            <a:r>
              <a:rPr lang="en-GB" dirty="0"/>
              <a:t>Within each cell, the lines of your code will be executed in the sequence you’ve written them, e.g. </a:t>
            </a:r>
          </a:p>
          <a:p>
            <a:pPr marL="457200" lvl="1" indent="0">
              <a:buNone/>
            </a:pPr>
            <a:r>
              <a:rPr lang="en-GB" dirty="0">
                <a:latin typeface="Courier New" panose="02070309020205020404" pitchFamily="49" charset="0"/>
                <a:cs typeface="Courier New" panose="02070309020205020404" pitchFamily="49" charset="0"/>
              </a:rPr>
              <a:t>print(2+3)</a:t>
            </a:r>
            <a:br>
              <a:rPr lang="en-GB" dirty="0">
                <a:latin typeface="Courier New" panose="02070309020205020404" pitchFamily="49" charset="0"/>
                <a:cs typeface="Courier New" panose="02070309020205020404" pitchFamily="49" charset="0"/>
              </a:rPr>
            </a:br>
            <a:r>
              <a:rPr lang="en-GB" dirty="0">
                <a:latin typeface="Courier New" panose="02070309020205020404" pitchFamily="49" charset="0"/>
                <a:cs typeface="Courier New" panose="02070309020205020404" pitchFamily="49" charset="0"/>
              </a:rPr>
              <a:t>print(2*3)</a:t>
            </a:r>
            <a:endParaRPr lang="en-GB" dirty="0"/>
          </a:p>
          <a:p>
            <a:pPr marL="457200" lvl="1" indent="0">
              <a:buNone/>
            </a:pPr>
            <a:r>
              <a:rPr lang="en-GB" dirty="0"/>
              <a:t>The output will be 5 then 6.</a:t>
            </a:r>
          </a:p>
          <a:p>
            <a:r>
              <a:rPr lang="en-GB" dirty="0"/>
              <a:t>We use ‘operators’ to perform operations on values in the code (e.g. +, -, *, /)</a:t>
            </a:r>
          </a:p>
          <a:p>
            <a:r>
              <a:rPr lang="en-GB" dirty="0"/>
              <a:t>We can store values as computer ‘variables’, which lets us reuse them later, a bit like the memory button on a calculator, e.g.</a:t>
            </a:r>
          </a:p>
          <a:p>
            <a:pPr marL="457200" lvl="1" indent="0">
              <a:buNone/>
            </a:pPr>
            <a:r>
              <a:rPr lang="en-GB" dirty="0">
                <a:latin typeface="Courier New" panose="02070309020205020404" pitchFamily="49" charset="0"/>
                <a:cs typeface="Courier New" panose="02070309020205020404" pitchFamily="49" charset="0"/>
              </a:rPr>
              <a:t>var1 = 2*3</a:t>
            </a:r>
          </a:p>
          <a:p>
            <a:pPr marL="457200" lvl="1" indent="0">
              <a:buNone/>
            </a:pPr>
            <a:r>
              <a:rPr lang="en-GB" dirty="0">
                <a:latin typeface="Courier New" panose="02070309020205020404" pitchFamily="49" charset="0"/>
                <a:cs typeface="Courier New" panose="02070309020205020404" pitchFamily="49" charset="0"/>
              </a:rPr>
              <a:t>var2 = var1 + 10</a:t>
            </a:r>
          </a:p>
          <a:p>
            <a:pPr marL="457200" lvl="1" indent="0">
              <a:buNone/>
            </a:pPr>
            <a:r>
              <a:rPr lang="en-GB" dirty="0">
                <a:latin typeface="Courier New" panose="02070309020205020404" pitchFamily="49" charset="0"/>
                <a:cs typeface="Courier New" panose="02070309020205020404" pitchFamily="49" charset="0"/>
              </a:rPr>
              <a:t>print(var2)</a:t>
            </a:r>
            <a:endParaRPr lang="en-GB" dirty="0"/>
          </a:p>
          <a:p>
            <a:pPr marL="457200" lvl="1" indent="0">
              <a:buNone/>
            </a:pPr>
            <a:r>
              <a:rPr lang="en-GB" dirty="0"/>
              <a:t>The output will be 16 (i.e. 6+10).</a:t>
            </a:r>
          </a:p>
          <a:p>
            <a:r>
              <a:rPr lang="en-GB" dirty="0"/>
              <a:t>To ‘assign’ a variable (i.e. give it a value), you need to give it a name in front of an equals sign (which is the ‘assignment operator’), as shown above.  You can name a variable anything you want in Python, but:</a:t>
            </a:r>
          </a:p>
          <a:p>
            <a:pPr lvl="1"/>
            <a:r>
              <a:rPr lang="en-GB" dirty="0"/>
              <a:t>It must start with a letter or underscore</a:t>
            </a:r>
          </a:p>
          <a:p>
            <a:pPr lvl="1"/>
            <a:r>
              <a:rPr lang="en-GB" dirty="0"/>
              <a:t>It can only include letters, numbers and underscores (you can’t include spaces or any punctuation marks)</a:t>
            </a:r>
          </a:p>
          <a:p>
            <a:pPr lvl="1"/>
            <a:r>
              <a:rPr lang="en-GB" dirty="0"/>
              <a:t>It is case sensitive (e.g. var1 is not the same as VAR1)</a:t>
            </a:r>
          </a:p>
          <a:p>
            <a:pPr lvl="1"/>
            <a:r>
              <a:rPr lang="en-GB" dirty="0"/>
              <a:t>You need to avoid certain keywords that already mean something else in Python (e.g. if, for, else, list)</a:t>
            </a:r>
          </a:p>
          <a:p>
            <a:pPr lvl="1"/>
            <a:r>
              <a:rPr lang="en-GB" dirty="0"/>
              <a:t>You need to be careful if you choose to reassign a value to the same variable name – it will overwrite the previous value (see below)</a:t>
            </a:r>
          </a:p>
          <a:p>
            <a:r>
              <a:rPr lang="en-GB" dirty="0"/>
              <a:t>We can update a value for a variable by reassigning it, e.g. </a:t>
            </a:r>
            <a:r>
              <a:rPr lang="en-GB" sz="2400" dirty="0">
                <a:latin typeface="Courier New" panose="02070309020205020404" pitchFamily="49" charset="0"/>
                <a:cs typeface="Courier New" panose="02070309020205020404" pitchFamily="49" charset="0"/>
              </a:rPr>
              <a:t>var1=var1+2</a:t>
            </a:r>
            <a:r>
              <a:rPr lang="en-GB" dirty="0"/>
              <a:t> adds 2 to var1, then stores this new value</a:t>
            </a:r>
          </a:p>
          <a:p>
            <a:r>
              <a:rPr lang="en-GB" dirty="0"/>
              <a:t>N.B. computer variables are different to data variables, which are generally called ‘attributes’ to avoid confusion.</a:t>
            </a:r>
          </a:p>
        </p:txBody>
      </p:sp>
    </p:spTree>
    <p:extLst>
      <p:ext uri="{BB962C8B-B14F-4D97-AF65-F5344CB8AC3E}">
        <p14:creationId xmlns:p14="http://schemas.microsoft.com/office/powerpoint/2010/main" val="3399447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D2F5-6597-456B-A533-4F39696F39B6}"/>
              </a:ext>
            </a:extLst>
          </p:cNvPr>
          <p:cNvSpPr>
            <a:spLocks noGrp="1"/>
          </p:cNvSpPr>
          <p:nvPr>
            <p:ph type="title"/>
          </p:nvPr>
        </p:nvSpPr>
        <p:spPr/>
        <p:txBody>
          <a:bodyPr/>
          <a:lstStyle/>
          <a:p>
            <a:r>
              <a:rPr lang="en-GB" dirty="0">
                <a:highlight>
                  <a:srgbClr val="FFFF00"/>
                </a:highlight>
              </a:rPr>
              <a:t>Laying out and commenting code</a:t>
            </a:r>
          </a:p>
        </p:txBody>
      </p:sp>
      <p:sp>
        <p:nvSpPr>
          <p:cNvPr id="3" name="Content Placeholder 2">
            <a:extLst>
              <a:ext uri="{FF2B5EF4-FFF2-40B4-BE49-F238E27FC236}">
                <a16:creationId xmlns:a16="http://schemas.microsoft.com/office/drawing/2014/main" id="{A226DEDE-D112-4695-B456-829271D48D01}"/>
              </a:ext>
            </a:extLst>
          </p:cNvPr>
          <p:cNvSpPr>
            <a:spLocks noGrp="1"/>
          </p:cNvSpPr>
          <p:nvPr>
            <p:ph sz="half" idx="1"/>
          </p:nvPr>
        </p:nvSpPr>
        <p:spPr>
          <a:xfrm>
            <a:off x="609600" y="1484671"/>
            <a:ext cx="6052863" cy="5086862"/>
          </a:xfrm>
        </p:spPr>
        <p:txBody>
          <a:bodyPr>
            <a:normAutofit fontScale="70000" lnSpcReduction="20000"/>
          </a:bodyPr>
          <a:lstStyle/>
          <a:p>
            <a:r>
              <a:rPr lang="en-GB" dirty="0"/>
              <a:t>We write code primarily for a computer to understand.  However, it’s just as important that we can understand it too:</a:t>
            </a:r>
          </a:p>
          <a:p>
            <a:pPr lvl="1"/>
            <a:r>
              <a:rPr lang="en-GB" dirty="0"/>
              <a:t>Blank lines and blank spaces between operators help to present code more clearly, and do not affect calculations</a:t>
            </a:r>
          </a:p>
          <a:p>
            <a:pPr lvl="1"/>
            <a:r>
              <a:rPr lang="en-GB" dirty="0"/>
              <a:t>Comments (as shown on right) are very important, both to remind us what we’ve previously coded when we come back to it, and for other people to make sense of it too.</a:t>
            </a:r>
          </a:p>
          <a:p>
            <a:r>
              <a:rPr lang="en-GB" dirty="0"/>
              <a:t>You can add comments by using a # sign.  Everything after the # is a comment, e.g.</a:t>
            </a:r>
          </a:p>
          <a:p>
            <a:pPr marL="457200" lvl="1" indent="0">
              <a:buNone/>
            </a:pPr>
            <a:r>
              <a:rPr lang="en-GB" dirty="0">
                <a:latin typeface="Courier New" panose="02070309020205020404" pitchFamily="49" charset="0"/>
                <a:cs typeface="Courier New" panose="02070309020205020404" pitchFamily="49" charset="0"/>
              </a:rPr>
              <a:t>print(2+3) # this will show the result 5</a:t>
            </a:r>
            <a:endParaRPr lang="en-GB" dirty="0"/>
          </a:p>
          <a:p>
            <a:r>
              <a:rPr lang="en-GB" dirty="0"/>
              <a:t>In comments, you should describe the important details while avoiding stating the obvious</a:t>
            </a:r>
          </a:p>
          <a:p>
            <a:r>
              <a:rPr lang="en-GB" dirty="0"/>
              <a:t>Sometimes we want to write multiple lines of comments.  We could put a # at the start of each line, but another option is to use 3 quotation marks (or inverted commas, they do the same thing) to start and end the comment block (see examples on right).</a:t>
            </a:r>
          </a:p>
          <a:p>
            <a:r>
              <a:rPr lang="en-GB" dirty="0"/>
              <a:t>Blank lines have no effect on the code, and can help presentation.  This is also true for blank spaces between variables, operators and any other syntax.</a:t>
            </a:r>
          </a:p>
          <a:p>
            <a:endParaRPr lang="en-GB" dirty="0"/>
          </a:p>
        </p:txBody>
      </p:sp>
      <p:sp>
        <p:nvSpPr>
          <p:cNvPr id="8" name="TextBox 7">
            <a:extLst>
              <a:ext uri="{FF2B5EF4-FFF2-40B4-BE49-F238E27FC236}">
                <a16:creationId xmlns:a16="http://schemas.microsoft.com/office/drawing/2014/main" id="{4D1B9E70-3BBB-46F1-B337-BCF929C4FAC4}"/>
              </a:ext>
            </a:extLst>
          </p:cNvPr>
          <p:cNvSpPr txBox="1"/>
          <p:nvPr/>
        </p:nvSpPr>
        <p:spPr>
          <a:xfrm>
            <a:off x="7154076" y="1690688"/>
            <a:ext cx="4092787" cy="3970318"/>
          </a:xfrm>
          <a:prstGeom prst="rect">
            <a:avLst/>
          </a:prstGeom>
          <a:noFill/>
          <a:ln>
            <a:solidFill>
              <a:schemeClr val="tx1"/>
            </a:solidFill>
          </a:ln>
        </p:spPr>
        <p:txBody>
          <a:bodyPr wrap="none" rtlCol="0">
            <a:spAutoFit/>
          </a:bodyPr>
          <a:lstStyle/>
          <a:p>
            <a:pPr lvl="1"/>
            <a:endParaRPr lang="en-GB" dirty="0">
              <a:latin typeface="Courier New" panose="02070309020205020404" pitchFamily="49" charset="0"/>
              <a:cs typeface="Courier New" panose="02070309020205020404" pitchFamily="49" charset="0"/>
            </a:endParaRPr>
          </a:p>
          <a:p>
            <a:pPr lvl="1"/>
            <a:r>
              <a:rPr lang="en-GB" dirty="0">
                <a:latin typeface="Courier New" panose="02070309020205020404" pitchFamily="49" charset="0"/>
                <a:cs typeface="Courier New" panose="02070309020205020404" pitchFamily="49" charset="0"/>
              </a:rPr>
              <a:t>"""</a:t>
            </a:r>
          </a:p>
          <a:p>
            <a:pPr lvl="1"/>
            <a:r>
              <a:rPr lang="en-GB" dirty="0">
                <a:latin typeface="Courier New" panose="02070309020205020404" pitchFamily="49" charset="0"/>
                <a:cs typeface="Courier New" panose="02070309020205020404" pitchFamily="49" charset="0"/>
              </a:rPr>
              <a:t>Everything here</a:t>
            </a:r>
          </a:p>
          <a:p>
            <a:pPr lvl="1"/>
            <a:r>
              <a:rPr lang="en-GB" dirty="0">
                <a:latin typeface="Courier New" panose="02070309020205020404" pitchFamily="49" charset="0"/>
                <a:cs typeface="Courier New" panose="02070309020205020404" pitchFamily="49" charset="0"/>
              </a:rPr>
              <a:t>is a comment</a:t>
            </a:r>
          </a:p>
          <a:p>
            <a:pPr lvl="1"/>
            <a:r>
              <a:rPr lang="en-GB" dirty="0">
                <a:latin typeface="Courier New" panose="02070309020205020404" pitchFamily="49" charset="0"/>
                <a:cs typeface="Courier New" panose="02070309020205020404" pitchFamily="49" charset="0"/>
              </a:rPr>
              <a:t>which Python will ignore</a:t>
            </a:r>
          </a:p>
          <a:p>
            <a:pPr lvl="1"/>
            <a:r>
              <a:rPr lang="en-GB" dirty="0">
                <a:latin typeface="Courier New" panose="02070309020205020404" pitchFamily="49" charset="0"/>
                <a:cs typeface="Courier New" panose="02070309020205020404" pitchFamily="49" charset="0"/>
              </a:rPr>
              <a:t>"""</a:t>
            </a:r>
          </a:p>
          <a:p>
            <a:pPr lvl="1"/>
            <a:endParaRPr lang="en-GB" dirty="0">
              <a:latin typeface="Courier New" panose="02070309020205020404" pitchFamily="49" charset="0"/>
              <a:cs typeface="Courier New" panose="02070309020205020404" pitchFamily="49" charset="0"/>
            </a:endParaRPr>
          </a:p>
          <a:p>
            <a:pPr lvl="1"/>
            <a:r>
              <a:rPr lang="en-GB" dirty="0">
                <a:latin typeface="Courier New" panose="02070309020205020404" pitchFamily="49" charset="0"/>
                <a:cs typeface="Courier New" panose="02070309020205020404" pitchFamily="49" charset="0"/>
              </a:rPr>
              <a:t>print(2+3) # this gives 5</a:t>
            </a:r>
          </a:p>
          <a:p>
            <a:pPr lvl="1"/>
            <a:endParaRPr lang="en-GB" dirty="0">
              <a:latin typeface="Courier New" panose="02070309020205020404" pitchFamily="49" charset="0"/>
              <a:cs typeface="Courier New" panose="02070309020205020404" pitchFamily="49" charset="0"/>
            </a:endParaRPr>
          </a:p>
          <a:p>
            <a:pPr lvl="1"/>
            <a:r>
              <a:rPr lang="en-GB" dirty="0">
                <a:latin typeface="Courier New" panose="02070309020205020404" pitchFamily="49" charset="0"/>
                <a:cs typeface="Courier New" panose="02070309020205020404" pitchFamily="49" charset="0"/>
              </a:rPr>
              <a:t>'''</a:t>
            </a:r>
          </a:p>
          <a:p>
            <a:pPr lvl="1"/>
            <a:r>
              <a:rPr lang="en-GB" dirty="0">
                <a:latin typeface="Courier New" panose="02070309020205020404" pitchFamily="49" charset="0"/>
                <a:cs typeface="Courier New" panose="02070309020205020404" pitchFamily="49" charset="0"/>
              </a:rPr>
              <a:t>This is also a</a:t>
            </a:r>
          </a:p>
          <a:p>
            <a:pPr lvl="1"/>
            <a:r>
              <a:rPr lang="en-GB" dirty="0">
                <a:latin typeface="Courier New" panose="02070309020205020404" pitchFamily="49" charset="0"/>
                <a:cs typeface="Courier New" panose="02070309020205020404" pitchFamily="49" charset="0"/>
              </a:rPr>
              <a:t>comment</a:t>
            </a:r>
          </a:p>
          <a:p>
            <a:pPr lvl="1"/>
            <a:r>
              <a:rPr lang="en-GB" dirty="0">
                <a:latin typeface="Courier New" panose="02070309020205020404" pitchFamily="49" charset="0"/>
                <a:cs typeface="Courier New" panose="02070309020205020404" pitchFamily="49" charset="0"/>
              </a:rPr>
              <a:t>'''</a:t>
            </a:r>
          </a:p>
          <a:p>
            <a:endParaRPr lang="en-GB" dirty="0"/>
          </a:p>
        </p:txBody>
      </p:sp>
    </p:spTree>
    <p:extLst>
      <p:ext uri="{BB962C8B-B14F-4D97-AF65-F5344CB8AC3E}">
        <p14:creationId xmlns:p14="http://schemas.microsoft.com/office/powerpoint/2010/main" val="3462733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DDC30-F2BD-4A2E-81F6-CDE1644CE8BB}"/>
              </a:ext>
            </a:extLst>
          </p:cNvPr>
          <p:cNvSpPr>
            <a:spLocks noGrp="1"/>
          </p:cNvSpPr>
          <p:nvPr>
            <p:ph type="title"/>
          </p:nvPr>
        </p:nvSpPr>
        <p:spPr/>
        <p:txBody>
          <a:bodyPr/>
          <a:lstStyle/>
          <a:p>
            <a:r>
              <a:rPr lang="en-GB" dirty="0">
                <a:highlight>
                  <a:srgbClr val="FFFF00"/>
                </a:highlight>
              </a:rPr>
              <a:t>Adding further text</a:t>
            </a:r>
          </a:p>
        </p:txBody>
      </p:sp>
      <p:sp>
        <p:nvSpPr>
          <p:cNvPr id="3" name="Content Placeholder 2">
            <a:extLst>
              <a:ext uri="{FF2B5EF4-FFF2-40B4-BE49-F238E27FC236}">
                <a16:creationId xmlns:a16="http://schemas.microsoft.com/office/drawing/2014/main" id="{B8DC5F5F-79DD-4A23-9244-9526E49A205F}"/>
              </a:ext>
            </a:extLst>
          </p:cNvPr>
          <p:cNvSpPr>
            <a:spLocks noGrp="1"/>
          </p:cNvSpPr>
          <p:nvPr>
            <p:ph idx="1"/>
          </p:nvPr>
        </p:nvSpPr>
        <p:spPr>
          <a:xfrm>
            <a:off x="667463" y="1958600"/>
            <a:ext cx="5317234" cy="4351338"/>
          </a:xfrm>
        </p:spPr>
        <p:txBody>
          <a:bodyPr>
            <a:normAutofit fontScale="85000" lnSpcReduction="20000"/>
          </a:bodyPr>
          <a:lstStyle/>
          <a:p>
            <a:r>
              <a:rPr lang="en-GB" dirty="0"/>
              <a:t>In addition to commenting, with </a:t>
            </a:r>
            <a:r>
              <a:rPr lang="en-GB" dirty="0" err="1"/>
              <a:t>Colab</a:t>
            </a:r>
            <a:r>
              <a:rPr lang="en-GB" dirty="0"/>
              <a:t>/</a:t>
            </a:r>
            <a:r>
              <a:rPr lang="en-GB" dirty="0" err="1"/>
              <a:t>Jupyter</a:t>
            </a:r>
            <a:r>
              <a:rPr lang="en-GB" dirty="0"/>
              <a:t>, we can add text cells (i.e. cells with no computer code)</a:t>
            </a:r>
          </a:p>
          <a:p>
            <a:r>
              <a:rPr lang="en-GB" dirty="0"/>
              <a:t>These let us format the text so it’s nicer to read than comments in the code</a:t>
            </a:r>
          </a:p>
          <a:p>
            <a:pPr lvl="1"/>
            <a:r>
              <a:rPr lang="en-GB" dirty="0"/>
              <a:t>If using a </a:t>
            </a:r>
            <a:r>
              <a:rPr lang="en-GB" dirty="0" err="1"/>
              <a:t>Juypter</a:t>
            </a:r>
            <a:r>
              <a:rPr lang="en-GB" dirty="0"/>
              <a:t> Notebook, you’ll have to ‘run’ the cell to apply the formatting</a:t>
            </a:r>
          </a:p>
          <a:p>
            <a:r>
              <a:rPr lang="en-GB" dirty="0"/>
              <a:t>Along with the ability to show inline plots (which we’ll come to later), this makes </a:t>
            </a:r>
            <a:r>
              <a:rPr lang="en-GB" dirty="0" err="1"/>
              <a:t>Jupyter</a:t>
            </a:r>
            <a:r>
              <a:rPr lang="en-GB" dirty="0"/>
              <a:t> an excellent way to present all your data science work in one place, e.g. as a blog</a:t>
            </a:r>
          </a:p>
          <a:p>
            <a:r>
              <a:rPr lang="en-GB" dirty="0"/>
              <a:t>See </a:t>
            </a:r>
            <a:r>
              <a:rPr lang="en-GB" dirty="0">
                <a:hlinkClick r:id="rId3"/>
              </a:rPr>
              <a:t>www.markdownguide.org/cheat-sheet</a:t>
            </a:r>
            <a:r>
              <a:rPr lang="en-GB" dirty="0"/>
              <a:t> for further formatting options</a:t>
            </a:r>
          </a:p>
        </p:txBody>
      </p:sp>
      <p:pic>
        <p:nvPicPr>
          <p:cNvPr id="4" name="Picture 3">
            <a:extLst>
              <a:ext uri="{FF2B5EF4-FFF2-40B4-BE49-F238E27FC236}">
                <a16:creationId xmlns:a16="http://schemas.microsoft.com/office/drawing/2014/main" id="{54426403-EEE4-4E72-B8ED-454F6AEF97D9}"/>
              </a:ext>
            </a:extLst>
          </p:cNvPr>
          <p:cNvPicPr>
            <a:picLocks noChangeAspect="1"/>
          </p:cNvPicPr>
          <p:nvPr/>
        </p:nvPicPr>
        <p:blipFill rotWithShape="1">
          <a:blip r:embed="rId4"/>
          <a:srcRect l="21129" t="27670" r="45490" b="20589"/>
          <a:stretch/>
        </p:blipFill>
        <p:spPr>
          <a:xfrm>
            <a:off x="6422675" y="279760"/>
            <a:ext cx="3851095" cy="3357680"/>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7185E2D5-115E-43A9-AC5A-F78A9AFEC55D}"/>
              </a:ext>
            </a:extLst>
          </p:cNvPr>
          <p:cNvPicPr>
            <a:picLocks noChangeAspect="1"/>
          </p:cNvPicPr>
          <p:nvPr/>
        </p:nvPicPr>
        <p:blipFill rotWithShape="1">
          <a:blip r:embed="rId4"/>
          <a:srcRect l="58484" t="27670" r="8790" b="8880"/>
          <a:stretch/>
        </p:blipFill>
        <p:spPr>
          <a:xfrm>
            <a:off x="8042925" y="2428231"/>
            <a:ext cx="3635725" cy="39651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90862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3EFA40-3780-4C07-9463-E088176DB8FB}"/>
              </a:ext>
            </a:extLst>
          </p:cNvPr>
          <p:cNvSpPr>
            <a:spLocks noGrp="1"/>
          </p:cNvSpPr>
          <p:nvPr>
            <p:ph type="title"/>
          </p:nvPr>
        </p:nvSpPr>
        <p:spPr/>
        <p:txBody>
          <a:bodyPr/>
          <a:lstStyle/>
          <a:p>
            <a:r>
              <a:rPr lang="en-GB" dirty="0">
                <a:highlight>
                  <a:srgbClr val="FFFF00"/>
                </a:highlight>
              </a:rPr>
              <a:t>Data types</a:t>
            </a:r>
          </a:p>
        </p:txBody>
      </p:sp>
      <p:sp>
        <p:nvSpPr>
          <p:cNvPr id="5" name="Content Placeholder 4">
            <a:extLst>
              <a:ext uri="{FF2B5EF4-FFF2-40B4-BE49-F238E27FC236}">
                <a16:creationId xmlns:a16="http://schemas.microsoft.com/office/drawing/2014/main" id="{18BF6DA6-C498-42FA-9465-AB3A71C5E8A6}"/>
              </a:ext>
            </a:extLst>
          </p:cNvPr>
          <p:cNvSpPr>
            <a:spLocks noGrp="1"/>
          </p:cNvSpPr>
          <p:nvPr>
            <p:ph idx="1"/>
          </p:nvPr>
        </p:nvSpPr>
        <p:spPr>
          <a:xfrm>
            <a:off x="838200" y="1825625"/>
            <a:ext cx="10515600" cy="4351338"/>
          </a:xfrm>
        </p:spPr>
        <p:txBody>
          <a:bodyPr>
            <a:normAutofit fontScale="77500" lnSpcReduction="20000"/>
          </a:bodyPr>
          <a:lstStyle/>
          <a:p>
            <a:r>
              <a:rPr lang="en-GB" dirty="0"/>
              <a:t>Before writing code, it will help if we consider different types of values we might want to use, termed 'data types'. These include:</a:t>
            </a:r>
          </a:p>
          <a:p>
            <a:pPr lvl="1"/>
            <a:r>
              <a:rPr lang="en-GB" dirty="0">
                <a:latin typeface="Courier New" panose="02070309020205020404" pitchFamily="49" charset="0"/>
                <a:cs typeface="Courier New" panose="02070309020205020404" pitchFamily="49" charset="0"/>
              </a:rPr>
              <a:t>int </a:t>
            </a:r>
            <a:r>
              <a:rPr lang="en-GB" dirty="0"/>
              <a:t>Integers (i.e. whole numbers), </a:t>
            </a:r>
            <a:r>
              <a:rPr lang="en-GB" dirty="0" err="1"/>
              <a:t>e.g</a:t>
            </a:r>
            <a:r>
              <a:rPr lang="en-GB" dirty="0"/>
              <a:t> -375</a:t>
            </a:r>
          </a:p>
          <a:p>
            <a:pPr lvl="1"/>
            <a:r>
              <a:rPr lang="en-GB" dirty="0">
                <a:latin typeface="Courier New" panose="02070309020205020404" pitchFamily="49" charset="0"/>
                <a:cs typeface="Courier New" panose="02070309020205020404" pitchFamily="49" charset="0"/>
              </a:rPr>
              <a:t>float </a:t>
            </a:r>
            <a:r>
              <a:rPr lang="en-GB" dirty="0"/>
              <a:t>Floats (i.e. decimal numbers), e.g. 4.738</a:t>
            </a:r>
          </a:p>
          <a:p>
            <a:pPr lvl="1"/>
            <a:r>
              <a:rPr lang="en-GB" dirty="0">
                <a:latin typeface="Courier New" panose="02070309020205020404" pitchFamily="49" charset="0"/>
                <a:cs typeface="Courier New" panose="02070309020205020404" pitchFamily="49" charset="0"/>
              </a:rPr>
              <a:t>str </a:t>
            </a:r>
            <a:r>
              <a:rPr lang="en-GB" dirty="0"/>
              <a:t>Strings (i.e. text), e.g. "this is a string", 'this is a string', 'this "is" a string', '3.34'</a:t>
            </a:r>
          </a:p>
          <a:p>
            <a:pPr lvl="1"/>
            <a:r>
              <a:rPr lang="en-GB" dirty="0">
                <a:latin typeface="Courier New" panose="02070309020205020404" pitchFamily="49" charset="0"/>
                <a:cs typeface="Courier New" panose="02070309020205020404" pitchFamily="49" charset="0"/>
              </a:rPr>
              <a:t>list </a:t>
            </a:r>
            <a:r>
              <a:rPr lang="en-GB" dirty="0"/>
              <a:t>Lists (i.e. ordered collections of values), e.g. [43, 6.32, "hi"]</a:t>
            </a:r>
          </a:p>
          <a:p>
            <a:pPr lvl="1"/>
            <a:r>
              <a:rPr lang="en-GB" dirty="0" err="1">
                <a:latin typeface="Courier New" panose="02070309020205020404" pitchFamily="49" charset="0"/>
                <a:cs typeface="Courier New" panose="02070309020205020404" pitchFamily="49" charset="0"/>
              </a:rPr>
              <a:t>dict</a:t>
            </a:r>
            <a:r>
              <a:rPr lang="en-GB" dirty="0">
                <a:latin typeface="Courier New" panose="02070309020205020404" pitchFamily="49" charset="0"/>
                <a:cs typeface="Courier New" panose="02070309020205020404" pitchFamily="49" charset="0"/>
              </a:rPr>
              <a:t> </a:t>
            </a:r>
            <a:r>
              <a:rPr lang="en-GB" dirty="0"/>
              <a:t>Dictionaries (i.e. labelled collections of values), e.g. {'a': 43, 'b': 6.32, 'c': “hi”}</a:t>
            </a:r>
          </a:p>
          <a:p>
            <a:pPr lvl="1"/>
            <a:r>
              <a:rPr lang="en-GB" dirty="0">
                <a:latin typeface="Courier New" panose="02070309020205020404" pitchFamily="49" charset="0"/>
                <a:cs typeface="Courier New" panose="02070309020205020404" pitchFamily="49" charset="0"/>
              </a:rPr>
              <a:t>bool </a:t>
            </a:r>
            <a:r>
              <a:rPr lang="en-GB" dirty="0"/>
              <a:t>Booleans (i.e. True or False), e.g. 5&gt;6 # this will be False</a:t>
            </a:r>
          </a:p>
          <a:p>
            <a:r>
              <a:rPr lang="en-GB" dirty="0"/>
              <a:t>There are lots of other data types, some of which we will also consider</a:t>
            </a:r>
          </a:p>
          <a:p>
            <a:r>
              <a:rPr lang="en-GB" dirty="0"/>
              <a:t>Python will guess the data type based on the variable definition, but these can also be declared explicitly, e.g. </a:t>
            </a:r>
            <a:r>
              <a:rPr lang="en-GB" sz="2400" dirty="0">
                <a:latin typeface="Courier New" panose="02070309020205020404" pitchFamily="49" charset="0"/>
                <a:cs typeface="Courier New" panose="02070309020205020404" pitchFamily="49" charset="0"/>
              </a:rPr>
              <a:t>a=int(-2) </a:t>
            </a:r>
            <a:r>
              <a:rPr lang="en-GB" dirty="0">
                <a:cs typeface="Courier New" panose="02070309020205020404" pitchFamily="49" charset="0"/>
              </a:rPr>
              <a:t>or</a:t>
            </a:r>
            <a:r>
              <a:rPr lang="en-GB" sz="2400" dirty="0">
                <a:latin typeface="Courier New" panose="02070309020205020404" pitchFamily="49" charset="0"/>
                <a:cs typeface="Courier New" panose="02070309020205020404" pitchFamily="49" charset="0"/>
              </a:rPr>
              <a:t> a=float(-3)</a:t>
            </a:r>
            <a:r>
              <a:rPr lang="en-GB" dirty="0"/>
              <a:t>, or converted, e.g. </a:t>
            </a:r>
            <a:r>
              <a:rPr lang="en-GB" sz="2500" dirty="0">
                <a:latin typeface="Courier New" panose="02070309020205020404" pitchFamily="49" charset="0"/>
                <a:cs typeface="Courier New" panose="02070309020205020404" pitchFamily="49" charset="0"/>
              </a:rPr>
              <a:t>a=int('98')</a:t>
            </a:r>
          </a:p>
          <a:p>
            <a:r>
              <a:rPr lang="en-GB" dirty="0"/>
              <a:t>While we don’t always need to think too much about data types, it’s often an important consideration in terms of both the operations we can perform (remember scales of measurement!) and what the operator actually does. This is particularly true when reading in data, which we'll </a:t>
            </a:r>
            <a:r>
              <a:rPr lang="en-GB"/>
              <a:t>start doing soon</a:t>
            </a:r>
            <a:endParaRPr lang="en-GB" dirty="0"/>
          </a:p>
        </p:txBody>
      </p:sp>
    </p:spTree>
    <p:extLst>
      <p:ext uri="{BB962C8B-B14F-4D97-AF65-F5344CB8AC3E}">
        <p14:creationId xmlns:p14="http://schemas.microsoft.com/office/powerpoint/2010/main" val="2401372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93207-8E5E-462D-B315-DE7EEFBEE087}"/>
              </a:ext>
            </a:extLst>
          </p:cNvPr>
          <p:cNvSpPr>
            <a:spLocks noGrp="1"/>
          </p:cNvSpPr>
          <p:nvPr>
            <p:ph type="title"/>
          </p:nvPr>
        </p:nvSpPr>
        <p:spPr/>
        <p:txBody>
          <a:bodyPr/>
          <a:lstStyle/>
          <a:p>
            <a:r>
              <a:rPr lang="en-GB" dirty="0"/>
              <a:t>Exercise</a:t>
            </a:r>
          </a:p>
        </p:txBody>
      </p:sp>
      <p:sp>
        <p:nvSpPr>
          <p:cNvPr id="3" name="Content Placeholder 2">
            <a:extLst>
              <a:ext uri="{FF2B5EF4-FFF2-40B4-BE49-F238E27FC236}">
                <a16:creationId xmlns:a16="http://schemas.microsoft.com/office/drawing/2014/main" id="{4815ECFC-1920-4B6F-B7D9-420A02AA57DB}"/>
              </a:ext>
            </a:extLst>
          </p:cNvPr>
          <p:cNvSpPr>
            <a:spLocks noGrp="1"/>
          </p:cNvSpPr>
          <p:nvPr>
            <p:ph idx="1"/>
          </p:nvPr>
        </p:nvSpPr>
        <p:spPr/>
        <p:txBody>
          <a:bodyPr/>
          <a:lstStyle/>
          <a:p>
            <a:r>
              <a:rPr lang="en-GB" dirty="0"/>
              <a:t>Define your name and height as variables, with suitable variable names and comments</a:t>
            </a:r>
          </a:p>
          <a:p>
            <a:r>
              <a:rPr lang="en-GB"/>
              <a:t>Make these have </a:t>
            </a:r>
            <a:r>
              <a:rPr lang="en-GB" dirty="0"/>
              <a:t>suitable data types</a:t>
            </a:r>
          </a:p>
          <a:p>
            <a:r>
              <a:rPr lang="en-GB" dirty="0"/>
              <a:t>Describe them using the scales of measurement from last week, and state whether they are discrete or continuous</a:t>
            </a:r>
          </a:p>
        </p:txBody>
      </p:sp>
    </p:spTree>
    <p:extLst>
      <p:ext uri="{BB962C8B-B14F-4D97-AF65-F5344CB8AC3E}">
        <p14:creationId xmlns:p14="http://schemas.microsoft.com/office/powerpoint/2010/main" val="3915490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E7071-8148-447C-B6F8-F57420D55F97}"/>
              </a:ext>
            </a:extLst>
          </p:cNvPr>
          <p:cNvSpPr>
            <a:spLocks noGrp="1"/>
          </p:cNvSpPr>
          <p:nvPr>
            <p:ph type="title"/>
          </p:nvPr>
        </p:nvSpPr>
        <p:spPr/>
        <p:txBody>
          <a:bodyPr/>
          <a:lstStyle/>
          <a:p>
            <a:r>
              <a:rPr lang="en-GB" dirty="0">
                <a:highlight>
                  <a:srgbClr val="FFFF00"/>
                </a:highlight>
              </a:rPr>
              <a:t>Functions</a:t>
            </a:r>
          </a:p>
        </p:txBody>
      </p:sp>
      <p:sp>
        <p:nvSpPr>
          <p:cNvPr id="3" name="Content Placeholder 2">
            <a:extLst>
              <a:ext uri="{FF2B5EF4-FFF2-40B4-BE49-F238E27FC236}">
                <a16:creationId xmlns:a16="http://schemas.microsoft.com/office/drawing/2014/main" id="{F8AC22A4-B763-45B0-B935-2644AE65365C}"/>
              </a:ext>
            </a:extLst>
          </p:cNvPr>
          <p:cNvSpPr>
            <a:spLocks noGrp="1"/>
          </p:cNvSpPr>
          <p:nvPr>
            <p:ph idx="1"/>
          </p:nvPr>
        </p:nvSpPr>
        <p:spPr/>
        <p:txBody>
          <a:bodyPr>
            <a:normAutofit lnSpcReduction="10000"/>
          </a:bodyPr>
          <a:lstStyle/>
          <a:p>
            <a:r>
              <a:rPr lang="en-GB" dirty="0"/>
              <a:t>Sometimes we want to repeat a calculation using different values each time, e.g.</a:t>
            </a:r>
          </a:p>
          <a:p>
            <a:pPr lvl="1"/>
            <a:r>
              <a:rPr lang="en-GB" dirty="0"/>
              <a:t>To calculate the engagement rate (ER) of a social media post, you could use the engagement count of the post (EC) and the total follower count (FC) and apply the following formula to obtain the percentage of followers who engaged with the post: </a:t>
            </a:r>
            <a:r>
              <a:rPr lang="en-GB" dirty="0">
                <a:latin typeface="Courier New" panose="02070309020205020404" pitchFamily="49" charset="0"/>
                <a:cs typeface="Courier New" panose="02070309020205020404" pitchFamily="49" charset="0"/>
              </a:rPr>
              <a:t>ER = (EC / FC) * 100</a:t>
            </a:r>
            <a:br>
              <a:rPr lang="en-GB" dirty="0">
                <a:latin typeface="Courier New" panose="02070309020205020404" pitchFamily="49" charset="0"/>
                <a:cs typeface="Courier New" panose="02070309020205020404" pitchFamily="49" charset="0"/>
              </a:rPr>
            </a:br>
            <a:r>
              <a:rPr lang="en-GB" dirty="0"/>
              <a:t>N.B the brackets force this part is calculated first – they’re not actually necessary here, but they help to make it clearer to the reader</a:t>
            </a:r>
          </a:p>
          <a:p>
            <a:pPr lvl="1"/>
            <a:r>
              <a:rPr lang="en-GB" dirty="0"/>
              <a:t>If we wanted to apply this formula to lots of different posts and users, we could write the same formula lots of times, but with different values for EC and FC</a:t>
            </a:r>
          </a:p>
          <a:p>
            <a:pPr lvl="1"/>
            <a:r>
              <a:rPr lang="en-GB" dirty="0"/>
              <a:t>A better way is to define a function for ER, which lets us store the formula so we can reuse it, similarly to how we can store values with variable names.</a:t>
            </a:r>
          </a:p>
          <a:p>
            <a:pPr lvl="1"/>
            <a:endParaRPr lang="en-GB" dirty="0"/>
          </a:p>
        </p:txBody>
      </p:sp>
    </p:spTree>
    <p:extLst>
      <p:ext uri="{BB962C8B-B14F-4D97-AF65-F5344CB8AC3E}">
        <p14:creationId xmlns:p14="http://schemas.microsoft.com/office/powerpoint/2010/main" val="346023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790B1-C565-42A2-A6AF-B5771202311B}"/>
              </a:ext>
            </a:extLst>
          </p:cNvPr>
          <p:cNvSpPr>
            <a:spLocks noGrp="1"/>
          </p:cNvSpPr>
          <p:nvPr>
            <p:ph type="title"/>
          </p:nvPr>
        </p:nvSpPr>
        <p:spPr/>
        <p:txBody>
          <a:bodyPr/>
          <a:lstStyle/>
          <a:p>
            <a:r>
              <a:rPr lang="en-GB" dirty="0">
                <a:highlight>
                  <a:srgbClr val="FFFF00"/>
                </a:highlight>
              </a:rPr>
              <a:t>Defining a function</a:t>
            </a:r>
          </a:p>
        </p:txBody>
      </p:sp>
      <p:sp>
        <p:nvSpPr>
          <p:cNvPr id="3" name="Content Placeholder 2">
            <a:extLst>
              <a:ext uri="{FF2B5EF4-FFF2-40B4-BE49-F238E27FC236}">
                <a16:creationId xmlns:a16="http://schemas.microsoft.com/office/drawing/2014/main" id="{26F51477-2AAD-4C85-9AED-0EA5A28132DA}"/>
              </a:ext>
            </a:extLst>
          </p:cNvPr>
          <p:cNvSpPr>
            <a:spLocks noGrp="1"/>
          </p:cNvSpPr>
          <p:nvPr>
            <p:ph idx="1"/>
          </p:nvPr>
        </p:nvSpPr>
        <p:spPr>
          <a:xfrm>
            <a:off x="838200" y="1533832"/>
            <a:ext cx="10515600" cy="5161936"/>
          </a:xfrm>
        </p:spPr>
        <p:txBody>
          <a:bodyPr>
            <a:normAutofit fontScale="85000" lnSpcReduction="20000"/>
          </a:bodyPr>
          <a:lstStyle/>
          <a:p>
            <a:r>
              <a:rPr lang="en-GB" dirty="0"/>
              <a:t>To create a function using the example from the previous slide, we can code it as follows:</a:t>
            </a:r>
            <a:br>
              <a:rPr lang="en-GB" dirty="0"/>
            </a:br>
            <a:r>
              <a:rPr lang="en-GB" dirty="0">
                <a:latin typeface="Courier New" panose="02070309020205020404" pitchFamily="49" charset="0"/>
                <a:cs typeface="Courier New" panose="02070309020205020404" pitchFamily="49" charset="0"/>
              </a:rPr>
              <a:t>def </a:t>
            </a:r>
            <a:r>
              <a:rPr lang="en-GB" dirty="0" err="1">
                <a:latin typeface="Courier New" panose="02070309020205020404" pitchFamily="49" charset="0"/>
                <a:cs typeface="Courier New" panose="02070309020205020404" pitchFamily="49" charset="0"/>
              </a:rPr>
              <a:t>calcER</a:t>
            </a:r>
            <a:r>
              <a:rPr lang="en-GB" dirty="0">
                <a:latin typeface="Courier New" panose="02070309020205020404" pitchFamily="49" charset="0"/>
                <a:cs typeface="Courier New" panose="02070309020205020404" pitchFamily="49" charset="0"/>
              </a:rPr>
              <a:t>(EC, FC):</a:t>
            </a:r>
            <a:br>
              <a:rPr lang="en-GB" dirty="0">
                <a:latin typeface="Courier New" panose="02070309020205020404" pitchFamily="49" charset="0"/>
                <a:cs typeface="Courier New" panose="02070309020205020404" pitchFamily="49" charset="0"/>
              </a:rPr>
            </a:br>
            <a:r>
              <a:rPr lang="en-GB" dirty="0">
                <a:latin typeface="Courier New" panose="02070309020205020404" pitchFamily="49" charset="0"/>
                <a:cs typeface="Courier New" panose="02070309020205020404" pitchFamily="49" charset="0"/>
              </a:rPr>
              <a:t>  ER = (EC / FC) * 100</a:t>
            </a:r>
            <a:br>
              <a:rPr lang="en-GB" dirty="0">
                <a:latin typeface="Courier New" panose="02070309020205020404" pitchFamily="49" charset="0"/>
                <a:cs typeface="Courier New" panose="02070309020205020404" pitchFamily="49" charset="0"/>
              </a:rPr>
            </a:br>
            <a:r>
              <a:rPr lang="en-GB" dirty="0">
                <a:latin typeface="Courier New" panose="02070309020205020404" pitchFamily="49" charset="0"/>
                <a:cs typeface="Courier New" panose="02070309020205020404" pitchFamily="49" charset="0"/>
              </a:rPr>
              <a:t>  return ER</a:t>
            </a:r>
          </a:p>
          <a:p>
            <a:r>
              <a:rPr lang="en-GB" dirty="0"/>
              <a:t>There are a few important things to note here:</a:t>
            </a:r>
          </a:p>
          <a:p>
            <a:pPr lvl="1"/>
            <a:r>
              <a:rPr lang="en-GB" dirty="0">
                <a:latin typeface="Courier New" panose="02070309020205020404" pitchFamily="49" charset="0"/>
                <a:cs typeface="Courier New" panose="02070309020205020404" pitchFamily="49" charset="0"/>
              </a:rPr>
              <a:t>def</a:t>
            </a:r>
            <a:r>
              <a:rPr lang="en-GB" dirty="0"/>
              <a:t> is a keyword that tells Python you’re defining a function</a:t>
            </a:r>
          </a:p>
          <a:p>
            <a:pPr lvl="1"/>
            <a:r>
              <a:rPr lang="en-GB" dirty="0" err="1"/>
              <a:t>calcER</a:t>
            </a:r>
            <a:r>
              <a:rPr lang="en-GB" dirty="0"/>
              <a:t> is the name we have chosen for the function, like assigning a variable name</a:t>
            </a:r>
          </a:p>
          <a:p>
            <a:pPr lvl="1"/>
            <a:r>
              <a:rPr lang="en-GB" dirty="0"/>
              <a:t>You always need brackets after the function name (</a:t>
            </a:r>
            <a:r>
              <a:rPr lang="en-GB" dirty="0" err="1"/>
              <a:t>n.b.</a:t>
            </a:r>
            <a:r>
              <a:rPr lang="en-GB" dirty="0"/>
              <a:t> the brackets have a different purpose to on the previous slide).  Inside the brackets, you list the values your formula requires (which should be empty if your formula doesn’t need any values).  These values are called function ‘parameters’, which are different to data parameters (or attributes).  You also need a colon after the closing bracket.</a:t>
            </a:r>
          </a:p>
          <a:p>
            <a:pPr lvl="1"/>
            <a:r>
              <a:rPr lang="en-GB" dirty="0"/>
              <a:t>The lines following the first line are indented.  This tells Python that these lines are part of your function definition.  For your indentation, you can use any number of spaces or tabs, but they need to be the same for each line.  Most coding environments will take care of this for you, but you should be careful when copying lines of code from a different environment.</a:t>
            </a:r>
          </a:p>
          <a:p>
            <a:pPr lvl="1"/>
            <a:r>
              <a:rPr lang="en-GB" dirty="0">
                <a:latin typeface="Courier New" panose="02070309020205020404" pitchFamily="49" charset="0"/>
                <a:cs typeface="Courier New" panose="02070309020205020404" pitchFamily="49" charset="0"/>
              </a:rPr>
              <a:t>return</a:t>
            </a:r>
            <a:r>
              <a:rPr lang="en-GB" dirty="0"/>
              <a:t> is a keyword that tells Python what result(s) you want your function to output</a:t>
            </a:r>
          </a:p>
          <a:p>
            <a:pPr lvl="1"/>
            <a:r>
              <a:rPr lang="en-GB" dirty="0"/>
              <a:t>If we execute this code on its own, we won’t see anything – it has just defined the function</a:t>
            </a:r>
          </a:p>
        </p:txBody>
      </p:sp>
    </p:spTree>
    <p:extLst>
      <p:ext uri="{BB962C8B-B14F-4D97-AF65-F5344CB8AC3E}">
        <p14:creationId xmlns:p14="http://schemas.microsoft.com/office/powerpoint/2010/main" val="3008524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EA6DAE-C010-4214-B0E4-A1A970DCC5A6}"/>
              </a:ext>
            </a:extLst>
          </p:cNvPr>
          <p:cNvSpPr>
            <a:spLocks noGrp="1"/>
          </p:cNvSpPr>
          <p:nvPr>
            <p:ph type="title"/>
          </p:nvPr>
        </p:nvSpPr>
        <p:spPr/>
        <p:txBody>
          <a:bodyPr/>
          <a:lstStyle/>
          <a:p>
            <a:r>
              <a:rPr lang="en-GB" dirty="0">
                <a:highlight>
                  <a:srgbClr val="FFFF00"/>
                </a:highlight>
              </a:rPr>
              <a:t>Using a function</a:t>
            </a:r>
          </a:p>
        </p:txBody>
      </p:sp>
      <p:sp>
        <p:nvSpPr>
          <p:cNvPr id="6" name="Content Placeholder 5">
            <a:extLst>
              <a:ext uri="{FF2B5EF4-FFF2-40B4-BE49-F238E27FC236}">
                <a16:creationId xmlns:a16="http://schemas.microsoft.com/office/drawing/2014/main" id="{A751270B-6443-4837-B501-B0D5977BC136}"/>
              </a:ext>
            </a:extLst>
          </p:cNvPr>
          <p:cNvSpPr>
            <a:spLocks noGrp="1"/>
          </p:cNvSpPr>
          <p:nvPr>
            <p:ph idx="1"/>
          </p:nvPr>
        </p:nvSpPr>
        <p:spPr>
          <a:xfrm>
            <a:off x="838199" y="1690688"/>
            <a:ext cx="10695039" cy="4486275"/>
          </a:xfrm>
        </p:spPr>
        <p:txBody>
          <a:bodyPr>
            <a:normAutofit fontScale="92500" lnSpcReduction="20000"/>
          </a:bodyPr>
          <a:lstStyle/>
          <a:p>
            <a:r>
              <a:rPr lang="en-GB" dirty="0"/>
              <a:t>To calculate ER, we now just ‘call’ the function using whatever values we want for EC and FC, e.g. for a post with 236 engagements for a user with 3467 followers, the engagement rate is:</a:t>
            </a:r>
            <a:br>
              <a:rPr lang="en-GB" dirty="0"/>
            </a:br>
            <a:r>
              <a:rPr lang="en-GB" dirty="0" err="1">
                <a:latin typeface="Courier New" panose="02070309020205020404" pitchFamily="49" charset="0"/>
                <a:cs typeface="Courier New" panose="02070309020205020404" pitchFamily="49" charset="0"/>
              </a:rPr>
              <a:t>calcER</a:t>
            </a:r>
            <a:r>
              <a:rPr lang="en-GB" dirty="0">
                <a:latin typeface="Courier New" panose="02070309020205020404" pitchFamily="49" charset="0"/>
                <a:cs typeface="Courier New" panose="02070309020205020404" pitchFamily="49" charset="0"/>
              </a:rPr>
              <a:t>(236, 3467)</a:t>
            </a:r>
            <a:br>
              <a:rPr lang="en-GB" dirty="0">
                <a:latin typeface="Courier New" panose="02070309020205020404" pitchFamily="49" charset="0"/>
                <a:cs typeface="Courier New" panose="02070309020205020404" pitchFamily="49" charset="0"/>
              </a:rPr>
            </a:br>
            <a:r>
              <a:rPr lang="en-GB" dirty="0"/>
              <a:t>which will output the answer of 6.81</a:t>
            </a:r>
          </a:p>
          <a:p>
            <a:r>
              <a:rPr lang="en-GB" dirty="0"/>
              <a:t>We need to be careful to specify the numbers in the correct order, which must correspond to the order in the function definition</a:t>
            </a:r>
          </a:p>
          <a:p>
            <a:r>
              <a:rPr lang="en-GB" dirty="0"/>
              <a:t>We also need to be careful not to indent the function call, otherwise Python will think it’s still part of the function definition</a:t>
            </a:r>
          </a:p>
          <a:p>
            <a:r>
              <a:rPr lang="en-GB" dirty="0"/>
              <a:t>By defining the ER formula as a function, we have made it easier to calculate lots of different results, because we don’t have to write the whole formula each time</a:t>
            </a:r>
          </a:p>
          <a:p>
            <a:r>
              <a:rPr lang="en-GB" dirty="0"/>
              <a:t>We will shortly see how we can make things even easier by using a ‘for’ loop</a:t>
            </a:r>
          </a:p>
        </p:txBody>
      </p:sp>
    </p:spTree>
    <p:extLst>
      <p:ext uri="{BB962C8B-B14F-4D97-AF65-F5344CB8AC3E}">
        <p14:creationId xmlns:p14="http://schemas.microsoft.com/office/powerpoint/2010/main" val="190672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6280C-2E0E-4A45-BEA9-8963581D9C00}"/>
              </a:ext>
            </a:extLst>
          </p:cNvPr>
          <p:cNvSpPr>
            <a:spLocks noGrp="1"/>
          </p:cNvSpPr>
          <p:nvPr>
            <p:ph type="title"/>
          </p:nvPr>
        </p:nvSpPr>
        <p:spPr/>
        <p:txBody>
          <a:bodyPr/>
          <a:lstStyle/>
          <a:p>
            <a:r>
              <a:rPr lang="en-GB" dirty="0">
                <a:highlight>
                  <a:srgbClr val="FFFF00"/>
                </a:highlight>
              </a:rPr>
              <a:t>Lists and loops</a:t>
            </a:r>
          </a:p>
        </p:txBody>
      </p:sp>
      <p:sp>
        <p:nvSpPr>
          <p:cNvPr id="3" name="Content Placeholder 2">
            <a:extLst>
              <a:ext uri="{FF2B5EF4-FFF2-40B4-BE49-F238E27FC236}">
                <a16:creationId xmlns:a16="http://schemas.microsoft.com/office/drawing/2014/main" id="{908FCC00-9D1E-4DA5-8F47-C001C561C848}"/>
              </a:ext>
            </a:extLst>
          </p:cNvPr>
          <p:cNvSpPr>
            <a:spLocks noGrp="1"/>
          </p:cNvSpPr>
          <p:nvPr>
            <p:ph idx="1"/>
          </p:nvPr>
        </p:nvSpPr>
        <p:spPr>
          <a:xfrm>
            <a:off x="838200" y="1573162"/>
            <a:ext cx="10515600" cy="4827638"/>
          </a:xfrm>
        </p:spPr>
        <p:txBody>
          <a:bodyPr>
            <a:normAutofit fontScale="62500" lnSpcReduction="20000"/>
          </a:bodyPr>
          <a:lstStyle/>
          <a:p>
            <a:r>
              <a:rPr lang="en-GB" dirty="0"/>
              <a:t>Lists are a very useful data type, as they let us store lots of values (or ‘entries’) together, and are an example of a 'container'.  We write lists with square brackets, and we separate values with commas.  Lists can contain any data types, including other lists, e.g. </a:t>
            </a:r>
            <a:r>
              <a:rPr lang="en-GB" dirty="0">
                <a:latin typeface="Courier New" panose="02070309020205020404" pitchFamily="49" charset="0"/>
                <a:cs typeface="Courier New" panose="02070309020205020404" pitchFamily="49" charset="0"/>
              </a:rPr>
              <a:t>t = [4, 8, 2.6, “banana”, [9, 5]]</a:t>
            </a:r>
          </a:p>
          <a:p>
            <a:r>
              <a:rPr lang="en-GB" dirty="0"/>
              <a:t>To access a value in a list, we state the name of the list, and afterwards in square brackets specify the position (or ‘index’) in the list we want.  In Python, the index starts at 0, e.g. in the above example, </a:t>
            </a:r>
            <a:r>
              <a:rPr lang="en-GB" dirty="0">
                <a:latin typeface="Courier New" panose="02070309020205020404" pitchFamily="49" charset="0"/>
                <a:cs typeface="Courier New" panose="02070309020205020404" pitchFamily="49" charset="0"/>
              </a:rPr>
              <a:t>t[0]</a:t>
            </a:r>
            <a:r>
              <a:rPr lang="en-GB" dirty="0"/>
              <a:t> is 4, </a:t>
            </a:r>
            <a:r>
              <a:rPr lang="en-GB" dirty="0">
                <a:latin typeface="Courier New" panose="02070309020205020404" pitchFamily="49" charset="0"/>
                <a:cs typeface="Courier New" panose="02070309020205020404" pitchFamily="49" charset="0"/>
              </a:rPr>
              <a:t>t[1]</a:t>
            </a:r>
            <a:r>
              <a:rPr lang="en-GB" dirty="0"/>
              <a:t> is 8, </a:t>
            </a:r>
            <a:r>
              <a:rPr lang="en-GB" dirty="0">
                <a:latin typeface="Courier New" panose="02070309020205020404" pitchFamily="49" charset="0"/>
                <a:cs typeface="Courier New" panose="02070309020205020404" pitchFamily="49" charset="0"/>
              </a:rPr>
              <a:t>t[4][0]</a:t>
            </a:r>
            <a:r>
              <a:rPr lang="en-GB" dirty="0"/>
              <a:t> is  9, etc.</a:t>
            </a:r>
          </a:p>
          <a:p>
            <a:r>
              <a:rPr lang="en-GB" dirty="0"/>
              <a:t>‘For’ loops are one of the most powerful aspects of programming.  They let us do lots of operations without having to code them all individually.  It’s similar to copying and pasting a formula into multiple cells in Excel.</a:t>
            </a:r>
          </a:p>
          <a:p>
            <a:r>
              <a:rPr lang="en-GB" dirty="0"/>
              <a:t>A for loop steps through all the values in an '</a:t>
            </a:r>
            <a:r>
              <a:rPr lang="en-GB" dirty="0" err="1"/>
              <a:t>iterable</a:t>
            </a:r>
            <a:r>
              <a:rPr lang="en-GB" dirty="0"/>
              <a:t>', often a list.  Each step is called an ‘iteration’.</a:t>
            </a:r>
          </a:p>
          <a:p>
            <a:r>
              <a:rPr lang="en-GB" dirty="0"/>
              <a:t>For example:</a:t>
            </a:r>
          </a:p>
          <a:p>
            <a:pPr marL="457200" lvl="1" indent="0">
              <a:buNone/>
            </a:pPr>
            <a:r>
              <a:rPr lang="en-GB" dirty="0">
                <a:latin typeface="Courier New" panose="02070309020205020404" pitchFamily="49" charset="0"/>
                <a:cs typeface="Courier New" panose="02070309020205020404" pitchFamily="49" charset="0"/>
              </a:rPr>
              <a:t>for </a:t>
            </a:r>
            <a:r>
              <a:rPr lang="en-GB" dirty="0" err="1">
                <a:latin typeface="Courier New" panose="02070309020205020404" pitchFamily="49" charset="0"/>
                <a:cs typeface="Courier New" panose="02070309020205020404" pitchFamily="49" charset="0"/>
              </a:rPr>
              <a:t>val</a:t>
            </a:r>
            <a:r>
              <a:rPr lang="en-GB" dirty="0">
                <a:latin typeface="Courier New" panose="02070309020205020404" pitchFamily="49" charset="0"/>
                <a:cs typeface="Courier New" panose="02070309020205020404" pitchFamily="49" charset="0"/>
              </a:rPr>
              <a:t> in t:</a:t>
            </a:r>
          </a:p>
          <a:p>
            <a:pPr marL="457200" lvl="1" indent="0">
              <a:buNone/>
            </a:pPr>
            <a:r>
              <a:rPr lang="en-GB" dirty="0">
                <a:latin typeface="Courier New" panose="02070309020205020404" pitchFamily="49" charset="0"/>
                <a:cs typeface="Courier New" panose="02070309020205020404" pitchFamily="49" charset="0"/>
              </a:rPr>
              <a:t>	print(</a:t>
            </a:r>
            <a:r>
              <a:rPr lang="en-GB" dirty="0" err="1">
                <a:latin typeface="Courier New" panose="02070309020205020404" pitchFamily="49" charset="0"/>
                <a:cs typeface="Courier New" panose="02070309020205020404" pitchFamily="49" charset="0"/>
              </a:rPr>
              <a:t>val</a:t>
            </a:r>
            <a:r>
              <a:rPr lang="en-GB" dirty="0">
                <a:latin typeface="Courier New" panose="02070309020205020404" pitchFamily="49" charset="0"/>
                <a:cs typeface="Courier New" panose="02070309020205020404" pitchFamily="49" charset="0"/>
              </a:rPr>
              <a:t>)</a:t>
            </a:r>
            <a:endParaRPr lang="en-GB" dirty="0"/>
          </a:p>
          <a:p>
            <a:r>
              <a:rPr lang="en-GB" dirty="0"/>
              <a:t>This prints the values contained by </a:t>
            </a:r>
            <a:r>
              <a:rPr lang="en-GB" dirty="0">
                <a:latin typeface="Courier New" panose="02070309020205020404" pitchFamily="49" charset="0"/>
                <a:cs typeface="Courier New" panose="02070309020205020404" pitchFamily="49" charset="0"/>
              </a:rPr>
              <a:t>t</a:t>
            </a:r>
            <a:r>
              <a:rPr lang="en-GB" dirty="0"/>
              <a:t> in sequence.  It’s worth noting that</a:t>
            </a:r>
          </a:p>
          <a:p>
            <a:pPr lvl="1"/>
            <a:r>
              <a:rPr lang="en-GB" dirty="0" err="1">
                <a:latin typeface="Courier New" panose="02070309020205020404" pitchFamily="49" charset="0"/>
                <a:cs typeface="Courier New" panose="02070309020205020404" pitchFamily="49" charset="0"/>
              </a:rPr>
              <a:t>val</a:t>
            </a:r>
            <a:r>
              <a:rPr lang="en-GB" dirty="0"/>
              <a:t> is a new variable name we’ve chosen, which updates with each iteration – it is an 'iteration variable'.</a:t>
            </a:r>
          </a:p>
          <a:p>
            <a:pPr lvl="1"/>
            <a:r>
              <a:rPr lang="en-GB" dirty="0">
                <a:latin typeface="Courier New" panose="02070309020205020404" pitchFamily="49" charset="0"/>
                <a:cs typeface="Courier New" panose="02070309020205020404" pitchFamily="49" charset="0"/>
              </a:rPr>
              <a:t>for</a:t>
            </a:r>
            <a:r>
              <a:rPr lang="en-GB" dirty="0"/>
              <a:t> and </a:t>
            </a:r>
            <a:r>
              <a:rPr lang="en-GB" dirty="0">
                <a:latin typeface="Courier New" panose="02070309020205020404" pitchFamily="49" charset="0"/>
                <a:cs typeface="Courier New" panose="02070309020205020404" pitchFamily="49" charset="0"/>
              </a:rPr>
              <a:t>in</a:t>
            </a:r>
            <a:r>
              <a:rPr lang="en-GB" dirty="0"/>
              <a:t> are keywords that Python recognises. They are essential for the loop to work</a:t>
            </a:r>
          </a:p>
          <a:p>
            <a:pPr lvl="1"/>
            <a:r>
              <a:rPr lang="en-GB" dirty="0"/>
              <a:t>The colon and subsequent line indentation are similar to those we saw with function definitions, and are also essential</a:t>
            </a:r>
          </a:p>
          <a:p>
            <a:r>
              <a:rPr lang="en-GB" dirty="0"/>
              <a:t>Strings can be treated as </a:t>
            </a:r>
            <a:r>
              <a:rPr lang="en-GB" dirty="0" err="1"/>
              <a:t>iterables</a:t>
            </a:r>
            <a:r>
              <a:rPr lang="en-GB" dirty="0"/>
              <a:t> in Python, e.g.:</a:t>
            </a:r>
          </a:p>
          <a:p>
            <a:pPr marL="457200" lvl="1" indent="0">
              <a:buNone/>
            </a:pPr>
            <a:r>
              <a:rPr lang="en-GB" dirty="0">
                <a:latin typeface="Courier New" panose="02070309020205020404" pitchFamily="49" charset="0"/>
                <a:cs typeface="Courier New" panose="02070309020205020404" pitchFamily="49" charset="0"/>
              </a:rPr>
              <a:t>for letter in "banana":</a:t>
            </a:r>
          </a:p>
          <a:p>
            <a:pPr marL="457200" lvl="1" indent="0">
              <a:buNone/>
            </a:pPr>
            <a:r>
              <a:rPr lang="en-GB" dirty="0">
                <a:latin typeface="Courier New" panose="02070309020205020404" pitchFamily="49" charset="0"/>
                <a:cs typeface="Courier New" panose="02070309020205020404" pitchFamily="49" charset="0"/>
              </a:rPr>
              <a:t>	print(letter)</a:t>
            </a:r>
            <a:endParaRPr lang="en-GB" dirty="0"/>
          </a:p>
        </p:txBody>
      </p:sp>
    </p:spTree>
    <p:extLst>
      <p:ext uri="{BB962C8B-B14F-4D97-AF65-F5344CB8AC3E}">
        <p14:creationId xmlns:p14="http://schemas.microsoft.com/office/powerpoint/2010/main" val="4006428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887DC-480C-4787-BAA3-B75BEE90C2E1}"/>
              </a:ext>
            </a:extLst>
          </p:cNvPr>
          <p:cNvSpPr>
            <a:spLocks noGrp="1"/>
          </p:cNvSpPr>
          <p:nvPr>
            <p:ph type="title"/>
          </p:nvPr>
        </p:nvSpPr>
        <p:spPr/>
        <p:txBody>
          <a:bodyPr/>
          <a:lstStyle/>
          <a:p>
            <a:r>
              <a:rPr lang="en-GB" dirty="0">
                <a:highlight>
                  <a:srgbClr val="FFFF00"/>
                </a:highlight>
              </a:rPr>
              <a:t>Loop example</a:t>
            </a:r>
          </a:p>
        </p:txBody>
      </p:sp>
      <p:sp>
        <p:nvSpPr>
          <p:cNvPr id="3" name="Content Placeholder 2">
            <a:extLst>
              <a:ext uri="{FF2B5EF4-FFF2-40B4-BE49-F238E27FC236}">
                <a16:creationId xmlns:a16="http://schemas.microsoft.com/office/drawing/2014/main" id="{1368D0D1-C0D1-4626-A5C9-6B5A75D6C074}"/>
              </a:ext>
            </a:extLst>
          </p:cNvPr>
          <p:cNvSpPr>
            <a:spLocks noGrp="1"/>
          </p:cNvSpPr>
          <p:nvPr>
            <p:ph idx="1"/>
          </p:nvPr>
        </p:nvSpPr>
        <p:spPr>
          <a:xfrm>
            <a:off x="838200" y="1825625"/>
            <a:ext cx="10515600" cy="4457188"/>
          </a:xfrm>
        </p:spPr>
        <p:txBody>
          <a:bodyPr>
            <a:normAutofit fontScale="85000" lnSpcReduction="20000"/>
          </a:bodyPr>
          <a:lstStyle/>
          <a:p>
            <a:r>
              <a:rPr lang="en-GB" dirty="0"/>
              <a:t>The </a:t>
            </a:r>
            <a:r>
              <a:rPr lang="en-GB" dirty="0">
                <a:latin typeface="Courier New" panose="02070309020205020404" pitchFamily="49" charset="0"/>
                <a:cs typeface="Courier New" panose="02070309020205020404" pitchFamily="49" charset="0"/>
              </a:rPr>
              <a:t>range</a:t>
            </a:r>
            <a:r>
              <a:rPr lang="en-GB" dirty="0"/>
              <a:t> command is often helpful when using loops. It also gives an </a:t>
            </a:r>
            <a:r>
              <a:rPr lang="en-GB" dirty="0" err="1"/>
              <a:t>iterable</a:t>
            </a:r>
            <a:r>
              <a:rPr lang="en-GB" dirty="0"/>
              <a:t>, just a slightly different one to a list. It's easiest to demonstrate with an example.</a:t>
            </a:r>
          </a:p>
          <a:p>
            <a:pPr marL="457200" lvl="1" indent="0">
              <a:buNone/>
            </a:pPr>
            <a:r>
              <a:rPr lang="en-GB" dirty="0">
                <a:latin typeface="Courier New" panose="02070309020205020404" pitchFamily="49" charset="0"/>
                <a:cs typeface="Courier New" panose="02070309020205020404" pitchFamily="49" charset="0"/>
              </a:rPr>
              <a:t>for </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 in range(5):</a:t>
            </a:r>
          </a:p>
          <a:p>
            <a:pPr marL="457200" lvl="1" indent="0">
              <a:buNone/>
            </a:pPr>
            <a:r>
              <a:rPr lang="en-GB" dirty="0">
                <a:latin typeface="Courier New" panose="02070309020205020404" pitchFamily="49" charset="0"/>
                <a:cs typeface="Courier New" panose="02070309020205020404" pitchFamily="49" charset="0"/>
              </a:rPr>
              <a:t>	print(</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a:t>
            </a:r>
            <a:endParaRPr lang="en-GB" dirty="0"/>
          </a:p>
          <a:p>
            <a:pPr marL="457200" lvl="1" indent="0">
              <a:buNone/>
            </a:pPr>
            <a:r>
              <a:rPr lang="en-GB" dirty="0"/>
              <a:t>This would print 0, 1, 2, 3, 4</a:t>
            </a:r>
          </a:p>
          <a:p>
            <a:r>
              <a:rPr lang="en-GB" dirty="0"/>
              <a:t>This gives us a convenient way to step through multiple lists at once.  For example, we might have a list of engagement counts, and a separate list of follower counts, e.g.: </a:t>
            </a:r>
            <a:r>
              <a:rPr lang="en-GB" dirty="0">
                <a:latin typeface="Courier New" panose="02070309020205020404" pitchFamily="49" charset="0"/>
                <a:cs typeface="Courier New" panose="02070309020205020404" pitchFamily="49" charset="0"/>
              </a:rPr>
              <a:t>EC = [23, 5, 345] </a:t>
            </a:r>
            <a:r>
              <a:rPr lang="en-GB" dirty="0"/>
              <a:t>and </a:t>
            </a:r>
            <a:r>
              <a:rPr lang="en-GB" dirty="0">
                <a:latin typeface="Courier New" panose="02070309020205020404" pitchFamily="49" charset="0"/>
                <a:cs typeface="Courier New" panose="02070309020205020404" pitchFamily="49" charset="0"/>
              </a:rPr>
              <a:t>FC = [78, 203, 424]</a:t>
            </a:r>
          </a:p>
          <a:p>
            <a:r>
              <a:rPr lang="en-GB" dirty="0">
                <a:cs typeface="Courier New" panose="02070309020205020404" pitchFamily="49" charset="0"/>
              </a:rPr>
              <a:t>We could then use our previously defined function to calculate all the engagement rates for these pairs of engagement and follower counts:</a:t>
            </a:r>
          </a:p>
          <a:p>
            <a:pPr marL="457200" lvl="1" indent="0">
              <a:buNone/>
            </a:pPr>
            <a:r>
              <a:rPr lang="en-GB" dirty="0">
                <a:latin typeface="Courier New" panose="02070309020205020404" pitchFamily="49" charset="0"/>
                <a:cs typeface="Courier New" panose="02070309020205020404" pitchFamily="49" charset="0"/>
              </a:rPr>
              <a:t>for </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 in range(3):</a:t>
            </a:r>
          </a:p>
          <a:p>
            <a:pPr marL="457200" lvl="1" indent="0">
              <a:buNone/>
            </a:pPr>
            <a:r>
              <a:rPr lang="en-GB" dirty="0">
                <a:latin typeface="Courier New" panose="02070309020205020404" pitchFamily="49" charset="0"/>
                <a:cs typeface="Courier New" panose="02070309020205020404" pitchFamily="49" charset="0"/>
              </a:rPr>
              <a:t>	print( </a:t>
            </a:r>
            <a:r>
              <a:rPr lang="en-GB" dirty="0" err="1">
                <a:latin typeface="Courier New" panose="02070309020205020404" pitchFamily="49" charset="0"/>
                <a:cs typeface="Courier New" panose="02070309020205020404" pitchFamily="49" charset="0"/>
              </a:rPr>
              <a:t>calcER</a:t>
            </a:r>
            <a:r>
              <a:rPr lang="en-GB" dirty="0">
                <a:latin typeface="Courier New" panose="02070309020205020404" pitchFamily="49" charset="0"/>
                <a:cs typeface="Courier New" panose="02070309020205020404" pitchFamily="49" charset="0"/>
              </a:rPr>
              <a:t>(EC[</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],FC[</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 )</a:t>
            </a:r>
            <a:endParaRPr lang="en-GB" dirty="0"/>
          </a:p>
          <a:p>
            <a:r>
              <a:rPr lang="en-GB" dirty="0">
                <a:cs typeface="Courier New" panose="02070309020205020404" pitchFamily="49" charset="0"/>
              </a:rPr>
              <a:t>This lets us process lots of data without much effort at all! Imagine reading in millions of data values – all we'd need to do is wait longer for our answers to come</a:t>
            </a:r>
          </a:p>
        </p:txBody>
      </p:sp>
    </p:spTree>
    <p:extLst>
      <p:ext uri="{BB962C8B-B14F-4D97-AF65-F5344CB8AC3E}">
        <p14:creationId xmlns:p14="http://schemas.microsoft.com/office/powerpoint/2010/main" val="3730746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7E57F-E64C-4B26-97F1-F11DA4E2E57F}"/>
              </a:ext>
            </a:extLst>
          </p:cNvPr>
          <p:cNvSpPr>
            <a:spLocks noGrp="1"/>
          </p:cNvSpPr>
          <p:nvPr>
            <p:ph type="title"/>
          </p:nvPr>
        </p:nvSpPr>
        <p:spPr/>
        <p:txBody>
          <a:bodyPr/>
          <a:lstStyle/>
          <a:p>
            <a:r>
              <a:rPr lang="en-GB" dirty="0">
                <a:highlight>
                  <a:srgbClr val="FFFF00"/>
                </a:highlight>
              </a:rPr>
              <a:t>Conditional statements</a:t>
            </a:r>
          </a:p>
        </p:txBody>
      </p:sp>
      <p:sp>
        <p:nvSpPr>
          <p:cNvPr id="3" name="Content Placeholder 2">
            <a:extLst>
              <a:ext uri="{FF2B5EF4-FFF2-40B4-BE49-F238E27FC236}">
                <a16:creationId xmlns:a16="http://schemas.microsoft.com/office/drawing/2014/main" id="{89013FDF-C4E5-4ECA-8B93-E972A46DD45B}"/>
              </a:ext>
            </a:extLst>
          </p:cNvPr>
          <p:cNvSpPr>
            <a:spLocks noGrp="1"/>
          </p:cNvSpPr>
          <p:nvPr>
            <p:ph idx="1"/>
          </p:nvPr>
        </p:nvSpPr>
        <p:spPr>
          <a:xfrm>
            <a:off x="838200" y="1612490"/>
            <a:ext cx="10515600" cy="4880385"/>
          </a:xfrm>
        </p:spPr>
        <p:txBody>
          <a:bodyPr>
            <a:normAutofit fontScale="77500" lnSpcReduction="20000"/>
          </a:bodyPr>
          <a:lstStyle/>
          <a:p>
            <a:r>
              <a:rPr lang="en-GB" dirty="0"/>
              <a:t>Along with ‘for’ loops, conditional statements are one of the most important and powerful concepts in computer programming</a:t>
            </a:r>
          </a:p>
          <a:p>
            <a:r>
              <a:rPr lang="en-GB" dirty="0"/>
              <a:t>They let us carry out different operations depending on certain conditions, using the keywords </a:t>
            </a:r>
            <a:r>
              <a:rPr lang="en-GB" dirty="0">
                <a:latin typeface="Courier New" panose="02070309020205020404" pitchFamily="49" charset="0"/>
                <a:cs typeface="Courier New" panose="02070309020205020404" pitchFamily="49" charset="0"/>
              </a:rPr>
              <a:t>if</a:t>
            </a:r>
            <a:r>
              <a:rPr lang="en-GB" dirty="0"/>
              <a:t>, </a:t>
            </a:r>
            <a:r>
              <a:rPr lang="en-GB" dirty="0">
                <a:latin typeface="Courier New" panose="02070309020205020404" pitchFamily="49" charset="0"/>
                <a:cs typeface="Courier New" panose="02070309020205020404" pitchFamily="49" charset="0"/>
              </a:rPr>
              <a:t>else</a:t>
            </a:r>
            <a:r>
              <a:rPr lang="en-GB" dirty="0"/>
              <a:t> and (optionally) </a:t>
            </a:r>
            <a:r>
              <a:rPr lang="en-GB" dirty="0" err="1">
                <a:latin typeface="Courier New" panose="02070309020205020404" pitchFamily="49" charset="0"/>
                <a:cs typeface="Courier New" panose="02070309020205020404" pitchFamily="49" charset="0"/>
              </a:rPr>
              <a:t>elif</a:t>
            </a:r>
            <a:r>
              <a:rPr lang="en-GB" dirty="0"/>
              <a:t> (else if), e.g.</a:t>
            </a:r>
            <a:br>
              <a:rPr lang="en-GB" dirty="0"/>
            </a:br>
            <a:r>
              <a:rPr lang="en-GB" dirty="0">
                <a:latin typeface="Courier New" panose="02070309020205020404" pitchFamily="49" charset="0"/>
                <a:cs typeface="Courier New" panose="02070309020205020404" pitchFamily="49" charset="0"/>
              </a:rPr>
              <a:t>if </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&lt;5:</a:t>
            </a:r>
            <a:br>
              <a:rPr lang="en-GB" dirty="0">
                <a:latin typeface="Courier New" panose="02070309020205020404" pitchFamily="49" charset="0"/>
                <a:cs typeface="Courier New" panose="02070309020205020404" pitchFamily="49" charset="0"/>
              </a:rPr>
            </a:br>
            <a:r>
              <a:rPr lang="en-GB" dirty="0">
                <a:latin typeface="Courier New" panose="02070309020205020404" pitchFamily="49" charset="0"/>
                <a:cs typeface="Courier New" panose="02070309020205020404" pitchFamily="49" charset="0"/>
              </a:rPr>
              <a:t>	print(</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a:t>
            </a:r>
            <a:br>
              <a:rPr lang="en-GB" dirty="0">
                <a:latin typeface="Courier New" panose="02070309020205020404" pitchFamily="49" charset="0"/>
                <a:cs typeface="Courier New" panose="02070309020205020404" pitchFamily="49" charset="0"/>
              </a:rPr>
            </a:br>
            <a:r>
              <a:rPr lang="en-GB" dirty="0" err="1">
                <a:latin typeface="Courier New" panose="02070309020205020404" pitchFamily="49" charset="0"/>
                <a:cs typeface="Courier New" panose="02070309020205020404" pitchFamily="49" charset="0"/>
              </a:rPr>
              <a:t>elif</a:t>
            </a:r>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&lt;10:</a:t>
            </a:r>
            <a:br>
              <a:rPr lang="en-GB" dirty="0">
                <a:latin typeface="Courier New" panose="02070309020205020404" pitchFamily="49" charset="0"/>
                <a:cs typeface="Courier New" panose="02070309020205020404" pitchFamily="49" charset="0"/>
              </a:rPr>
            </a:br>
            <a:r>
              <a:rPr lang="en-GB" dirty="0">
                <a:latin typeface="Courier New" panose="02070309020205020404" pitchFamily="49" charset="0"/>
                <a:cs typeface="Courier New" panose="02070309020205020404" pitchFamily="49" charset="0"/>
              </a:rPr>
              <a:t>	print(2*</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a:t>
            </a:r>
            <a:br>
              <a:rPr lang="en-GB" dirty="0">
                <a:latin typeface="Courier New" panose="02070309020205020404" pitchFamily="49" charset="0"/>
                <a:cs typeface="Courier New" panose="02070309020205020404" pitchFamily="49" charset="0"/>
              </a:rPr>
            </a:br>
            <a:r>
              <a:rPr lang="en-GB" dirty="0">
                <a:latin typeface="Courier New" panose="02070309020205020404" pitchFamily="49" charset="0"/>
                <a:cs typeface="Courier New" panose="02070309020205020404" pitchFamily="49" charset="0"/>
              </a:rPr>
              <a:t>else:</a:t>
            </a:r>
            <a:br>
              <a:rPr lang="en-GB" dirty="0">
                <a:latin typeface="Courier New" panose="02070309020205020404" pitchFamily="49" charset="0"/>
                <a:cs typeface="Courier New" panose="02070309020205020404" pitchFamily="49" charset="0"/>
              </a:rPr>
            </a:br>
            <a:r>
              <a:rPr lang="en-GB" dirty="0">
                <a:latin typeface="Courier New" panose="02070309020205020404" pitchFamily="49" charset="0"/>
                <a:cs typeface="Courier New" panose="02070309020205020404" pitchFamily="49" charset="0"/>
              </a:rPr>
              <a:t>	print(3*</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a:t>
            </a:r>
          </a:p>
          <a:p>
            <a:r>
              <a:rPr lang="en-GB" dirty="0"/>
              <a:t>Try this out by assigning </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=2</a:t>
            </a:r>
            <a:r>
              <a:rPr lang="en-GB" dirty="0"/>
              <a:t>, </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=7</a:t>
            </a:r>
            <a:r>
              <a:rPr lang="en-GB" dirty="0"/>
              <a:t> and </a:t>
            </a:r>
            <a:r>
              <a:rPr lang="en-GB" dirty="0" err="1">
                <a:latin typeface="Courier New" panose="02070309020205020404" pitchFamily="49" charset="0"/>
                <a:cs typeface="Courier New" panose="02070309020205020404" pitchFamily="49" charset="0"/>
              </a:rPr>
              <a:t>i</a:t>
            </a:r>
            <a:r>
              <a:rPr lang="en-GB" dirty="0">
                <a:latin typeface="Courier New" panose="02070309020205020404" pitchFamily="49" charset="0"/>
                <a:cs typeface="Courier New" panose="02070309020205020404" pitchFamily="49" charset="0"/>
              </a:rPr>
              <a:t>=20</a:t>
            </a:r>
            <a:r>
              <a:rPr lang="en-GB" dirty="0">
                <a:cs typeface="Courier New" panose="02070309020205020404" pitchFamily="49" charset="0"/>
              </a:rPr>
              <a:t> before the if statement</a:t>
            </a:r>
            <a:r>
              <a:rPr lang="en-GB" dirty="0"/>
              <a:t>.  What do you find?</a:t>
            </a:r>
          </a:p>
          <a:p>
            <a:r>
              <a:rPr lang="en-GB" dirty="0"/>
              <a:t>We can have as many (or as few, including none) </a:t>
            </a:r>
            <a:r>
              <a:rPr lang="en-GB" dirty="0" err="1">
                <a:latin typeface="Courier New" panose="02070309020205020404" pitchFamily="49" charset="0"/>
                <a:cs typeface="Courier New" panose="02070309020205020404" pitchFamily="49" charset="0"/>
              </a:rPr>
              <a:t>elif</a:t>
            </a:r>
            <a:r>
              <a:rPr lang="en-GB" dirty="0"/>
              <a:t> statements as we want.  These are applied in the order they are written (e.g. although 2 is both less than 5 and 10, in the above example, it evaluates 2&lt;5 first, and stops there because it is satisfied.</a:t>
            </a:r>
          </a:p>
          <a:p>
            <a:r>
              <a:rPr lang="en-GB" dirty="0"/>
              <a:t>The </a:t>
            </a:r>
            <a:r>
              <a:rPr lang="en-GB" dirty="0">
                <a:latin typeface="Courier New" panose="02070309020205020404" pitchFamily="49" charset="0"/>
                <a:cs typeface="Courier New" panose="02070309020205020404" pitchFamily="49" charset="0"/>
              </a:rPr>
              <a:t>else</a:t>
            </a:r>
            <a:r>
              <a:rPr lang="en-GB" dirty="0"/>
              <a:t> statement will be applied to all conditions not listed in the </a:t>
            </a:r>
            <a:r>
              <a:rPr lang="en-GB" dirty="0">
                <a:latin typeface="Courier New" panose="02070309020205020404" pitchFamily="49" charset="0"/>
                <a:cs typeface="Courier New" panose="02070309020205020404" pitchFamily="49" charset="0"/>
              </a:rPr>
              <a:t>if</a:t>
            </a:r>
            <a:r>
              <a:rPr lang="en-GB" dirty="0"/>
              <a:t> or </a:t>
            </a:r>
            <a:r>
              <a:rPr lang="en-GB" dirty="0" err="1">
                <a:latin typeface="Courier New" panose="02070309020205020404" pitchFamily="49" charset="0"/>
                <a:cs typeface="Courier New" panose="02070309020205020404" pitchFamily="49" charset="0"/>
              </a:rPr>
              <a:t>elif</a:t>
            </a:r>
            <a:r>
              <a:rPr lang="en-GB" dirty="0">
                <a:latin typeface="Courier New" panose="02070309020205020404" pitchFamily="49" charset="0"/>
                <a:cs typeface="Courier New" panose="02070309020205020404" pitchFamily="49" charset="0"/>
              </a:rPr>
              <a:t> </a:t>
            </a:r>
            <a:r>
              <a:rPr lang="en-GB" dirty="0"/>
              <a:t>statements. You don’t need an else statement if you’ve already specified all possible conditions, or if you don’t want to apply any operations for those not already specified.</a:t>
            </a:r>
          </a:p>
          <a:p>
            <a:endParaRPr lang="en-GB" dirty="0"/>
          </a:p>
        </p:txBody>
      </p:sp>
    </p:spTree>
    <p:extLst>
      <p:ext uri="{BB962C8B-B14F-4D97-AF65-F5344CB8AC3E}">
        <p14:creationId xmlns:p14="http://schemas.microsoft.com/office/powerpoint/2010/main" val="401292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C21D1-416D-4368-AD6C-D5DE053382DD}"/>
              </a:ext>
            </a:extLst>
          </p:cNvPr>
          <p:cNvSpPr>
            <a:spLocks noGrp="1"/>
          </p:cNvSpPr>
          <p:nvPr>
            <p:ph type="title"/>
          </p:nvPr>
        </p:nvSpPr>
        <p:spPr/>
        <p:txBody>
          <a:bodyPr/>
          <a:lstStyle/>
          <a:p>
            <a:r>
              <a:rPr lang="en-GB" dirty="0">
                <a:highlight>
                  <a:srgbClr val="FFFF00"/>
                </a:highlight>
              </a:rPr>
              <a:t>More with lists and </a:t>
            </a:r>
            <a:r>
              <a:rPr lang="en-GB" dirty="0" err="1">
                <a:highlight>
                  <a:srgbClr val="FFFF00"/>
                </a:highlight>
              </a:rPr>
              <a:t>iterables</a:t>
            </a:r>
            <a:endParaRPr lang="en-GB" dirty="0">
              <a:highlight>
                <a:srgbClr val="FFFF00"/>
              </a:highlight>
            </a:endParaRPr>
          </a:p>
        </p:txBody>
      </p:sp>
      <p:sp>
        <p:nvSpPr>
          <p:cNvPr id="3" name="Content Placeholder 2">
            <a:extLst>
              <a:ext uri="{FF2B5EF4-FFF2-40B4-BE49-F238E27FC236}">
                <a16:creationId xmlns:a16="http://schemas.microsoft.com/office/drawing/2014/main" id="{6916F6D4-7E6F-4E9F-8AA3-FED7A069841F}"/>
              </a:ext>
            </a:extLst>
          </p:cNvPr>
          <p:cNvSpPr>
            <a:spLocks noGrp="1"/>
          </p:cNvSpPr>
          <p:nvPr>
            <p:ph idx="1"/>
          </p:nvPr>
        </p:nvSpPr>
        <p:spPr>
          <a:xfrm>
            <a:off x="838200" y="1591173"/>
            <a:ext cx="10515600" cy="4901702"/>
          </a:xfrm>
        </p:spPr>
        <p:txBody>
          <a:bodyPr>
            <a:normAutofit fontScale="62500" lnSpcReduction="20000"/>
          </a:bodyPr>
          <a:lstStyle/>
          <a:p>
            <a:r>
              <a:rPr lang="en-GB" dirty="0"/>
              <a:t>We can find the number of entries in a list by using the </a:t>
            </a:r>
            <a:r>
              <a:rPr lang="en-GB" dirty="0" err="1"/>
              <a:t>len</a:t>
            </a:r>
            <a:r>
              <a:rPr lang="en-GB" dirty="0"/>
              <a:t>() function, e.g. if </a:t>
            </a:r>
            <a:r>
              <a:rPr lang="en-GB" sz="2600" dirty="0">
                <a:latin typeface="Courier New" panose="02070309020205020404" pitchFamily="49" charset="0"/>
                <a:cs typeface="Courier New" panose="02070309020205020404" pitchFamily="49" charset="0"/>
              </a:rPr>
              <a:t>t = [1, 5, 3, 6]</a:t>
            </a:r>
            <a:r>
              <a:rPr lang="en-GB" dirty="0"/>
              <a:t> then </a:t>
            </a:r>
            <a:r>
              <a:rPr lang="en-GB" sz="2600" dirty="0" err="1">
                <a:latin typeface="Courier New" panose="02070309020205020404" pitchFamily="49" charset="0"/>
                <a:cs typeface="Courier New" panose="02070309020205020404" pitchFamily="49" charset="0"/>
              </a:rPr>
              <a:t>len</a:t>
            </a:r>
            <a:r>
              <a:rPr lang="en-GB" sz="2600" dirty="0">
                <a:latin typeface="Courier New" panose="02070309020205020404" pitchFamily="49" charset="0"/>
                <a:cs typeface="Courier New" panose="02070309020205020404" pitchFamily="49" charset="0"/>
              </a:rPr>
              <a:t>(t)</a:t>
            </a:r>
            <a:r>
              <a:rPr lang="en-GB" sz="2600" dirty="0"/>
              <a:t> </a:t>
            </a:r>
            <a:r>
              <a:rPr lang="en-GB" dirty="0"/>
              <a:t>is 4.</a:t>
            </a:r>
          </a:p>
          <a:p>
            <a:r>
              <a:rPr lang="en-GB" dirty="0"/>
              <a:t>We can access list values using a reverse index, e.g. </a:t>
            </a:r>
            <a:r>
              <a:rPr lang="en-GB" sz="2600" dirty="0">
                <a:latin typeface="Courier New" panose="02070309020205020404" pitchFamily="49" charset="0"/>
                <a:cs typeface="Courier New" panose="02070309020205020404" pitchFamily="49" charset="0"/>
              </a:rPr>
              <a:t>t[-1]</a:t>
            </a:r>
            <a:r>
              <a:rPr lang="en-GB" sz="2600" dirty="0"/>
              <a:t> </a:t>
            </a:r>
            <a:r>
              <a:rPr lang="en-GB" dirty="0"/>
              <a:t>is 6, </a:t>
            </a:r>
            <a:r>
              <a:rPr lang="en-GB" sz="2600" dirty="0">
                <a:latin typeface="Courier New" panose="02070309020205020404" pitchFamily="49" charset="0"/>
                <a:cs typeface="Courier New" panose="02070309020205020404" pitchFamily="49" charset="0"/>
              </a:rPr>
              <a:t>t[-2]</a:t>
            </a:r>
            <a:r>
              <a:rPr lang="en-GB" sz="2600" dirty="0"/>
              <a:t> </a:t>
            </a:r>
            <a:r>
              <a:rPr lang="en-GB" dirty="0"/>
              <a:t>is 3.</a:t>
            </a:r>
          </a:p>
          <a:p>
            <a:r>
              <a:rPr lang="en-GB" dirty="0"/>
              <a:t>We can join lists by using the </a:t>
            </a:r>
            <a:r>
              <a:rPr lang="en-GB" dirty="0">
                <a:latin typeface="Courier New" panose="02070309020205020404" pitchFamily="49" charset="0"/>
                <a:cs typeface="Courier New" panose="02070309020205020404" pitchFamily="49" charset="0"/>
              </a:rPr>
              <a:t>+</a:t>
            </a:r>
            <a:r>
              <a:rPr lang="en-GB" dirty="0"/>
              <a:t> operator, e.g. </a:t>
            </a:r>
            <a:r>
              <a:rPr lang="en-GB" sz="2600" dirty="0">
                <a:latin typeface="Courier New" panose="02070309020205020404" pitchFamily="49" charset="0"/>
                <a:cs typeface="Courier New" panose="02070309020205020404" pitchFamily="49" charset="0"/>
              </a:rPr>
              <a:t>[1, 5] + [3, 6]</a:t>
            </a:r>
            <a:r>
              <a:rPr lang="en-GB" dirty="0"/>
              <a:t> gives </a:t>
            </a:r>
            <a:r>
              <a:rPr lang="en-GB" sz="2600" dirty="0">
                <a:latin typeface="Courier New" panose="02070309020205020404" pitchFamily="49" charset="0"/>
                <a:cs typeface="Courier New" panose="02070309020205020404" pitchFamily="49" charset="0"/>
              </a:rPr>
              <a:t>[1, 5, 3, 6]</a:t>
            </a:r>
          </a:p>
          <a:p>
            <a:r>
              <a:rPr lang="en-GB" sz="2900" dirty="0"/>
              <a:t>Strings can be joined in the same way, e.g. </a:t>
            </a:r>
            <a:r>
              <a:rPr lang="en-GB" sz="2600" dirty="0">
                <a:latin typeface="Courier New" panose="02070309020205020404" pitchFamily="49" charset="0"/>
                <a:cs typeface="Courier New" panose="02070309020205020404" pitchFamily="49" charset="0"/>
              </a:rPr>
              <a:t>'hello'+' there'</a:t>
            </a:r>
            <a:r>
              <a:rPr lang="en-GB" sz="2900" dirty="0"/>
              <a:t> gives </a:t>
            </a:r>
            <a:r>
              <a:rPr lang="en-GB" sz="2600" dirty="0">
                <a:latin typeface="Courier New" panose="02070309020205020404" pitchFamily="49" charset="0"/>
                <a:cs typeface="Courier New" panose="02070309020205020404" pitchFamily="49" charset="0"/>
              </a:rPr>
              <a:t>'hello there'</a:t>
            </a:r>
            <a:r>
              <a:rPr lang="en-GB" sz="2600" dirty="0"/>
              <a:t> </a:t>
            </a:r>
          </a:p>
          <a:p>
            <a:r>
              <a:rPr lang="en-GB" dirty="0"/>
              <a:t>We can replace existing values in a list by specifying their index, e.g. </a:t>
            </a:r>
            <a:r>
              <a:rPr lang="en-GB" dirty="0">
                <a:latin typeface="Courier New" panose="02070309020205020404" pitchFamily="49" charset="0"/>
                <a:cs typeface="Courier New" panose="02070309020205020404" pitchFamily="49" charset="0"/>
              </a:rPr>
              <a:t>t[2] = 4 </a:t>
            </a:r>
            <a:r>
              <a:rPr lang="en-GB" dirty="0"/>
              <a:t>would replace </a:t>
            </a:r>
            <a:r>
              <a:rPr lang="en-GB" sz="2900" dirty="0">
                <a:latin typeface="Courier New" panose="02070309020205020404" pitchFamily="49" charset="0"/>
                <a:cs typeface="Courier New" panose="02070309020205020404" pitchFamily="49" charset="0"/>
              </a:rPr>
              <a:t>3 </a:t>
            </a:r>
            <a:r>
              <a:rPr lang="en-GB" dirty="0"/>
              <a:t>with </a:t>
            </a:r>
            <a:r>
              <a:rPr lang="en-GB" sz="2900" dirty="0">
                <a:latin typeface="Courier New" panose="02070309020205020404" pitchFamily="49" charset="0"/>
                <a:cs typeface="Courier New" panose="02070309020205020404" pitchFamily="49" charset="0"/>
              </a:rPr>
              <a:t>4 </a:t>
            </a:r>
            <a:r>
              <a:rPr lang="en-GB" sz="2900" dirty="0"/>
              <a:t>in </a:t>
            </a:r>
            <a:r>
              <a:rPr lang="en-GB" sz="2600" dirty="0">
                <a:latin typeface="Courier New" panose="02070309020205020404" pitchFamily="49" charset="0"/>
                <a:cs typeface="Courier New" panose="02070309020205020404" pitchFamily="49" charset="0"/>
              </a:rPr>
              <a:t>t</a:t>
            </a:r>
          </a:p>
          <a:p>
            <a:r>
              <a:rPr lang="en-GB" dirty="0"/>
              <a:t>We can insert values to a list by specifying an index followed by the value to insert, e.g. </a:t>
            </a:r>
            <a:r>
              <a:rPr lang="en-GB" sz="2600" dirty="0" err="1">
                <a:latin typeface="Courier New" panose="02070309020205020404" pitchFamily="49" charset="0"/>
                <a:cs typeface="Courier New" panose="02070309020205020404" pitchFamily="49" charset="0"/>
              </a:rPr>
              <a:t>t.insert</a:t>
            </a:r>
            <a:r>
              <a:rPr lang="en-GB" sz="2600" dirty="0">
                <a:latin typeface="Courier New" panose="02070309020205020404" pitchFamily="49" charset="0"/>
                <a:cs typeface="Courier New" panose="02070309020205020404" pitchFamily="49" charset="0"/>
              </a:rPr>
              <a:t>(2,7) </a:t>
            </a:r>
            <a:r>
              <a:rPr lang="en-GB" dirty="0"/>
              <a:t>would make </a:t>
            </a:r>
            <a:r>
              <a:rPr lang="en-GB" sz="2600" dirty="0">
                <a:latin typeface="Courier New" panose="02070309020205020404" pitchFamily="49" charset="0"/>
                <a:cs typeface="Courier New" panose="02070309020205020404" pitchFamily="49" charset="0"/>
              </a:rPr>
              <a:t>t</a:t>
            </a:r>
            <a:r>
              <a:rPr lang="en-GB" sz="2600" dirty="0"/>
              <a:t> </a:t>
            </a:r>
            <a:r>
              <a:rPr lang="en-GB" dirty="0"/>
              <a:t>a list containing </a:t>
            </a:r>
            <a:r>
              <a:rPr lang="en-GB" sz="2600" dirty="0">
                <a:latin typeface="Courier New" panose="02070309020205020404" pitchFamily="49" charset="0"/>
                <a:cs typeface="Courier New" panose="02070309020205020404" pitchFamily="49" charset="0"/>
              </a:rPr>
              <a:t>[1, 5, 7, 3, 6]</a:t>
            </a:r>
            <a:r>
              <a:rPr lang="en-GB" dirty="0"/>
              <a:t> (assuming </a:t>
            </a:r>
            <a:r>
              <a:rPr lang="en-GB" sz="2600" dirty="0">
                <a:latin typeface="Courier New" panose="02070309020205020404" pitchFamily="49" charset="0"/>
                <a:cs typeface="Courier New" panose="02070309020205020404" pitchFamily="49" charset="0"/>
              </a:rPr>
              <a:t>t</a:t>
            </a:r>
            <a:r>
              <a:rPr lang="en-GB" dirty="0"/>
              <a:t> hadn't been updated after it was first assigned above). Note that </a:t>
            </a:r>
            <a:r>
              <a:rPr lang="en-GB" sz="2500" dirty="0">
                <a:latin typeface="Courier New" panose="02070309020205020404" pitchFamily="49" charset="0"/>
                <a:cs typeface="Courier New" panose="02070309020205020404" pitchFamily="49" charset="0"/>
              </a:rPr>
              <a:t>insert</a:t>
            </a:r>
            <a:r>
              <a:rPr lang="en-GB" dirty="0"/>
              <a:t> updates </a:t>
            </a:r>
            <a:r>
              <a:rPr lang="en-GB" sz="2600" dirty="0">
                <a:latin typeface="Courier New" panose="02070309020205020404" pitchFamily="49" charset="0"/>
                <a:cs typeface="Courier New" panose="02070309020205020404" pitchFamily="49" charset="0"/>
              </a:rPr>
              <a:t>t</a:t>
            </a:r>
            <a:r>
              <a:rPr lang="en-GB" dirty="0">
                <a:latin typeface="Courier New" panose="02070309020205020404" pitchFamily="49" charset="0"/>
                <a:cs typeface="Courier New" panose="02070309020205020404" pitchFamily="49" charset="0"/>
              </a:rPr>
              <a:t> </a:t>
            </a:r>
            <a:r>
              <a:rPr lang="en-GB" dirty="0"/>
              <a:t>without us reassigning it explicitly – be careful with this!</a:t>
            </a:r>
          </a:p>
          <a:p>
            <a:r>
              <a:rPr lang="en-GB" dirty="0"/>
              <a:t>We can add values to the end of a list by using the append function, e.g. </a:t>
            </a:r>
            <a:r>
              <a:rPr lang="en-GB" sz="2600" dirty="0" err="1">
                <a:latin typeface="Courier New" panose="02070309020205020404" pitchFamily="49" charset="0"/>
                <a:cs typeface="Courier New" panose="02070309020205020404" pitchFamily="49" charset="0"/>
              </a:rPr>
              <a:t>t.append</a:t>
            </a:r>
            <a:r>
              <a:rPr lang="en-GB" sz="2600" dirty="0">
                <a:latin typeface="Courier New" panose="02070309020205020404" pitchFamily="49" charset="0"/>
                <a:cs typeface="Courier New" panose="02070309020205020404" pitchFamily="49" charset="0"/>
              </a:rPr>
              <a:t>(9)</a:t>
            </a:r>
            <a:r>
              <a:rPr lang="en-GB" sz="2600" dirty="0"/>
              <a:t> </a:t>
            </a:r>
            <a:r>
              <a:rPr lang="en-GB" dirty="0"/>
              <a:t>would make </a:t>
            </a:r>
            <a:r>
              <a:rPr lang="en-GB" sz="2600" dirty="0">
                <a:latin typeface="Courier New" panose="02070309020205020404" pitchFamily="49" charset="0"/>
                <a:cs typeface="Courier New" panose="02070309020205020404" pitchFamily="49" charset="0"/>
              </a:rPr>
              <a:t>t</a:t>
            </a:r>
            <a:r>
              <a:rPr lang="en-GB" sz="2600" dirty="0"/>
              <a:t> </a:t>
            </a:r>
            <a:r>
              <a:rPr lang="en-GB" dirty="0"/>
              <a:t>a list containing </a:t>
            </a:r>
            <a:r>
              <a:rPr lang="en-GB" sz="2600" dirty="0">
                <a:latin typeface="Courier New" panose="02070309020205020404" pitchFamily="49" charset="0"/>
                <a:cs typeface="Courier New" panose="02070309020205020404" pitchFamily="49" charset="0"/>
              </a:rPr>
              <a:t>[1, 5, 3, 6, 9]</a:t>
            </a:r>
            <a:r>
              <a:rPr lang="en-GB" sz="2900" dirty="0"/>
              <a:t> (assuming </a:t>
            </a:r>
            <a:r>
              <a:rPr lang="en-GB" sz="2500" dirty="0">
                <a:latin typeface="Courier New" panose="02070309020205020404" pitchFamily="49" charset="0"/>
                <a:cs typeface="Courier New" panose="02070309020205020404" pitchFamily="49" charset="0"/>
              </a:rPr>
              <a:t>t</a:t>
            </a:r>
            <a:r>
              <a:rPr lang="en-GB" sz="2900" dirty="0"/>
              <a:t> hadn't been updated after it was first assigned above)</a:t>
            </a:r>
          </a:p>
          <a:p>
            <a:r>
              <a:rPr lang="en-GB" dirty="0"/>
              <a:t>It’s sometimes useful to define an empty list as </a:t>
            </a:r>
            <a:r>
              <a:rPr lang="en-GB" dirty="0">
                <a:latin typeface="Courier New" panose="02070309020205020404" pitchFamily="49" charset="0"/>
                <a:cs typeface="Courier New" panose="02070309020205020404" pitchFamily="49" charset="0"/>
              </a:rPr>
              <a:t>[]</a:t>
            </a:r>
            <a:r>
              <a:rPr lang="en-GB" dirty="0">
                <a:cs typeface="Courier New" panose="02070309020205020404" pitchFamily="49" charset="0"/>
              </a:rPr>
              <a:t>and then append values to this, e.g. instead of printing engagement rates as we did before, we could obtain a list of them, which we could then do further things with later in our analysis:</a:t>
            </a:r>
            <a:br>
              <a:rPr lang="en-GB" dirty="0">
                <a:cs typeface="Courier New" panose="02070309020205020404" pitchFamily="49" charset="0"/>
              </a:rPr>
            </a:br>
            <a:r>
              <a:rPr lang="en-GB" sz="2600" dirty="0">
                <a:latin typeface="Courier New" panose="02070309020205020404" pitchFamily="49" charset="0"/>
                <a:cs typeface="Courier New" panose="02070309020205020404" pitchFamily="49" charset="0"/>
              </a:rPr>
              <a:t>ERs = []</a:t>
            </a:r>
            <a:br>
              <a:rPr lang="en-GB" sz="2600" dirty="0">
                <a:cs typeface="Courier New" panose="02070309020205020404" pitchFamily="49" charset="0"/>
              </a:rPr>
            </a:br>
            <a:r>
              <a:rPr lang="en-GB" sz="2600" dirty="0">
                <a:latin typeface="Courier New" panose="02070309020205020404" pitchFamily="49" charset="0"/>
                <a:cs typeface="Courier New" panose="02070309020205020404" pitchFamily="49" charset="0"/>
              </a:rPr>
              <a:t>for </a:t>
            </a:r>
            <a:r>
              <a:rPr lang="en-GB" sz="2600" dirty="0" err="1">
                <a:latin typeface="Courier New" panose="02070309020205020404" pitchFamily="49" charset="0"/>
                <a:cs typeface="Courier New" panose="02070309020205020404" pitchFamily="49" charset="0"/>
              </a:rPr>
              <a:t>i</a:t>
            </a:r>
            <a:r>
              <a:rPr lang="en-GB" sz="2600" dirty="0">
                <a:latin typeface="Courier New" panose="02070309020205020404" pitchFamily="49" charset="0"/>
                <a:cs typeface="Courier New" panose="02070309020205020404" pitchFamily="49" charset="0"/>
              </a:rPr>
              <a:t> in range(3):</a:t>
            </a:r>
            <a:br>
              <a:rPr lang="en-GB" sz="2600" dirty="0">
                <a:latin typeface="Courier New" panose="02070309020205020404" pitchFamily="49" charset="0"/>
                <a:cs typeface="Courier New" panose="02070309020205020404" pitchFamily="49" charset="0"/>
              </a:rPr>
            </a:br>
            <a:r>
              <a:rPr lang="en-GB" sz="2600" dirty="0">
                <a:latin typeface="Courier New" panose="02070309020205020404" pitchFamily="49" charset="0"/>
                <a:cs typeface="Courier New" panose="02070309020205020404" pitchFamily="49" charset="0"/>
              </a:rPr>
              <a:t>	</a:t>
            </a:r>
            <a:r>
              <a:rPr lang="en-GB" sz="2600" dirty="0" err="1">
                <a:latin typeface="Courier New" panose="02070309020205020404" pitchFamily="49" charset="0"/>
                <a:cs typeface="Courier New" panose="02070309020205020404" pitchFamily="49" charset="0"/>
              </a:rPr>
              <a:t>ERs.append</a:t>
            </a:r>
            <a:r>
              <a:rPr lang="en-GB" sz="2600" dirty="0">
                <a:latin typeface="Courier New" panose="02070309020205020404" pitchFamily="49" charset="0"/>
                <a:cs typeface="Courier New" panose="02070309020205020404" pitchFamily="49" charset="0"/>
              </a:rPr>
              <a:t>(</a:t>
            </a:r>
            <a:r>
              <a:rPr lang="en-GB" sz="2600" dirty="0" err="1">
                <a:latin typeface="Courier New" panose="02070309020205020404" pitchFamily="49" charset="0"/>
                <a:cs typeface="Courier New" panose="02070309020205020404" pitchFamily="49" charset="0"/>
              </a:rPr>
              <a:t>calcER</a:t>
            </a:r>
            <a:r>
              <a:rPr lang="en-GB" sz="2600" dirty="0">
                <a:latin typeface="Courier New" panose="02070309020205020404" pitchFamily="49" charset="0"/>
                <a:cs typeface="Courier New" panose="02070309020205020404" pitchFamily="49" charset="0"/>
              </a:rPr>
              <a:t>(EC[</a:t>
            </a:r>
            <a:r>
              <a:rPr lang="en-GB" sz="2600" dirty="0" err="1">
                <a:latin typeface="Courier New" panose="02070309020205020404" pitchFamily="49" charset="0"/>
                <a:cs typeface="Courier New" panose="02070309020205020404" pitchFamily="49" charset="0"/>
              </a:rPr>
              <a:t>i</a:t>
            </a:r>
            <a:r>
              <a:rPr lang="en-GB" sz="2600" dirty="0">
                <a:latin typeface="Courier New" panose="02070309020205020404" pitchFamily="49" charset="0"/>
                <a:cs typeface="Courier New" panose="02070309020205020404" pitchFamily="49" charset="0"/>
              </a:rPr>
              <a:t>],FC[</a:t>
            </a:r>
            <a:r>
              <a:rPr lang="en-GB" sz="2600" dirty="0" err="1">
                <a:latin typeface="Courier New" panose="02070309020205020404" pitchFamily="49" charset="0"/>
                <a:cs typeface="Courier New" panose="02070309020205020404" pitchFamily="49" charset="0"/>
              </a:rPr>
              <a:t>i</a:t>
            </a:r>
            <a:r>
              <a:rPr lang="en-GB" sz="2600" dirty="0">
                <a:latin typeface="Courier New" panose="02070309020205020404" pitchFamily="49" charset="0"/>
                <a:cs typeface="Courier New" panose="02070309020205020404" pitchFamily="49" charset="0"/>
              </a:rPr>
              <a:t>]))</a:t>
            </a:r>
          </a:p>
          <a:p>
            <a:r>
              <a:rPr lang="en-GB" dirty="0"/>
              <a:t>We could also do the same thing in a single line by using ‘list comprehension’, which is neat but less clear:</a:t>
            </a:r>
            <a:br>
              <a:rPr lang="en-GB" dirty="0"/>
            </a:br>
            <a:r>
              <a:rPr lang="en-GB" sz="2600" dirty="0">
                <a:latin typeface="Courier New" panose="02070309020205020404" pitchFamily="49" charset="0"/>
                <a:cs typeface="Courier New" panose="02070309020205020404" pitchFamily="49" charset="0"/>
              </a:rPr>
              <a:t>ERs = [</a:t>
            </a:r>
            <a:r>
              <a:rPr lang="en-GB" sz="2600" dirty="0" err="1">
                <a:latin typeface="Courier New" panose="02070309020205020404" pitchFamily="49" charset="0"/>
                <a:cs typeface="Courier New" panose="02070309020205020404" pitchFamily="49" charset="0"/>
              </a:rPr>
              <a:t>calcER</a:t>
            </a:r>
            <a:r>
              <a:rPr lang="en-GB" sz="2600" dirty="0">
                <a:latin typeface="Courier New" panose="02070309020205020404" pitchFamily="49" charset="0"/>
                <a:cs typeface="Courier New" panose="02070309020205020404" pitchFamily="49" charset="0"/>
              </a:rPr>
              <a:t>(EC[</a:t>
            </a:r>
            <a:r>
              <a:rPr lang="en-GB" sz="2600" dirty="0" err="1">
                <a:latin typeface="Courier New" panose="02070309020205020404" pitchFamily="49" charset="0"/>
                <a:cs typeface="Courier New" panose="02070309020205020404" pitchFamily="49" charset="0"/>
              </a:rPr>
              <a:t>i</a:t>
            </a:r>
            <a:r>
              <a:rPr lang="en-GB" sz="2600" dirty="0">
                <a:latin typeface="Courier New" panose="02070309020205020404" pitchFamily="49" charset="0"/>
                <a:cs typeface="Courier New" panose="02070309020205020404" pitchFamily="49" charset="0"/>
              </a:rPr>
              <a:t>],FC[</a:t>
            </a:r>
            <a:r>
              <a:rPr lang="en-GB" sz="2600" dirty="0" err="1">
                <a:latin typeface="Courier New" panose="02070309020205020404" pitchFamily="49" charset="0"/>
                <a:cs typeface="Courier New" panose="02070309020205020404" pitchFamily="49" charset="0"/>
              </a:rPr>
              <a:t>i</a:t>
            </a:r>
            <a:r>
              <a:rPr lang="en-GB" sz="2600" dirty="0">
                <a:latin typeface="Courier New" panose="02070309020205020404" pitchFamily="49" charset="0"/>
                <a:cs typeface="Courier New" panose="02070309020205020404" pitchFamily="49" charset="0"/>
              </a:rPr>
              <a:t>]) for </a:t>
            </a:r>
            <a:r>
              <a:rPr lang="en-GB" sz="2600" dirty="0" err="1">
                <a:latin typeface="Courier New" panose="02070309020205020404" pitchFamily="49" charset="0"/>
                <a:cs typeface="Courier New" panose="02070309020205020404" pitchFamily="49" charset="0"/>
              </a:rPr>
              <a:t>i</a:t>
            </a:r>
            <a:r>
              <a:rPr lang="en-GB" sz="2600" dirty="0">
                <a:latin typeface="Courier New" panose="02070309020205020404" pitchFamily="49" charset="0"/>
                <a:cs typeface="Courier New" panose="02070309020205020404" pitchFamily="49" charset="0"/>
              </a:rPr>
              <a:t> in range(3)]</a:t>
            </a:r>
          </a:p>
        </p:txBody>
      </p:sp>
    </p:spTree>
    <p:extLst>
      <p:ext uri="{BB962C8B-B14F-4D97-AF65-F5344CB8AC3E}">
        <p14:creationId xmlns:p14="http://schemas.microsoft.com/office/powerpoint/2010/main" val="1105645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9CE03-3FBE-4227-A4BF-74AC131332AA}"/>
              </a:ext>
            </a:extLst>
          </p:cNvPr>
          <p:cNvSpPr>
            <a:spLocks noGrp="1"/>
          </p:cNvSpPr>
          <p:nvPr>
            <p:ph type="title"/>
          </p:nvPr>
        </p:nvSpPr>
        <p:spPr/>
        <p:txBody>
          <a:bodyPr/>
          <a:lstStyle/>
          <a:p>
            <a:r>
              <a:rPr lang="en-GB" dirty="0">
                <a:highlight>
                  <a:srgbClr val="FFFF00"/>
                </a:highlight>
              </a:rPr>
              <a:t>Dictionaries and deleting items from </a:t>
            </a:r>
            <a:r>
              <a:rPr lang="en-GB" dirty="0" err="1">
                <a:highlight>
                  <a:srgbClr val="FFFF00"/>
                </a:highlight>
              </a:rPr>
              <a:t>iterables</a:t>
            </a:r>
            <a:endParaRPr lang="en-US" dirty="0">
              <a:highlight>
                <a:srgbClr val="FFFF00"/>
              </a:highlight>
            </a:endParaRPr>
          </a:p>
        </p:txBody>
      </p:sp>
      <p:sp>
        <p:nvSpPr>
          <p:cNvPr id="3" name="Content Placeholder 2">
            <a:extLst>
              <a:ext uri="{FF2B5EF4-FFF2-40B4-BE49-F238E27FC236}">
                <a16:creationId xmlns:a16="http://schemas.microsoft.com/office/drawing/2014/main" id="{CF20799D-D706-461E-BA7F-185D975B5FBB}"/>
              </a:ext>
            </a:extLst>
          </p:cNvPr>
          <p:cNvSpPr>
            <a:spLocks noGrp="1"/>
          </p:cNvSpPr>
          <p:nvPr>
            <p:ph idx="1"/>
          </p:nvPr>
        </p:nvSpPr>
        <p:spPr/>
        <p:txBody>
          <a:bodyPr>
            <a:normAutofit fontScale="62500" lnSpcReduction="20000"/>
          </a:bodyPr>
          <a:lstStyle/>
          <a:p>
            <a:r>
              <a:rPr lang="en-GB" dirty="0"/>
              <a:t>Dictionaries are like lists, but instead of using indexes (or 'indices') to identify values, 'keys' are used instead, which are strings (you can also use numbers, but this would be unusual) associated with the values</a:t>
            </a:r>
          </a:p>
          <a:p>
            <a:r>
              <a:rPr lang="en-GB" dirty="0"/>
              <a:t>A simple way to define a dictionary is to use curly braces, e.g.</a:t>
            </a:r>
            <a:br>
              <a:rPr lang="en-GB" dirty="0"/>
            </a:br>
            <a:r>
              <a:rPr lang="en-GB" dirty="0"/>
              <a:t>	</a:t>
            </a:r>
            <a:r>
              <a:rPr lang="en-GB" dirty="0">
                <a:latin typeface="Courier New" panose="02070309020205020404" pitchFamily="49" charset="0"/>
                <a:cs typeface="Courier New" panose="02070309020205020404" pitchFamily="49" charset="0"/>
              </a:rPr>
              <a:t>d = {'a':1, 'b':5, 'c':3, 'd':6}</a:t>
            </a:r>
          </a:p>
          <a:p>
            <a:r>
              <a:rPr lang="en-GB" dirty="0"/>
              <a:t>Notice that </a:t>
            </a:r>
            <a:r>
              <a:rPr lang="en-GB" dirty="0">
                <a:latin typeface="Courier New" panose="02070309020205020404" pitchFamily="49" charset="0"/>
                <a:cs typeface="Courier New" panose="02070309020205020404" pitchFamily="49" charset="0"/>
              </a:rPr>
              <a:t>d</a:t>
            </a:r>
            <a:r>
              <a:rPr lang="en-GB" dirty="0"/>
              <a:t> can still be used as a key within the dictionary with the same variable name</a:t>
            </a:r>
            <a:endParaRPr lang="en-GB" dirty="0">
              <a:latin typeface="Courier New" panose="02070309020205020404" pitchFamily="49" charset="0"/>
              <a:cs typeface="Courier New" panose="02070309020205020404" pitchFamily="49" charset="0"/>
            </a:endParaRPr>
          </a:p>
          <a:p>
            <a:r>
              <a:rPr lang="en-GB" dirty="0"/>
              <a:t>We access values in a dictionary by specifying their key, e.g. </a:t>
            </a:r>
            <a:r>
              <a:rPr lang="en-GB" dirty="0">
                <a:latin typeface="Courier New" panose="02070309020205020404" pitchFamily="49" charset="0"/>
                <a:cs typeface="Courier New" panose="02070309020205020404" pitchFamily="49" charset="0"/>
              </a:rPr>
              <a:t>d['b']</a:t>
            </a:r>
            <a:r>
              <a:rPr lang="en-GB" dirty="0"/>
              <a:t> gives </a:t>
            </a:r>
            <a:r>
              <a:rPr lang="en-GB" dirty="0">
                <a:latin typeface="Courier New" panose="02070309020205020404" pitchFamily="49" charset="0"/>
                <a:cs typeface="Courier New" panose="02070309020205020404" pitchFamily="49" charset="0"/>
              </a:rPr>
              <a:t>5</a:t>
            </a:r>
            <a:endParaRPr lang="en-GB" dirty="0"/>
          </a:p>
          <a:p>
            <a:r>
              <a:rPr lang="en-GB" dirty="0"/>
              <a:t>We can use this to replace existing values, e.g. </a:t>
            </a:r>
            <a:r>
              <a:rPr lang="en-GB" dirty="0">
                <a:latin typeface="Courier New" panose="02070309020205020404" pitchFamily="49" charset="0"/>
                <a:cs typeface="Courier New" panose="02070309020205020404" pitchFamily="49" charset="0"/>
              </a:rPr>
              <a:t>d['c'] = 4 </a:t>
            </a:r>
            <a:r>
              <a:rPr lang="en-GB" dirty="0"/>
              <a:t>would replace </a:t>
            </a:r>
            <a:r>
              <a:rPr lang="en-GB" sz="2900" dirty="0">
                <a:latin typeface="Courier New" panose="02070309020205020404" pitchFamily="49" charset="0"/>
                <a:cs typeface="Courier New" panose="02070309020205020404" pitchFamily="49" charset="0"/>
              </a:rPr>
              <a:t>3 </a:t>
            </a:r>
            <a:r>
              <a:rPr lang="en-GB" dirty="0"/>
              <a:t>with </a:t>
            </a:r>
            <a:r>
              <a:rPr lang="en-GB" sz="2900" dirty="0">
                <a:latin typeface="Courier New" panose="02070309020205020404" pitchFamily="49" charset="0"/>
                <a:cs typeface="Courier New" panose="02070309020205020404" pitchFamily="49" charset="0"/>
              </a:rPr>
              <a:t>4 </a:t>
            </a:r>
            <a:r>
              <a:rPr lang="en-GB" sz="2900" dirty="0"/>
              <a:t>in </a:t>
            </a:r>
            <a:r>
              <a:rPr lang="en-GB" sz="2600" dirty="0">
                <a:latin typeface="Courier New" panose="02070309020205020404" pitchFamily="49" charset="0"/>
                <a:cs typeface="Courier New" panose="02070309020205020404" pitchFamily="49" charset="0"/>
              </a:rPr>
              <a:t>d</a:t>
            </a:r>
            <a:endParaRPr lang="en-GB" dirty="0"/>
          </a:p>
          <a:p>
            <a:r>
              <a:rPr lang="en-GB" dirty="0"/>
              <a:t>We can add a new value to a list by using a new key and assigning a value to it, e.g. </a:t>
            </a:r>
            <a:r>
              <a:rPr lang="en-GB" dirty="0">
                <a:latin typeface="Courier New" panose="02070309020205020404" pitchFamily="49" charset="0"/>
                <a:cs typeface="Courier New" panose="02070309020205020404" pitchFamily="49" charset="0"/>
              </a:rPr>
              <a:t>d['e'] = 9</a:t>
            </a:r>
            <a:r>
              <a:rPr lang="en-GB" dirty="0"/>
              <a:t> ; note we don't need any insert or append command</a:t>
            </a:r>
          </a:p>
          <a:p>
            <a:r>
              <a:rPr lang="en-GB" dirty="0"/>
              <a:t>We can find the number of values in a dictionary with the </a:t>
            </a:r>
            <a:r>
              <a:rPr lang="en-GB" dirty="0" err="1"/>
              <a:t>len</a:t>
            </a:r>
            <a:r>
              <a:rPr lang="en-GB" dirty="0"/>
              <a:t>() function, just as for a list, e.g. </a:t>
            </a:r>
            <a:r>
              <a:rPr lang="en-GB" dirty="0" err="1">
                <a:latin typeface="Courier New" panose="02070309020205020404" pitchFamily="49" charset="0"/>
                <a:cs typeface="Courier New" panose="02070309020205020404" pitchFamily="49" charset="0"/>
              </a:rPr>
              <a:t>len</a:t>
            </a:r>
            <a:r>
              <a:rPr lang="en-GB" dirty="0">
                <a:latin typeface="Courier New" panose="02070309020205020404" pitchFamily="49" charset="0"/>
                <a:cs typeface="Courier New" panose="02070309020205020404" pitchFamily="49" charset="0"/>
              </a:rPr>
              <a:t>(d)</a:t>
            </a:r>
            <a:r>
              <a:rPr lang="en-GB" dirty="0"/>
              <a:t> is 4</a:t>
            </a:r>
          </a:p>
          <a:p>
            <a:r>
              <a:rPr lang="en-GB" dirty="0"/>
              <a:t>To delete an item from a dictionary or a list, we can specify the index and use the del command, which also allows us to delete entire variables, e.g.</a:t>
            </a:r>
            <a:br>
              <a:rPr lang="en-GB" dirty="0"/>
            </a:br>
            <a:r>
              <a:rPr lang="en-GB" dirty="0"/>
              <a:t>	</a:t>
            </a:r>
            <a:r>
              <a:rPr lang="en-GB" dirty="0">
                <a:latin typeface="Courier New" panose="02070309020205020404" pitchFamily="49" charset="0"/>
                <a:cs typeface="Courier New" panose="02070309020205020404" pitchFamily="49" charset="0"/>
              </a:rPr>
              <a:t>del d['a'] </a:t>
            </a:r>
            <a:r>
              <a:rPr lang="en-GB" sz="2900" dirty="0"/>
              <a:t>would remove the item 'a' in dictionary d</a:t>
            </a:r>
            <a:br>
              <a:rPr lang="en-GB" sz="2900" dirty="0"/>
            </a:br>
            <a:r>
              <a:rPr lang="en-GB" sz="2900" dirty="0"/>
              <a:t>	</a:t>
            </a:r>
            <a:r>
              <a:rPr lang="en-GB" dirty="0">
                <a:latin typeface="Courier New" panose="02070309020205020404" pitchFamily="49" charset="0"/>
                <a:cs typeface="Courier New" panose="02070309020205020404" pitchFamily="49" charset="0"/>
              </a:rPr>
              <a:t>del t[1] </a:t>
            </a:r>
            <a:r>
              <a:rPr lang="en-GB" dirty="0"/>
              <a:t>would remove the 2</a:t>
            </a:r>
            <a:r>
              <a:rPr lang="en-GB" baseline="30000" dirty="0"/>
              <a:t>nd</a:t>
            </a:r>
            <a:r>
              <a:rPr lang="en-GB" dirty="0"/>
              <a:t> item in list t</a:t>
            </a:r>
            <a:br>
              <a:rPr lang="en-GB" dirty="0"/>
            </a:br>
            <a:r>
              <a:rPr lang="en-GB" dirty="0"/>
              <a:t>	</a:t>
            </a:r>
            <a:r>
              <a:rPr lang="en-GB" dirty="0">
                <a:latin typeface="Courier New" panose="02070309020205020404" pitchFamily="49" charset="0"/>
                <a:cs typeface="Courier New" panose="02070309020205020404" pitchFamily="49" charset="0"/>
              </a:rPr>
              <a:t>del t </a:t>
            </a:r>
            <a:r>
              <a:rPr lang="en-GB" dirty="0"/>
              <a:t>would remove the entire list t (rarely needed unless memory is limited)</a:t>
            </a:r>
            <a:br>
              <a:rPr lang="en-GB" dirty="0"/>
            </a:br>
            <a:r>
              <a:rPr lang="en-GB" dirty="0"/>
              <a:t>	</a:t>
            </a:r>
            <a:r>
              <a:rPr lang="en-GB" dirty="0" err="1">
                <a:latin typeface="Courier New" panose="02070309020205020404" pitchFamily="49" charset="0"/>
                <a:cs typeface="Courier New" panose="02070309020205020404" pitchFamily="49" charset="0"/>
              </a:rPr>
              <a:t>t.remove</a:t>
            </a:r>
            <a:r>
              <a:rPr lang="en-GB" dirty="0">
                <a:latin typeface="Courier New" panose="02070309020205020404" pitchFamily="49" charset="0"/>
                <a:cs typeface="Courier New" panose="02070309020205020404" pitchFamily="49" charset="0"/>
              </a:rPr>
              <a:t>(5) </a:t>
            </a:r>
            <a:r>
              <a:rPr lang="en-GB" dirty="0"/>
              <a:t>would remove the first occurrence of 5 in list t</a:t>
            </a:r>
            <a:br>
              <a:rPr lang="en-GB" dirty="0"/>
            </a:br>
            <a:r>
              <a:rPr lang="en-GB" dirty="0"/>
              <a:t>	</a:t>
            </a:r>
            <a:r>
              <a:rPr lang="en-GB" dirty="0">
                <a:latin typeface="Courier New" panose="02070309020205020404" pitchFamily="49" charset="0"/>
                <a:cs typeface="Courier New" panose="02070309020205020404" pitchFamily="49" charset="0"/>
              </a:rPr>
              <a:t>t = [x for x in t if x!=5] </a:t>
            </a:r>
            <a:r>
              <a:rPr lang="en-GB" dirty="0"/>
              <a:t>would remove all occurrences of 5 in list </a:t>
            </a:r>
            <a:r>
              <a:rPr lang="en-GB"/>
              <a:t>t (could use for loop)</a:t>
            </a:r>
            <a:endParaRPr lang="en-GB" dirty="0"/>
          </a:p>
        </p:txBody>
      </p:sp>
    </p:spTree>
    <p:extLst>
      <p:ext uri="{BB962C8B-B14F-4D97-AF65-F5344CB8AC3E}">
        <p14:creationId xmlns:p14="http://schemas.microsoft.com/office/powerpoint/2010/main" val="1857975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92903-2E6A-459A-8207-62FF5E44EE73}"/>
              </a:ext>
            </a:extLst>
          </p:cNvPr>
          <p:cNvSpPr>
            <a:spLocks noGrp="1"/>
          </p:cNvSpPr>
          <p:nvPr>
            <p:ph type="title"/>
          </p:nvPr>
        </p:nvSpPr>
        <p:spPr/>
        <p:txBody>
          <a:bodyPr/>
          <a:lstStyle/>
          <a:p>
            <a:r>
              <a:rPr lang="en-GB" dirty="0"/>
              <a:t>Exercises</a:t>
            </a:r>
          </a:p>
        </p:txBody>
      </p:sp>
      <p:sp>
        <p:nvSpPr>
          <p:cNvPr id="3" name="Content Placeholder 2">
            <a:extLst>
              <a:ext uri="{FF2B5EF4-FFF2-40B4-BE49-F238E27FC236}">
                <a16:creationId xmlns:a16="http://schemas.microsoft.com/office/drawing/2014/main" id="{88579795-1095-408D-84E1-1D5EB759E91E}"/>
              </a:ext>
            </a:extLst>
          </p:cNvPr>
          <p:cNvSpPr>
            <a:spLocks noGrp="1"/>
          </p:cNvSpPr>
          <p:nvPr>
            <p:ph idx="1"/>
          </p:nvPr>
        </p:nvSpPr>
        <p:spPr/>
        <p:txBody>
          <a:bodyPr>
            <a:normAutofit fontScale="92500"/>
          </a:bodyPr>
          <a:lstStyle/>
          <a:p>
            <a:pPr marL="0" indent="0">
              <a:buNone/>
            </a:pPr>
            <a:r>
              <a:rPr lang="en-GB" dirty="0"/>
              <a:t>1. Write a function which takes a percentage grade and classifies a piece of work as a pass (&gt;=50%), merit (&gt;=60%), distinction (&gt;=70%) or fail (&lt;50%).</a:t>
            </a:r>
          </a:p>
          <a:p>
            <a:pPr marL="0" indent="0">
              <a:buNone/>
            </a:pPr>
            <a:r>
              <a:rPr lang="en-GB" dirty="0"/>
              <a:t>2. Call the function with a for loop to classify the following grades:</a:t>
            </a:r>
          </a:p>
          <a:p>
            <a:pPr marL="0" indent="0">
              <a:buNone/>
            </a:pPr>
            <a:r>
              <a:rPr lang="en-GB" dirty="0"/>
              <a:t>[62, 79, 50, 23]</a:t>
            </a:r>
          </a:p>
          <a:p>
            <a:pPr marL="0" indent="0">
              <a:buNone/>
            </a:pPr>
            <a:r>
              <a:rPr lang="en-GB" dirty="0"/>
              <a:t>3. Update your function to take an additional input of the number </a:t>
            </a:r>
            <a:r>
              <a:rPr lang="en-GB"/>
              <a:t>of days late </a:t>
            </a:r>
            <a:r>
              <a:rPr lang="en-GB" dirty="0"/>
              <a:t>and use this to apply a late penalty of 5 points for each day late, up to 5 days.  If more than 5 days late, award 0%.</a:t>
            </a:r>
          </a:p>
          <a:p>
            <a:pPr marL="0" indent="0">
              <a:buNone/>
            </a:pPr>
            <a:r>
              <a:rPr lang="en-GB" dirty="0"/>
              <a:t>4. Using the same grades as in question 2, call your function with the following number of days late for each piece of work: [3, 1, 1, 0]</a:t>
            </a:r>
          </a:p>
          <a:p>
            <a:pPr marL="0" indent="0">
              <a:buNone/>
            </a:pPr>
            <a:r>
              <a:rPr lang="en-GB" dirty="0"/>
              <a:t>5. Describe some ways your algorithm could be misused or misinterpreted</a:t>
            </a:r>
          </a:p>
        </p:txBody>
      </p:sp>
    </p:spTree>
    <p:extLst>
      <p:ext uri="{BB962C8B-B14F-4D97-AF65-F5344CB8AC3E}">
        <p14:creationId xmlns:p14="http://schemas.microsoft.com/office/powerpoint/2010/main" val="843566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2CB2F-79C0-5FC5-DB93-1278E02FDF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1B193-273D-41C9-5294-B4504C20612A}"/>
              </a:ext>
            </a:extLst>
          </p:cNvPr>
          <p:cNvSpPr>
            <a:spLocks noGrp="1"/>
          </p:cNvSpPr>
          <p:nvPr>
            <p:ph type="title"/>
          </p:nvPr>
        </p:nvSpPr>
        <p:spPr/>
        <p:txBody>
          <a:bodyPr/>
          <a:lstStyle/>
          <a:p>
            <a:r>
              <a:rPr lang="en-GB"/>
              <a:t>Recap Learning </a:t>
            </a:r>
            <a:r>
              <a:rPr lang="en-GB" dirty="0"/>
              <a:t>Objectives – Week 2-3</a:t>
            </a:r>
          </a:p>
        </p:txBody>
      </p:sp>
      <p:sp>
        <p:nvSpPr>
          <p:cNvPr id="3" name="Content Placeholder 2">
            <a:extLst>
              <a:ext uri="{FF2B5EF4-FFF2-40B4-BE49-F238E27FC236}">
                <a16:creationId xmlns:a16="http://schemas.microsoft.com/office/drawing/2014/main" id="{0268521F-B6F3-8B2D-B20C-A65DBC294071}"/>
              </a:ext>
            </a:extLst>
          </p:cNvPr>
          <p:cNvSpPr>
            <a:spLocks noGrp="1"/>
          </p:cNvSpPr>
          <p:nvPr>
            <p:ph idx="1"/>
          </p:nvPr>
        </p:nvSpPr>
        <p:spPr/>
        <p:txBody>
          <a:bodyPr/>
          <a:lstStyle/>
          <a:p>
            <a:r>
              <a:rPr lang="en-GB" dirty="0"/>
              <a:t>Know what computer coding is and its importance to data science</a:t>
            </a:r>
          </a:p>
          <a:p>
            <a:r>
              <a:rPr lang="en-GB" dirty="0">
                <a:highlight>
                  <a:srgbClr val="FFFF00"/>
                </a:highlight>
              </a:rPr>
              <a:t>Know what computer variables, functions, 'if/</a:t>
            </a:r>
            <a:r>
              <a:rPr lang="en-GB" dirty="0" err="1">
                <a:highlight>
                  <a:srgbClr val="FFFF00"/>
                </a:highlight>
              </a:rPr>
              <a:t>elif</a:t>
            </a:r>
            <a:r>
              <a:rPr lang="en-GB" dirty="0">
                <a:highlight>
                  <a:srgbClr val="FFFF00"/>
                </a:highlight>
              </a:rPr>
              <a:t>/else statements' and ‘for loops’ are (flipped classroom!)</a:t>
            </a:r>
          </a:p>
          <a:p>
            <a:r>
              <a:rPr lang="en-GB" dirty="0">
                <a:highlight>
                  <a:srgbClr val="FFFF00"/>
                </a:highlight>
              </a:rPr>
              <a:t>Write simple computer programs in Python, including functions (flipped classroom!)</a:t>
            </a:r>
          </a:p>
        </p:txBody>
      </p:sp>
    </p:spTree>
    <p:extLst>
      <p:ext uri="{BB962C8B-B14F-4D97-AF65-F5344CB8AC3E}">
        <p14:creationId xmlns:p14="http://schemas.microsoft.com/office/powerpoint/2010/main" val="1372069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8C845-5229-42AF-990E-46653AA4DA26}"/>
              </a:ext>
            </a:extLst>
          </p:cNvPr>
          <p:cNvSpPr>
            <a:spLocks noGrp="1"/>
          </p:cNvSpPr>
          <p:nvPr>
            <p:ph type="title"/>
          </p:nvPr>
        </p:nvSpPr>
        <p:spPr/>
        <p:txBody>
          <a:bodyPr/>
          <a:lstStyle/>
          <a:p>
            <a:r>
              <a:rPr lang="en-GB" dirty="0"/>
              <a:t>Further reading</a:t>
            </a:r>
          </a:p>
        </p:txBody>
      </p:sp>
      <p:sp>
        <p:nvSpPr>
          <p:cNvPr id="3" name="Content Placeholder 2">
            <a:extLst>
              <a:ext uri="{FF2B5EF4-FFF2-40B4-BE49-F238E27FC236}">
                <a16:creationId xmlns:a16="http://schemas.microsoft.com/office/drawing/2014/main" id="{8EDBD913-9AAF-4E10-8DE0-C78CF7C6D20C}"/>
              </a:ext>
            </a:extLst>
          </p:cNvPr>
          <p:cNvSpPr>
            <a:spLocks noGrp="1"/>
          </p:cNvSpPr>
          <p:nvPr>
            <p:ph idx="1"/>
          </p:nvPr>
        </p:nvSpPr>
        <p:spPr>
          <a:xfrm>
            <a:off x="838200" y="1825624"/>
            <a:ext cx="10515600" cy="4516181"/>
          </a:xfrm>
        </p:spPr>
        <p:txBody>
          <a:bodyPr>
            <a:normAutofit fontScale="92500" lnSpcReduction="10000"/>
          </a:bodyPr>
          <a:lstStyle/>
          <a:p>
            <a:r>
              <a:rPr lang="en-GB" dirty="0"/>
              <a:t>Coding concepts:</a:t>
            </a:r>
            <a:br>
              <a:rPr lang="en-GB" dirty="0"/>
            </a:br>
            <a:r>
              <a:rPr lang="en-GB" dirty="0">
                <a:hlinkClick r:id="rId2"/>
              </a:rPr>
              <a:t>www.codecademy.com/learn/learn-how-to-code</a:t>
            </a:r>
            <a:br>
              <a:rPr lang="en-GB" dirty="0"/>
            </a:br>
            <a:r>
              <a:rPr lang="en-GB" dirty="0"/>
              <a:t>This is free, but you’ll need to sign in</a:t>
            </a:r>
            <a:br>
              <a:rPr lang="en-GB" dirty="0"/>
            </a:br>
            <a:r>
              <a:rPr lang="en-GB" dirty="0"/>
              <a:t>Work through the Basics of Programming I-III</a:t>
            </a:r>
            <a:endParaRPr lang="en-GB" dirty="0">
              <a:hlinkClick r:id="rId3"/>
            </a:endParaRPr>
          </a:p>
          <a:p>
            <a:r>
              <a:rPr lang="en-GB" dirty="0"/>
              <a:t>Python guides and exercises:</a:t>
            </a:r>
            <a:br>
              <a:rPr lang="en-GB" dirty="0"/>
            </a:br>
            <a:r>
              <a:rPr lang="en-GB" dirty="0">
                <a:hlinkClick r:id="rId3"/>
              </a:rPr>
              <a:t>www.w3schools.com/python</a:t>
            </a:r>
            <a:br>
              <a:rPr lang="en-GB" dirty="0"/>
            </a:br>
            <a:r>
              <a:rPr lang="en-GB" dirty="0"/>
              <a:t>This is also free, with no need to sign in</a:t>
            </a:r>
            <a:br>
              <a:rPr lang="en-GB" dirty="0"/>
            </a:br>
            <a:r>
              <a:rPr lang="en-GB" dirty="0"/>
              <a:t>Work through:</a:t>
            </a:r>
          </a:p>
          <a:p>
            <a:pPr lvl="1"/>
            <a:r>
              <a:rPr lang="en-GB" dirty="0"/>
              <a:t>Syntax, Comments, Variables, Operators, Lists, Dictionaries, If...Else, For Loops, Functions</a:t>
            </a:r>
          </a:p>
          <a:p>
            <a:pPr lvl="1"/>
            <a:r>
              <a:rPr lang="en-GB" dirty="0"/>
              <a:t>Note there are exercises for you to try, as well as a quiz</a:t>
            </a:r>
          </a:p>
          <a:p>
            <a:r>
              <a:rPr lang="en-GB" dirty="0" err="1"/>
              <a:t>Lubanovic</a:t>
            </a:r>
            <a:r>
              <a:rPr lang="en-GB" dirty="0"/>
              <a:t>, B (2020) Introducing Python: Modern Computing in Simple Packages. Second edition. O'Reilly Media</a:t>
            </a:r>
          </a:p>
          <a:p>
            <a:endParaRPr lang="en-GB" dirty="0"/>
          </a:p>
        </p:txBody>
      </p:sp>
    </p:spTree>
    <p:extLst>
      <p:ext uri="{BB962C8B-B14F-4D97-AF65-F5344CB8AC3E}">
        <p14:creationId xmlns:p14="http://schemas.microsoft.com/office/powerpoint/2010/main" val="2873766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3404</TotalTime>
  <Words>4408</Words>
  <Application>Microsoft Office PowerPoint</Application>
  <PresentationFormat>Widescreen</PresentationFormat>
  <Paragraphs>202</Paragraphs>
  <Slides>23</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Courier New</vt:lpstr>
      <vt:lpstr>Office Theme</vt:lpstr>
      <vt:lpstr>Week 2-3 Computer Coding</vt:lpstr>
      <vt:lpstr>Learning Objectives – Week 2-3</vt:lpstr>
      <vt:lpstr>Overview of coding</vt:lpstr>
      <vt:lpstr>Flipped classroom!</vt:lpstr>
      <vt:lpstr>Coding and data science</vt:lpstr>
      <vt:lpstr>Getting started with Python</vt:lpstr>
      <vt:lpstr>Jupyter Notebook / Colab</vt:lpstr>
      <vt:lpstr>Coding basics and assigning variables</vt:lpstr>
      <vt:lpstr>Laying out and commenting code</vt:lpstr>
      <vt:lpstr>Adding further text</vt:lpstr>
      <vt:lpstr>Data types</vt:lpstr>
      <vt:lpstr>Exercise</vt:lpstr>
      <vt:lpstr>Functions</vt:lpstr>
      <vt:lpstr>Defining a function</vt:lpstr>
      <vt:lpstr>Using a function</vt:lpstr>
      <vt:lpstr>Lists and loops</vt:lpstr>
      <vt:lpstr>Loop example</vt:lpstr>
      <vt:lpstr>Conditional statements</vt:lpstr>
      <vt:lpstr>More with lists and iterables</vt:lpstr>
      <vt:lpstr>Dictionaries and deleting items from iterables</vt:lpstr>
      <vt:lpstr>Exercises</vt:lpstr>
      <vt:lpstr>Recap Learning Objectives – Week 2-3</vt:lpstr>
      <vt:lpstr>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Data from Social Media Week 1 - </dc:title>
  <dc:creator>Pogson, Mark</dc:creator>
  <cp:lastModifiedBy>Pogson, Mark</cp:lastModifiedBy>
  <cp:revision>1198</cp:revision>
  <dcterms:created xsi:type="dcterms:W3CDTF">2020-12-07T18:38:15Z</dcterms:created>
  <dcterms:modified xsi:type="dcterms:W3CDTF">2025-09-12T16:06:24Z</dcterms:modified>
</cp:coreProperties>
</file>